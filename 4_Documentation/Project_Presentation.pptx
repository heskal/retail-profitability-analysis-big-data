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24"/>
  </p:notesMasterIdLst>
  <p:sldIdLst>
    <p:sldId id="256" r:id="rId5"/>
    <p:sldId id="257" r:id="rId6"/>
    <p:sldId id="290" r:id="rId7"/>
    <p:sldId id="291" r:id="rId8"/>
    <p:sldId id="293" r:id="rId9"/>
    <p:sldId id="294" r:id="rId10"/>
    <p:sldId id="296" r:id="rId11"/>
    <p:sldId id="299" r:id="rId12"/>
    <p:sldId id="301" r:id="rId13"/>
    <p:sldId id="292" r:id="rId14"/>
    <p:sldId id="304" r:id="rId15"/>
    <p:sldId id="295" r:id="rId16"/>
    <p:sldId id="300" r:id="rId17"/>
    <p:sldId id="305" r:id="rId18"/>
    <p:sldId id="306" r:id="rId19"/>
    <p:sldId id="303" r:id="rId20"/>
    <p:sldId id="259" r:id="rId21"/>
    <p:sldId id="279" r:id="rId22"/>
    <p:sldId id="263" r:id="rId23"/>
  </p:sldIdLst>
  <p:sldSz cx="9144000" cy="5143500" type="screen16x9"/>
  <p:notesSz cx="6858000" cy="9144000"/>
  <p:embeddedFontLst>
    <p:embeddedFont>
      <p:font typeface="Abadi" panose="020B0604020104020204" pitchFamily="34" charset="0"/>
      <p:regular r:id="rId25"/>
      <p:bold r:id="rId26"/>
      <p:italic r:id="rId27"/>
      <p:boldItalic r:id="rId28"/>
    </p:embeddedFont>
    <p:embeddedFont>
      <p:font typeface="Abel" panose="02000506030000020004" pitchFamily="2" charset="0"/>
      <p:regular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Questrial" pitchFamily="2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B7B0"/>
    <a:srgbClr val="FAF7EF"/>
    <a:srgbClr val="B7B5B1"/>
    <a:srgbClr val="E5C6C2"/>
    <a:srgbClr val="9F7AC6"/>
    <a:srgbClr val="463F6B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01F3D-A7AC-42B3-9240-083734412127}" v="613" dt="2025-11-23T18:43:26.837"/>
    <p1510:client id="{600959A4-4C2A-4C64-9222-1AA727658817}" v="907" dt="2025-11-23T18:45:18.249"/>
    <p1510:client id="{DA96C393-F167-4095-BD38-2DF67DDC18DC}" v="1319" dt="2025-11-23T18:57:20.860"/>
  </p1510:revLst>
</p1510:revInfo>
</file>

<file path=ppt/tableStyles.xml><?xml version="1.0" encoding="utf-8"?>
<a:tblStyleLst xmlns:a="http://schemas.openxmlformats.org/drawingml/2006/main" def="{9097B9AB-1872-4A28-808A-46CC7F8F2F22}">
  <a:tblStyle styleId="{9097B9AB-1872-4A28-808A-46CC7F8F2F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12df2f0ffa6_1_40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12df2f0ffa6_1_40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A6DA4E4C-0EC2-84DF-D330-DF31DA67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85778FDE-BAAA-6C2A-B452-3F1AEB06D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B09CC408-4290-50A4-39C3-047E01A6C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866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11D7DBBC-94FF-8B45-A947-026F0DE8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05F182C5-6DA5-7964-A509-8D51795F1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15D10CAE-E30C-1FF3-04CB-7B4E13920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670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74BB989F-51B8-ADB7-149E-CCA5C969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882BAAB1-AC26-6556-3DEC-537139CA5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F03B04B1-81D8-25E9-B5AD-673E26F0C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440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5B34FC16-D7CA-7E29-1C40-2BACDAAA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E436097C-90A3-7765-BB59-EC2208CFA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3062CACC-4AAC-497B-CF51-9AE4E8D38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20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3884FA37-27F3-4ACF-690C-55AE9DF9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B462087A-4C4D-4C25-1B87-E68B3B3DC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C6421764-4750-3112-4429-B3C473AB5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467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ABF8183F-5C0F-47FC-A621-17148B46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223F33BC-362A-0B5E-39FA-0D7E106F7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8F2CBB9B-48AA-7717-8E5E-70E82D49E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240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7">
          <a:extLst>
            <a:ext uri="{FF2B5EF4-FFF2-40B4-BE49-F238E27FC236}">
              <a16:creationId xmlns:a16="http://schemas.microsoft.com/office/drawing/2014/main" id="{53677D99-BD76-9797-161C-7F3884CB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g12ebaae033c_0_51:notes">
            <a:extLst>
              <a:ext uri="{FF2B5EF4-FFF2-40B4-BE49-F238E27FC236}">
                <a16:creationId xmlns:a16="http://schemas.microsoft.com/office/drawing/2014/main" id="{189473E4-8B58-742A-20EB-80A64733F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9" name="Google Shape;2689;g12ebaae033c_0_51:notes">
            <a:extLst>
              <a:ext uri="{FF2B5EF4-FFF2-40B4-BE49-F238E27FC236}">
                <a16:creationId xmlns:a16="http://schemas.microsoft.com/office/drawing/2014/main" id="{9FB573B1-449C-268C-5A58-9A1F945C0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481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66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046712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3776-C9E6-8DBE-B0E6-588A356A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EE200-9CE8-05E4-19D2-682394EA5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BA133-3A63-A6DB-99F2-B1B7B6DA9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75678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>
          <a:extLst>
            <a:ext uri="{FF2B5EF4-FFF2-40B4-BE49-F238E27FC236}">
              <a16:creationId xmlns:a16="http://schemas.microsoft.com/office/drawing/2014/main" id="{02BC2ADD-73C4-831B-0A84-9BD6BEAE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>
            <a:extLst>
              <a:ext uri="{FF2B5EF4-FFF2-40B4-BE49-F238E27FC236}">
                <a16:creationId xmlns:a16="http://schemas.microsoft.com/office/drawing/2014/main" id="{05DC817F-9CC9-C8C9-1240-8E2B90E75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>
            <a:extLst>
              <a:ext uri="{FF2B5EF4-FFF2-40B4-BE49-F238E27FC236}">
                <a16:creationId xmlns:a16="http://schemas.microsoft.com/office/drawing/2014/main" id="{89352AF7-8FC1-C061-F416-0DC153CB6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16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2e551497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12e551497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gf4041860db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6" name="Google Shape;3556;gf4041860db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g12e5514972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9" name="Google Shape;2319;g12e5514972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1" name="Google Shape;11;p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" name="Google Shape;48;p2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49" name="Google Shape;49;p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6" name="Google Shape;86;p2"/>
          <p:cNvSpPr txBox="1">
            <a:spLocks noGrp="1"/>
          </p:cNvSpPr>
          <p:nvPr>
            <p:ph type="ctrTitle"/>
          </p:nvPr>
        </p:nvSpPr>
        <p:spPr>
          <a:xfrm>
            <a:off x="2061092" y="1347675"/>
            <a:ext cx="6367800" cy="17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subTitle" idx="1"/>
          </p:nvPr>
        </p:nvSpPr>
        <p:spPr>
          <a:xfrm>
            <a:off x="2061092" y="3065675"/>
            <a:ext cx="6367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88" name="Google Shape;88;p2"/>
          <p:cNvGrpSpPr/>
          <p:nvPr/>
        </p:nvGrpSpPr>
        <p:grpSpPr>
          <a:xfrm flipH="1">
            <a:off x="246" y="1384364"/>
            <a:ext cx="3863499" cy="3798516"/>
            <a:chOff x="3133537" y="-308699"/>
            <a:chExt cx="6010422" cy="5452155"/>
          </a:xfrm>
        </p:grpSpPr>
        <p:sp>
          <p:nvSpPr>
            <p:cNvPr id="89" name="Google Shape;89;p2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80" name="Google Shape;180;p4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81" name="Google Shape;181;p4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4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4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4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4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4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4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4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4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4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4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4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4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4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4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4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4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4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4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4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4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4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" name="Google Shape;203;p4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" name="Google Shape;204;p4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4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4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" name="Google Shape;207;p4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4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4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0" name="Google Shape;210;p4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4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2" name="Google Shape;212;p4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4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4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4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4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4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8" name="Google Shape;218;p4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219" name="Google Shape;219;p4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4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4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222;p4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4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224;p4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4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4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4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4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4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4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4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4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4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4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4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4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4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4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4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" name="Google Shape;240;p4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4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4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4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4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" name="Google Shape;245;p4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6" name="Google Shape;246;p4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4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4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4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4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4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4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4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4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4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6" name="Google Shape;25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58" name="Google Shape;258;p4"/>
          <p:cNvGrpSpPr/>
          <p:nvPr/>
        </p:nvGrpSpPr>
        <p:grpSpPr>
          <a:xfrm>
            <a:off x="8148972" y="-1637511"/>
            <a:ext cx="3863499" cy="3798516"/>
            <a:chOff x="3133537" y="-308699"/>
            <a:chExt cx="6010422" cy="5452155"/>
          </a:xfrm>
        </p:grpSpPr>
        <p:sp>
          <p:nvSpPr>
            <p:cNvPr id="259" name="Google Shape;259;p4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7726703" y="-626164"/>
            <a:ext cx="593164" cy="1161172"/>
            <a:chOff x="4921825" y="870250"/>
            <a:chExt cx="407925" cy="798550"/>
          </a:xfrm>
        </p:grpSpPr>
        <p:sp>
          <p:nvSpPr>
            <p:cNvPr id="262" name="Google Shape;262;p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4"/>
          <p:cNvGrpSpPr/>
          <p:nvPr/>
        </p:nvGrpSpPr>
        <p:grpSpPr>
          <a:xfrm flipH="1">
            <a:off x="-2299857" y="-2697840"/>
            <a:ext cx="4017967" cy="3644766"/>
            <a:chOff x="3166062" y="1034326"/>
            <a:chExt cx="6010422" cy="5452155"/>
          </a:xfrm>
        </p:grpSpPr>
        <p:sp>
          <p:nvSpPr>
            <p:cNvPr id="293" name="Google Shape;293;p4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5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297" name="Google Shape;297;p5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298" name="Google Shape;298;p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" name="Google Shape;300;p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" name="Google Shape;301;p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" name="Google Shape;302;p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" name="Google Shape;303;p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" name="Google Shape;304;p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" name="Google Shape;305;p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" name="Google Shape;306;p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" name="Google Shape;307;p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309;p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312;p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5" name="Google Shape;335;p5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336" name="Google Shape;336;p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" name="Google Shape;341;p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0" name="Google Shape;360;p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1" name="Google Shape;361;p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2" name="Google Shape;362;p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3" name="Google Shape;363;p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5" name="Google Shape;365;p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p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9" name="Google Shape;369;p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0" name="Google Shape;370;p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3" name="Google Shape;373;p5"/>
          <p:cNvSpPr txBox="1">
            <a:spLocks noGrp="1"/>
          </p:cNvSpPr>
          <p:nvPr>
            <p:ph type="subTitle" idx="1"/>
          </p:nvPr>
        </p:nvSpPr>
        <p:spPr>
          <a:xfrm>
            <a:off x="1007988" y="2537625"/>
            <a:ext cx="3271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4" name="Google Shape;374;p5"/>
          <p:cNvSpPr txBox="1">
            <a:spLocks noGrp="1"/>
          </p:cNvSpPr>
          <p:nvPr>
            <p:ph type="subTitle" idx="2"/>
          </p:nvPr>
        </p:nvSpPr>
        <p:spPr>
          <a:xfrm>
            <a:off x="4864519" y="2537625"/>
            <a:ext cx="3271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5" name="Google Shape;375;p5"/>
          <p:cNvSpPr txBox="1">
            <a:spLocks noGrp="1"/>
          </p:cNvSpPr>
          <p:nvPr>
            <p:ph type="subTitle" idx="3"/>
          </p:nvPr>
        </p:nvSpPr>
        <p:spPr>
          <a:xfrm>
            <a:off x="1007988" y="3098150"/>
            <a:ext cx="3271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subTitle" idx="4"/>
          </p:nvPr>
        </p:nvSpPr>
        <p:spPr>
          <a:xfrm>
            <a:off x="4864519" y="3098150"/>
            <a:ext cx="3271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5"/>
          <p:cNvGrpSpPr/>
          <p:nvPr/>
        </p:nvGrpSpPr>
        <p:grpSpPr>
          <a:xfrm>
            <a:off x="315016" y="3811561"/>
            <a:ext cx="593164" cy="1161172"/>
            <a:chOff x="4921825" y="870250"/>
            <a:chExt cx="407925" cy="798550"/>
          </a:xfrm>
        </p:grpSpPr>
        <p:sp>
          <p:nvSpPr>
            <p:cNvPr id="379" name="Google Shape;379;p5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5"/>
          <p:cNvGrpSpPr/>
          <p:nvPr/>
        </p:nvGrpSpPr>
        <p:grpSpPr>
          <a:xfrm>
            <a:off x="7987641" y="204698"/>
            <a:ext cx="593164" cy="1161172"/>
            <a:chOff x="4921825" y="870250"/>
            <a:chExt cx="407925" cy="798550"/>
          </a:xfrm>
        </p:grpSpPr>
        <p:sp>
          <p:nvSpPr>
            <p:cNvPr id="410" name="Google Shape;410;p5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5"/>
          <p:cNvSpPr/>
          <p:nvPr/>
        </p:nvSpPr>
        <p:spPr>
          <a:xfrm rot="10800000">
            <a:off x="-253" y="-93"/>
            <a:ext cx="2019852" cy="1148544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pSp>
        <p:nvGrpSpPr>
          <p:cNvPr id="441" name="Google Shape;441;p5"/>
          <p:cNvGrpSpPr/>
          <p:nvPr/>
        </p:nvGrpSpPr>
        <p:grpSpPr>
          <a:xfrm>
            <a:off x="7123447" y="2151889"/>
            <a:ext cx="3863499" cy="3798516"/>
            <a:chOff x="3133537" y="-308699"/>
            <a:chExt cx="6010422" cy="5452155"/>
          </a:xfrm>
        </p:grpSpPr>
        <p:sp>
          <p:nvSpPr>
            <p:cNvPr id="442" name="Google Shape;442;p5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6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446" name="Google Shape;446;p6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447" name="Google Shape;447;p6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6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6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6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6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6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6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6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6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6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6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6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6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6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6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6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6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6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6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6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6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6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6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6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6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2" name="Google Shape;472;p6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3" name="Google Shape;473;p6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4" name="Google Shape;474;p6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5" name="Google Shape;475;p6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6" name="Google Shape;476;p6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7" name="Google Shape;477;p6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6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6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6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6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2" name="Google Shape;482;p6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6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4" name="Google Shape;484;p6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485" name="Google Shape;485;p6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6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6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6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6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6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6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6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6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6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6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6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6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6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6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6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6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6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6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6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6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6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6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6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6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6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6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6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6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6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6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6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6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6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6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6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6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22" name="Google Shape;5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" name="Google Shape;636;p8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637" name="Google Shape;637;p8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638" name="Google Shape;638;p8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8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8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8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8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8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4" name="Google Shape;644;p8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8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8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8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8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8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8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8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8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8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8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8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8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8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8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8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8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8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8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8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8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8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8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8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8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9" name="Google Shape;669;p8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0" name="Google Shape;670;p8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1" name="Google Shape;671;p8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2" name="Google Shape;672;p8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3" name="Google Shape;673;p8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4" name="Google Shape;674;p8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5" name="Google Shape;675;p8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676" name="Google Shape;676;p8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7" name="Google Shape;677;p8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8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9" name="Google Shape;679;p8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8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8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8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8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8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8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8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8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8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8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8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8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8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8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8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6" name="Google Shape;696;p8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7" name="Google Shape;697;p8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8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8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8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1" name="Google Shape;701;p8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2" name="Google Shape;702;p8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3" name="Google Shape;703;p8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8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5" name="Google Shape;705;p8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6" name="Google Shape;706;p8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7" name="Google Shape;707;p8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8" name="Google Shape;708;p8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9" name="Google Shape;709;p8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710;p8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1" name="Google Shape;711;p8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8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13" name="Google Shape;713;p8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6125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714" name="Google Shape;714;p8"/>
          <p:cNvGrpSpPr/>
          <p:nvPr/>
        </p:nvGrpSpPr>
        <p:grpSpPr>
          <a:xfrm>
            <a:off x="5735399" y="581245"/>
            <a:ext cx="5111263" cy="4704119"/>
            <a:chOff x="3133537" y="-308699"/>
            <a:chExt cx="6010422" cy="5452155"/>
          </a:xfrm>
        </p:grpSpPr>
        <p:sp>
          <p:nvSpPr>
            <p:cNvPr id="715" name="Google Shape;715;p8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865;p11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866" name="Google Shape;866;p11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867" name="Google Shape;867;p11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11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9" name="Google Shape;869;p11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0" name="Google Shape;870;p11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1" name="Google Shape;871;p11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2" name="Google Shape;872;p11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3" name="Google Shape;873;p11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4" name="Google Shape;874;p11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5" name="Google Shape;875;p11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6" name="Google Shape;876;p11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7" name="Google Shape;877;p11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8" name="Google Shape;878;p11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9" name="Google Shape;879;p11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0" name="Google Shape;880;p11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1" name="Google Shape;881;p11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2" name="Google Shape;882;p11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3" name="Google Shape;883;p11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4" name="Google Shape;884;p11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5" name="Google Shape;885;p11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6" name="Google Shape;886;p11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7" name="Google Shape;887;p11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8" name="Google Shape;888;p11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9" name="Google Shape;889;p11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0" name="Google Shape;890;p11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1" name="Google Shape;891;p11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2" name="Google Shape;892;p11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3" name="Google Shape;893;p11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4" name="Google Shape;894;p11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5" name="Google Shape;895;p11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6" name="Google Shape;896;p11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7" name="Google Shape;897;p11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8" name="Google Shape;898;p11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9" name="Google Shape;899;p11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0" name="Google Shape;900;p11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11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11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11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04" name="Google Shape;904;p11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905" name="Google Shape;905;p11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11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11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11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11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11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11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11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11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11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11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11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11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11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11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11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11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2" name="Google Shape;922;p11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3" name="Google Shape;923;p11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4" name="Google Shape;924;p11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5" name="Google Shape;925;p11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6" name="Google Shape;926;p11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7" name="Google Shape;927;p11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8" name="Google Shape;928;p11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9" name="Google Shape;929;p11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0" name="Google Shape;930;p11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1" name="Google Shape;931;p11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2" name="Google Shape;932;p11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3" name="Google Shape;933;p11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4" name="Google Shape;934;p11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5" name="Google Shape;935;p11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6" name="Google Shape;936;p11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7" name="Google Shape;937;p11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8" name="Google Shape;938;p11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9" name="Google Shape;939;p11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11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11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2" name="Google Shape;942;p11"/>
          <p:cNvSpPr txBox="1">
            <a:spLocks noGrp="1"/>
          </p:cNvSpPr>
          <p:nvPr>
            <p:ph type="title" hasCustomPrompt="1"/>
          </p:nvPr>
        </p:nvSpPr>
        <p:spPr>
          <a:xfrm>
            <a:off x="2113750" y="2522228"/>
            <a:ext cx="24315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3" name="Google Shape;943;p11"/>
          <p:cNvSpPr txBox="1">
            <a:spLocks noGrp="1"/>
          </p:cNvSpPr>
          <p:nvPr>
            <p:ph type="subTitle" idx="1"/>
          </p:nvPr>
        </p:nvSpPr>
        <p:spPr>
          <a:xfrm>
            <a:off x="2113750" y="2917803"/>
            <a:ext cx="2431500" cy="3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44" name="Google Shape;944;p11"/>
          <p:cNvGrpSpPr/>
          <p:nvPr/>
        </p:nvGrpSpPr>
        <p:grpSpPr>
          <a:xfrm>
            <a:off x="6476809" y="-946040"/>
            <a:ext cx="6048287" cy="5946120"/>
            <a:chOff x="3133537" y="-308699"/>
            <a:chExt cx="6010422" cy="5452155"/>
          </a:xfrm>
        </p:grpSpPr>
        <p:sp>
          <p:nvSpPr>
            <p:cNvPr id="945" name="Google Shape;945;p11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" name="Google Shape;947;p11"/>
          <p:cNvSpPr txBox="1">
            <a:spLocks noGrp="1"/>
          </p:cNvSpPr>
          <p:nvPr>
            <p:ph type="title" idx="2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"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8" name="Google Shape;1548;p19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549" name="Google Shape;1549;p19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550" name="Google Shape;1550;p19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1" name="Google Shape;1551;p19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2" name="Google Shape;1552;p19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3" name="Google Shape;1553;p19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4" name="Google Shape;1554;p19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5" name="Google Shape;1555;p19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6" name="Google Shape;1556;p19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7" name="Google Shape;1557;p19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8" name="Google Shape;1558;p19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9" name="Google Shape;1559;p19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0" name="Google Shape;1560;p19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1" name="Google Shape;1561;p19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2" name="Google Shape;1562;p19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3" name="Google Shape;1563;p19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4" name="Google Shape;1564;p19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5" name="Google Shape;1565;p19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6" name="Google Shape;1566;p19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7" name="Google Shape;1567;p19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8" name="Google Shape;1568;p19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9" name="Google Shape;1569;p19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0" name="Google Shape;1570;p19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1" name="Google Shape;1571;p19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2" name="Google Shape;1572;p19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3" name="Google Shape;1573;p19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4" name="Google Shape;1574;p19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5" name="Google Shape;1575;p19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6" name="Google Shape;1576;p19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7" name="Google Shape;1577;p19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8" name="Google Shape;1578;p19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9" name="Google Shape;1579;p19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0" name="Google Shape;1580;p19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1" name="Google Shape;1581;p19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2" name="Google Shape;1582;p19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3" name="Google Shape;1583;p19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4" name="Google Shape;1584;p19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5" name="Google Shape;1585;p19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6" name="Google Shape;1586;p19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87" name="Google Shape;1587;p19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588" name="Google Shape;1588;p19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9" name="Google Shape;1589;p19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0" name="Google Shape;1590;p19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1" name="Google Shape;1591;p19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2" name="Google Shape;1592;p19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3" name="Google Shape;1593;p19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4" name="Google Shape;1594;p19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5" name="Google Shape;1595;p19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6" name="Google Shape;1596;p19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7" name="Google Shape;1597;p19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8" name="Google Shape;1598;p19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9" name="Google Shape;1599;p19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0" name="Google Shape;1600;p19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1" name="Google Shape;1601;p19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2" name="Google Shape;1602;p19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3" name="Google Shape;1603;p19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4" name="Google Shape;1604;p19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5" name="Google Shape;1605;p19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6" name="Google Shape;1606;p19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7" name="Google Shape;1607;p19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8" name="Google Shape;1608;p19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9" name="Google Shape;1609;p19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0" name="Google Shape;1610;p19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1" name="Google Shape;1611;p19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2" name="Google Shape;1612;p19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3" name="Google Shape;1613;p19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4" name="Google Shape;1614;p19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5" name="Google Shape;1615;p19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6" name="Google Shape;1616;p19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7" name="Google Shape;1617;p19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8" name="Google Shape;1618;p19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9" name="Google Shape;1619;p19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0" name="Google Shape;1620;p19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1" name="Google Shape;1621;p19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2" name="Google Shape;1622;p19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3" name="Google Shape;1623;p19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4" name="Google Shape;1624;p19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25" name="Google Shape;162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6" name="Google Shape;1626;p19"/>
          <p:cNvSpPr txBox="1">
            <a:spLocks noGrp="1"/>
          </p:cNvSpPr>
          <p:nvPr>
            <p:ph type="title" idx="2"/>
          </p:nvPr>
        </p:nvSpPr>
        <p:spPr>
          <a:xfrm>
            <a:off x="1101175" y="177692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27" name="Google Shape;1627;p19"/>
          <p:cNvSpPr txBox="1">
            <a:spLocks noGrp="1"/>
          </p:cNvSpPr>
          <p:nvPr>
            <p:ph type="subTitle" idx="1"/>
          </p:nvPr>
        </p:nvSpPr>
        <p:spPr>
          <a:xfrm>
            <a:off x="1101175" y="23634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8" name="Google Shape;1628;p19"/>
          <p:cNvSpPr txBox="1">
            <a:spLocks noGrp="1"/>
          </p:cNvSpPr>
          <p:nvPr>
            <p:ph type="title" idx="3"/>
          </p:nvPr>
        </p:nvSpPr>
        <p:spPr>
          <a:xfrm>
            <a:off x="3578948" y="177692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29" name="Google Shape;1629;p19"/>
          <p:cNvSpPr txBox="1">
            <a:spLocks noGrp="1"/>
          </p:cNvSpPr>
          <p:nvPr>
            <p:ph type="subTitle" idx="4"/>
          </p:nvPr>
        </p:nvSpPr>
        <p:spPr>
          <a:xfrm>
            <a:off x="3578948" y="23634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0" name="Google Shape;1630;p19"/>
          <p:cNvSpPr txBox="1">
            <a:spLocks noGrp="1"/>
          </p:cNvSpPr>
          <p:nvPr>
            <p:ph type="title" idx="5"/>
          </p:nvPr>
        </p:nvSpPr>
        <p:spPr>
          <a:xfrm>
            <a:off x="1101175" y="353717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31" name="Google Shape;1631;p19"/>
          <p:cNvSpPr txBox="1">
            <a:spLocks noGrp="1"/>
          </p:cNvSpPr>
          <p:nvPr>
            <p:ph type="subTitle" idx="6"/>
          </p:nvPr>
        </p:nvSpPr>
        <p:spPr>
          <a:xfrm>
            <a:off x="1101175" y="41237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2" name="Google Shape;1632;p19"/>
          <p:cNvSpPr txBox="1">
            <a:spLocks noGrp="1"/>
          </p:cNvSpPr>
          <p:nvPr>
            <p:ph type="title" idx="7"/>
          </p:nvPr>
        </p:nvSpPr>
        <p:spPr>
          <a:xfrm>
            <a:off x="3578948" y="353717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33" name="Google Shape;1633;p19"/>
          <p:cNvSpPr txBox="1">
            <a:spLocks noGrp="1"/>
          </p:cNvSpPr>
          <p:nvPr>
            <p:ph type="subTitle" idx="8"/>
          </p:nvPr>
        </p:nvSpPr>
        <p:spPr>
          <a:xfrm>
            <a:off x="3578948" y="41237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4" name="Google Shape;1634;p19"/>
          <p:cNvSpPr txBox="1">
            <a:spLocks noGrp="1"/>
          </p:cNvSpPr>
          <p:nvPr>
            <p:ph type="title" idx="9"/>
          </p:nvPr>
        </p:nvSpPr>
        <p:spPr>
          <a:xfrm>
            <a:off x="6056727" y="177692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35" name="Google Shape;1635;p19"/>
          <p:cNvSpPr txBox="1">
            <a:spLocks noGrp="1"/>
          </p:cNvSpPr>
          <p:nvPr>
            <p:ph type="subTitle" idx="13"/>
          </p:nvPr>
        </p:nvSpPr>
        <p:spPr>
          <a:xfrm>
            <a:off x="6056727" y="23634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6" name="Google Shape;1636;p19"/>
          <p:cNvSpPr txBox="1">
            <a:spLocks noGrp="1"/>
          </p:cNvSpPr>
          <p:nvPr>
            <p:ph type="title" idx="14"/>
          </p:nvPr>
        </p:nvSpPr>
        <p:spPr>
          <a:xfrm>
            <a:off x="6056727" y="3537175"/>
            <a:ext cx="1986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None/>
              <a:defRPr sz="18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37" name="Google Shape;1637;p19"/>
          <p:cNvSpPr txBox="1">
            <a:spLocks noGrp="1"/>
          </p:cNvSpPr>
          <p:nvPr>
            <p:ph type="subTitle" idx="15"/>
          </p:nvPr>
        </p:nvSpPr>
        <p:spPr>
          <a:xfrm>
            <a:off x="6056727" y="41237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38" name="Google Shape;1638;p19"/>
          <p:cNvGrpSpPr/>
          <p:nvPr/>
        </p:nvGrpSpPr>
        <p:grpSpPr>
          <a:xfrm flipH="1">
            <a:off x="-2822682" y="915773"/>
            <a:ext cx="4017967" cy="3644766"/>
            <a:chOff x="3166062" y="1034326"/>
            <a:chExt cx="6010422" cy="5452155"/>
          </a:xfrm>
        </p:grpSpPr>
        <p:sp>
          <p:nvSpPr>
            <p:cNvPr id="1639" name="Google Shape;1639;p19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1" name="Google Shape;1641;p19"/>
          <p:cNvSpPr/>
          <p:nvPr/>
        </p:nvSpPr>
        <p:spPr>
          <a:xfrm rot="10800000" flipH="1">
            <a:off x="8124759" y="-10"/>
            <a:ext cx="1019253" cy="660785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pSp>
        <p:nvGrpSpPr>
          <p:cNvPr id="1642" name="Google Shape;1642;p19"/>
          <p:cNvGrpSpPr/>
          <p:nvPr/>
        </p:nvGrpSpPr>
        <p:grpSpPr>
          <a:xfrm>
            <a:off x="8337791" y="3785511"/>
            <a:ext cx="593164" cy="1161172"/>
            <a:chOff x="4921825" y="870250"/>
            <a:chExt cx="407925" cy="798550"/>
          </a:xfrm>
        </p:grpSpPr>
        <p:sp>
          <p:nvSpPr>
            <p:cNvPr id="1643" name="Google Shape;1643;p19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9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9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9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19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" name="Google Shape;1761;p21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762" name="Google Shape;1762;p21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763" name="Google Shape;1763;p21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4" name="Google Shape;1764;p21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5" name="Google Shape;1765;p21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6" name="Google Shape;1766;p21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7" name="Google Shape;1767;p21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8" name="Google Shape;1768;p21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9" name="Google Shape;1769;p21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0" name="Google Shape;1770;p21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1" name="Google Shape;1771;p21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2" name="Google Shape;1772;p21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3" name="Google Shape;1773;p21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4" name="Google Shape;1774;p21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5" name="Google Shape;1775;p21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6" name="Google Shape;1776;p21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7" name="Google Shape;1777;p21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8" name="Google Shape;1778;p21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9" name="Google Shape;1779;p21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0" name="Google Shape;1780;p21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1" name="Google Shape;1781;p21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2" name="Google Shape;1782;p21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3" name="Google Shape;1783;p21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4" name="Google Shape;1784;p21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5" name="Google Shape;1785;p21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6" name="Google Shape;1786;p21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7" name="Google Shape;1787;p21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8" name="Google Shape;1788;p21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9" name="Google Shape;1789;p21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0" name="Google Shape;1790;p21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1" name="Google Shape;1791;p21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2" name="Google Shape;1792;p21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3" name="Google Shape;1793;p21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4" name="Google Shape;1794;p21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5" name="Google Shape;1795;p21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6" name="Google Shape;1796;p21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7" name="Google Shape;1797;p21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8" name="Google Shape;1798;p21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9" name="Google Shape;1799;p21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0" name="Google Shape;1800;p21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801" name="Google Shape;1801;p21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2" name="Google Shape;1802;p21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3" name="Google Shape;1803;p21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4" name="Google Shape;1804;p21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5" name="Google Shape;1805;p21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6" name="Google Shape;1806;p21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7" name="Google Shape;1807;p21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8" name="Google Shape;1808;p21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9" name="Google Shape;1809;p21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0" name="Google Shape;1810;p21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1" name="Google Shape;1811;p21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2" name="Google Shape;1812;p21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3" name="Google Shape;1813;p21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4" name="Google Shape;1814;p21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5" name="Google Shape;1815;p21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6" name="Google Shape;1816;p21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7" name="Google Shape;1817;p21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8" name="Google Shape;1818;p21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9" name="Google Shape;1819;p21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0" name="Google Shape;1820;p21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1" name="Google Shape;1821;p21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2" name="Google Shape;1822;p21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3" name="Google Shape;1823;p21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4" name="Google Shape;1824;p21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5" name="Google Shape;1825;p21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6" name="Google Shape;1826;p21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7" name="Google Shape;1827;p21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8" name="Google Shape;1828;p21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9" name="Google Shape;1829;p21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0" name="Google Shape;1830;p21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1" name="Google Shape;1831;p21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2" name="Google Shape;1832;p21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3" name="Google Shape;1833;p21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4" name="Google Shape;1834;p21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5" name="Google Shape;1835;p21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6" name="Google Shape;1836;p21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7" name="Google Shape;1837;p21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38" name="Google Shape;1838;p21"/>
          <p:cNvGrpSpPr/>
          <p:nvPr/>
        </p:nvGrpSpPr>
        <p:grpSpPr>
          <a:xfrm flipH="1">
            <a:off x="162750" y="166036"/>
            <a:ext cx="593164" cy="1161172"/>
            <a:chOff x="4921825" y="870250"/>
            <a:chExt cx="407925" cy="798550"/>
          </a:xfrm>
        </p:grpSpPr>
        <p:sp>
          <p:nvSpPr>
            <p:cNvPr id="1839" name="Google Shape;1839;p21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1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1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1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1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1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1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1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1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1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1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1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1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1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1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1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1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1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1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1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1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1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1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1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1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1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1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1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1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1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9" name="Google Shape;1869;p21"/>
          <p:cNvGrpSpPr/>
          <p:nvPr/>
        </p:nvGrpSpPr>
        <p:grpSpPr>
          <a:xfrm flipH="1">
            <a:off x="8382825" y="3823636"/>
            <a:ext cx="593164" cy="1161172"/>
            <a:chOff x="4921825" y="870250"/>
            <a:chExt cx="407925" cy="798550"/>
          </a:xfrm>
        </p:grpSpPr>
        <p:sp>
          <p:nvSpPr>
            <p:cNvPr id="1870" name="Google Shape;1870;p21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1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1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1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1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1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1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1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1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1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1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1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1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1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1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1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1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1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1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1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1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1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1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1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1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1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1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1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1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1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1" name="Google Shape;1901;p22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902" name="Google Shape;1902;p22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903" name="Google Shape;1903;p2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4" name="Google Shape;1904;p2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5" name="Google Shape;1905;p2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6" name="Google Shape;1906;p2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7" name="Google Shape;1907;p2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8" name="Google Shape;1908;p2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9" name="Google Shape;1909;p2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0" name="Google Shape;1910;p2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1" name="Google Shape;1911;p2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2" name="Google Shape;1912;p2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3" name="Google Shape;1913;p2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4" name="Google Shape;1914;p2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5" name="Google Shape;1915;p2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6" name="Google Shape;1916;p2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7" name="Google Shape;1917;p2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8" name="Google Shape;1918;p2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9" name="Google Shape;1919;p2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0" name="Google Shape;1920;p2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1" name="Google Shape;1921;p2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2" name="Google Shape;1922;p2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3" name="Google Shape;1923;p2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4" name="Google Shape;1924;p2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5" name="Google Shape;1925;p2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6" name="Google Shape;1926;p2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7" name="Google Shape;1927;p2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8" name="Google Shape;1928;p2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9" name="Google Shape;1929;p2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0" name="Google Shape;1930;p2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1" name="Google Shape;1931;p2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2" name="Google Shape;1932;p2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3" name="Google Shape;1933;p2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4" name="Google Shape;1934;p2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5" name="Google Shape;1935;p2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6" name="Google Shape;1936;p2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7" name="Google Shape;1937;p2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8" name="Google Shape;1938;p2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9" name="Google Shape;1939;p2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40" name="Google Shape;1940;p22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941" name="Google Shape;1941;p2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2" name="Google Shape;1942;p2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3" name="Google Shape;1943;p2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4" name="Google Shape;1944;p2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5" name="Google Shape;1945;p2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6" name="Google Shape;1946;p2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7" name="Google Shape;1947;p2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8" name="Google Shape;1948;p2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9" name="Google Shape;1949;p2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0" name="Google Shape;1950;p2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1" name="Google Shape;1951;p2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2" name="Google Shape;1952;p2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3" name="Google Shape;1953;p2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4" name="Google Shape;1954;p2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5" name="Google Shape;1955;p2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6" name="Google Shape;1956;p2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7" name="Google Shape;1957;p2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8" name="Google Shape;1958;p2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9" name="Google Shape;1959;p2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0" name="Google Shape;1960;p2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1" name="Google Shape;1961;p2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2" name="Google Shape;1962;p2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3" name="Google Shape;1963;p2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4" name="Google Shape;1964;p2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5" name="Google Shape;1965;p2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6" name="Google Shape;1966;p2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7" name="Google Shape;1967;p2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8" name="Google Shape;1968;p2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9" name="Google Shape;1969;p2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0" name="Google Shape;1970;p2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1" name="Google Shape;1971;p2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2" name="Google Shape;1972;p2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3" name="Google Shape;1973;p2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4" name="Google Shape;1974;p2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5" name="Google Shape;1975;p2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6" name="Google Shape;1976;p2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7" name="Google Shape;1977;p2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78" name="Google Shape;1978;p22"/>
          <p:cNvGrpSpPr/>
          <p:nvPr/>
        </p:nvGrpSpPr>
        <p:grpSpPr>
          <a:xfrm flipH="1">
            <a:off x="-2299857" y="-2697840"/>
            <a:ext cx="4017967" cy="3644766"/>
            <a:chOff x="3166062" y="1034326"/>
            <a:chExt cx="6010422" cy="5452155"/>
          </a:xfrm>
        </p:grpSpPr>
        <p:sp>
          <p:nvSpPr>
            <p:cNvPr id="1979" name="Google Shape;1979;p22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2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1" name="Google Shape;1981;p22"/>
          <p:cNvGrpSpPr/>
          <p:nvPr/>
        </p:nvGrpSpPr>
        <p:grpSpPr>
          <a:xfrm>
            <a:off x="7540747" y="-598211"/>
            <a:ext cx="3863499" cy="3798516"/>
            <a:chOff x="3133537" y="-308699"/>
            <a:chExt cx="6010422" cy="5452155"/>
          </a:xfrm>
        </p:grpSpPr>
        <p:sp>
          <p:nvSpPr>
            <p:cNvPr id="1982" name="Google Shape;1982;p22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2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4" name="Google Shape;1984;p22"/>
          <p:cNvGrpSpPr/>
          <p:nvPr/>
        </p:nvGrpSpPr>
        <p:grpSpPr>
          <a:xfrm>
            <a:off x="7540741" y="371486"/>
            <a:ext cx="593164" cy="1161172"/>
            <a:chOff x="4921825" y="870250"/>
            <a:chExt cx="407925" cy="798550"/>
          </a:xfrm>
        </p:grpSpPr>
        <p:sp>
          <p:nvSpPr>
            <p:cNvPr id="1985" name="Google Shape;1985;p22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2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2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2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2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2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2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2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2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2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2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2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2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2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2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2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2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2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2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2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2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2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2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2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2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2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2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2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2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2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_1_1_1_1_1_1_1_1"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6" name="Google Shape;2016;p23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2017" name="Google Shape;2017;p23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2018" name="Google Shape;2018;p2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9" name="Google Shape;2019;p2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0" name="Google Shape;2020;p2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1" name="Google Shape;2021;p2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2" name="Google Shape;2022;p2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3" name="Google Shape;2023;p2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4" name="Google Shape;2024;p2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5" name="Google Shape;2025;p2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6" name="Google Shape;2026;p2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7" name="Google Shape;2027;p2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8" name="Google Shape;2028;p2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9" name="Google Shape;2029;p2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0" name="Google Shape;2030;p2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1" name="Google Shape;2031;p2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2" name="Google Shape;2032;p2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3" name="Google Shape;2033;p2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4" name="Google Shape;2034;p2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5" name="Google Shape;2035;p2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6" name="Google Shape;2036;p2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7" name="Google Shape;2037;p2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8" name="Google Shape;2038;p2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9" name="Google Shape;2039;p2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0" name="Google Shape;2040;p2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1" name="Google Shape;2041;p2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2" name="Google Shape;2042;p2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3" name="Google Shape;2043;p2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4" name="Google Shape;2044;p2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5" name="Google Shape;2045;p2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6" name="Google Shape;2046;p2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7" name="Google Shape;2047;p2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8" name="Google Shape;2048;p2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9" name="Google Shape;2049;p2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0" name="Google Shape;2050;p2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1" name="Google Shape;2051;p2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5" name="Google Shape;2055;p23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2056" name="Google Shape;2056;p2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7" name="Google Shape;2057;p2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1" name="Google Shape;2061;p2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2" name="Google Shape;2062;p2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3" name="Google Shape;2063;p2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4" name="Google Shape;2064;p2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5" name="Google Shape;2065;p2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6" name="Google Shape;2066;p2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7" name="Google Shape;2067;p2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8" name="Google Shape;2068;p2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9" name="Google Shape;2069;p2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0" name="Google Shape;2070;p2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1" name="Google Shape;2071;p2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2" name="Google Shape;2072;p2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3" name="Google Shape;2073;p2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4" name="Google Shape;2074;p2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5" name="Google Shape;2075;p2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6" name="Google Shape;2076;p2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7" name="Google Shape;2077;p2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8" name="Google Shape;2078;p2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9" name="Google Shape;2079;p2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0" name="Google Shape;2080;p2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1" name="Google Shape;2081;p2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2" name="Google Shape;2082;p2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3" name="Google Shape;2083;p2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4" name="Google Shape;2084;p2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5" name="Google Shape;2085;p2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6" name="Google Shape;2086;p2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7" name="Google Shape;2087;p2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8" name="Google Shape;2088;p2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9" name="Google Shape;2089;p2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0" name="Google Shape;2090;p2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1" name="Google Shape;2091;p2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2" name="Google Shape;2092;p2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93" name="Google Shape;2093;p23"/>
          <p:cNvSpPr/>
          <p:nvPr/>
        </p:nvSpPr>
        <p:spPr>
          <a:xfrm rot="10800000" flipH="1">
            <a:off x="7981930" y="18"/>
            <a:ext cx="1162071" cy="660785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94" name="Google Shape;2094;p23"/>
          <p:cNvSpPr/>
          <p:nvPr/>
        </p:nvSpPr>
        <p:spPr>
          <a:xfrm flipH="1">
            <a:off x="-20" y="4482718"/>
            <a:ext cx="1162071" cy="660785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estrial"/>
              <a:buNone/>
              <a:defRPr sz="2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7" r:id="rId6"/>
    <p:sldLayoutId id="2147483665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5" name="Google Shape;2105;p27"/>
          <p:cNvPicPr preferRelativeResize="0"/>
          <p:nvPr/>
        </p:nvPicPr>
        <p:blipFill rotWithShape="1">
          <a:blip r:embed="rId3">
            <a:alphaModFix/>
          </a:blip>
          <a:srcRect l="11582" r="19924"/>
          <a:stretch/>
        </p:blipFill>
        <p:spPr>
          <a:xfrm>
            <a:off x="323850" y="811650"/>
            <a:ext cx="2619374" cy="402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27"/>
          <p:cNvSpPr txBox="1">
            <a:spLocks noGrp="1"/>
          </p:cNvSpPr>
          <p:nvPr>
            <p:ph type="subTitle" idx="1"/>
          </p:nvPr>
        </p:nvSpPr>
        <p:spPr>
          <a:xfrm>
            <a:off x="3503995" y="2571750"/>
            <a:ext cx="4675039" cy="2006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b="1"/>
              <a:t>Course:</a:t>
            </a:r>
            <a:r>
              <a:rPr lang="en-US"/>
              <a:t> CDS 3533 - Big Data Analytics</a:t>
            </a:r>
            <a:endParaRPr lang="ar-AE"/>
          </a:p>
          <a:p>
            <a:pPr algn="ctr"/>
            <a:r>
              <a:rPr lang="en-US" b="1"/>
              <a:t>Instructor:</a:t>
            </a:r>
            <a:r>
              <a:rPr lang="en-US"/>
              <a:t> Dr. Amala Rajan</a:t>
            </a:r>
          </a:p>
          <a:p>
            <a:pPr algn="ctr"/>
            <a:r>
              <a:rPr lang="en-US" b="1"/>
              <a:t>Semester:</a:t>
            </a:r>
            <a:r>
              <a:rPr lang="en-US"/>
              <a:t> 202510</a:t>
            </a:r>
          </a:p>
          <a:p>
            <a:pPr algn="ctr"/>
            <a:endParaRPr lang="en-US"/>
          </a:p>
          <a:p>
            <a:pPr algn="ctr"/>
            <a:r>
              <a:rPr lang="en-US" b="1"/>
              <a:t>Students:</a:t>
            </a:r>
            <a:endParaRPr lang="ar-AE" b="1"/>
          </a:p>
          <a:p>
            <a:pPr algn="ctr"/>
            <a:r>
              <a:rPr lang="en-US"/>
              <a:t>Maryam Ali (H00535836)</a:t>
            </a:r>
            <a:endParaRPr lang="ar-AE"/>
          </a:p>
          <a:p>
            <a:pPr algn="ctr"/>
            <a:r>
              <a:rPr lang="en-US"/>
              <a:t>Hessa Khalfan (H00535166)</a:t>
            </a:r>
          </a:p>
        </p:txBody>
      </p:sp>
      <p:grpSp>
        <p:nvGrpSpPr>
          <p:cNvPr id="2138" name="Google Shape;2138;p27"/>
          <p:cNvGrpSpPr/>
          <p:nvPr/>
        </p:nvGrpSpPr>
        <p:grpSpPr>
          <a:xfrm flipH="1">
            <a:off x="2286825" y="223186"/>
            <a:ext cx="593164" cy="1161172"/>
            <a:chOff x="4921825" y="870250"/>
            <a:chExt cx="407925" cy="798550"/>
          </a:xfrm>
        </p:grpSpPr>
        <p:sp>
          <p:nvSpPr>
            <p:cNvPr id="2139" name="Google Shape;2139;p2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2169;p27"/>
          <p:cNvGrpSpPr/>
          <p:nvPr/>
        </p:nvGrpSpPr>
        <p:grpSpPr>
          <a:xfrm flipH="1">
            <a:off x="7601956" y="310954"/>
            <a:ext cx="579743" cy="1134819"/>
            <a:chOff x="4921825" y="870250"/>
            <a:chExt cx="407925" cy="798550"/>
          </a:xfrm>
        </p:grpSpPr>
        <p:sp>
          <p:nvSpPr>
            <p:cNvPr id="2170" name="Google Shape;2170;p2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0" name="Google Shape;2200;p27"/>
          <p:cNvSpPr/>
          <p:nvPr/>
        </p:nvSpPr>
        <p:spPr>
          <a:xfrm flipH="1">
            <a:off x="2736492" y="1759226"/>
            <a:ext cx="5610600" cy="31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27"/>
          <p:cNvSpPr txBox="1">
            <a:spLocks noGrp="1"/>
          </p:cNvSpPr>
          <p:nvPr>
            <p:ph type="ctrTitle"/>
          </p:nvPr>
        </p:nvSpPr>
        <p:spPr>
          <a:xfrm>
            <a:off x="2061091" y="905726"/>
            <a:ext cx="6367800" cy="17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b="1" err="1"/>
              <a:t>MegaMart</a:t>
            </a:r>
            <a:r>
              <a:rPr lang="en-US" sz="4000" b="1"/>
              <a:t> Sales Analysis</a:t>
            </a:r>
            <a:br>
              <a:rPr lang="en-US" sz="4000" b="1"/>
            </a:br>
            <a:endParaRPr sz="28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/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Project Overview</a:t>
            </a:r>
            <a:endParaRPr/>
          </a:p>
        </p:txBody>
      </p:sp>
      <p:sp>
        <p:nvSpPr>
          <p:cNvPr id="2208" name="Google Shape;2208;p28"/>
          <p:cNvSpPr txBox="1">
            <a:spLocks noGrp="1"/>
          </p:cNvSpPr>
          <p:nvPr>
            <p:ph type="body" idx="1"/>
          </p:nvPr>
        </p:nvSpPr>
        <p:spPr>
          <a:xfrm>
            <a:off x="153884" y="1258675"/>
            <a:ext cx="4381903" cy="3917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sz="1600" b="1">
                <a:solidFill>
                  <a:schemeClr val="tx2">
                    <a:lumMod val="10000"/>
                  </a:schemeClr>
                </a:solidFill>
                <a:latin typeface="Abadi" panose="020B0604020104020204" pitchFamily="34" charset="0"/>
              </a:rPr>
              <a:t>What is This Project About?</a:t>
            </a:r>
          </a:p>
          <a:p>
            <a:r>
              <a:rPr lang="en-US">
                <a:latin typeface="Abadi" panose="020B0604020104020204" pitchFamily="34" charset="0"/>
              </a:rPr>
              <a:t>Analyzing sales data from </a:t>
            </a:r>
            <a:r>
              <a:rPr lang="en-US" b="1" err="1">
                <a:latin typeface="Abadi" panose="020B0604020104020204" pitchFamily="34" charset="0"/>
              </a:rPr>
              <a:t>MegaMart</a:t>
            </a:r>
            <a:r>
              <a:rPr lang="en-US">
                <a:latin typeface="Abadi" panose="020B0604020104020204" pitchFamily="34" charset="0"/>
              </a:rPr>
              <a:t> to understand its business performance.</a:t>
            </a:r>
          </a:p>
          <a:p>
            <a:endParaRPr lang="ar-AE">
              <a:latin typeface="Abadi" panose="020B0604020104020204" pitchFamily="34" charset="0"/>
            </a:endParaRPr>
          </a:p>
          <a:p>
            <a:r>
              <a:rPr lang="en-US">
                <a:latin typeface="Abadi" panose="020B0604020104020204" pitchFamily="34" charset="0"/>
              </a:rPr>
              <a:t>Understanding the link between </a:t>
            </a:r>
            <a:r>
              <a:rPr lang="en-US" b="1">
                <a:latin typeface="Abadi" panose="020B0604020104020204" pitchFamily="34" charset="0"/>
              </a:rPr>
              <a:t>discounts</a:t>
            </a:r>
            <a:r>
              <a:rPr lang="en-US">
                <a:latin typeface="Abadi" panose="020B0604020104020204" pitchFamily="34" charset="0"/>
              </a:rPr>
              <a:t> and </a:t>
            </a:r>
            <a:r>
              <a:rPr lang="en-US" b="1">
                <a:latin typeface="Abadi" panose="020B0604020104020204" pitchFamily="34" charset="0"/>
              </a:rPr>
              <a:t>profitability</a:t>
            </a:r>
            <a:r>
              <a:rPr lang="en-US">
                <a:latin typeface="Abadi" panose="020B0604020104020204" pitchFamily="34" charset="0"/>
              </a:rPr>
              <a:t> through data analysis.</a:t>
            </a:r>
            <a:endParaRPr lang="ar-AE">
              <a:latin typeface="Abadi" panose="020B0604020104020204" pitchFamily="34" charset="0"/>
            </a:endParaRPr>
          </a:p>
          <a:p>
            <a:endParaRPr lang="ar-AE">
              <a:latin typeface="Abadi" panose="020B0604020104020204" pitchFamily="34" charset="0"/>
            </a:endParaRPr>
          </a:p>
          <a:p>
            <a:r>
              <a:rPr lang="en-US">
                <a:latin typeface="Abadi" panose="020B0604020104020204" pitchFamily="34" charset="0"/>
              </a:rPr>
              <a:t>Using Big Data technologies like </a:t>
            </a:r>
            <a:r>
              <a:rPr lang="en-US" b="1" err="1">
                <a:latin typeface="Abadi" panose="020B0604020104020204" pitchFamily="34" charset="0"/>
              </a:rPr>
              <a:t>DigiXT</a:t>
            </a:r>
            <a:r>
              <a:rPr lang="en-US" b="1">
                <a:latin typeface="Abadi" panose="020B0604020104020204" pitchFamily="34" charset="0"/>
              </a:rPr>
              <a:t>, Trino SQL, and MongoDB</a:t>
            </a:r>
            <a:r>
              <a:rPr lang="en-US">
                <a:latin typeface="Abadi" panose="020B0604020104020204" pitchFamily="34" charset="0"/>
              </a:rPr>
              <a:t> for data processing and analysis.</a:t>
            </a:r>
          </a:p>
          <a:p>
            <a:endParaRPr lang="en-GB">
              <a:latin typeface="Abadi" panose="020B0604020104020204" pitchFamily="34" charset="0"/>
            </a:endParaRPr>
          </a:p>
          <a:p>
            <a:r>
              <a:rPr lang="en-GB" b="1">
                <a:latin typeface="Abadi" panose="020B0604020104020204" pitchFamily="34" charset="0"/>
              </a:rPr>
              <a:t>Dataset:</a:t>
            </a:r>
            <a:r>
              <a:rPr lang="en-GB">
                <a:latin typeface="Abadi" panose="020B0604020104020204" pitchFamily="34" charset="0"/>
              </a:rPr>
              <a:t> 9,994 records with 19 variables covering sales, customer, and product information.</a:t>
            </a:r>
          </a:p>
          <a:p>
            <a:endParaRPr lang="en-GB">
              <a:solidFill>
                <a:schemeClr val="dk2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2209" name="Google Shape;2209;p28"/>
          <p:cNvGraphicFramePr/>
          <p:nvPr>
            <p:extLst>
              <p:ext uri="{D42A27DB-BD31-4B8C-83A1-F6EECF244321}">
                <p14:modId xmlns:p14="http://schemas.microsoft.com/office/powerpoint/2010/main" val="1853776632"/>
              </p:ext>
            </p:extLst>
          </p:nvPr>
        </p:nvGraphicFramePr>
        <p:xfrm>
          <a:off x="4907999" y="1635895"/>
          <a:ext cx="3770218" cy="3192308"/>
        </p:xfrm>
        <a:graphic>
          <a:graphicData uri="http://schemas.openxmlformats.org/drawingml/2006/table">
            <a:tbl>
              <a:tblPr>
                <a:noFill/>
                <a:tableStyleId>{9097B9AB-1872-4A28-808A-46CC7F8F2F22}</a:tableStyleId>
              </a:tblPr>
              <a:tblGrid>
                <a:gridCol w="31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0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endParaRPr lang="en" sz="14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2"/>
                          </a:solidFill>
                          <a:latin typeface="Abadi" panose="020B0604020104020204" pitchFamily="34" charset="0"/>
                          <a:ea typeface="Arial"/>
                          <a:cs typeface="Arial"/>
                          <a:sym typeface="Arial"/>
                        </a:rPr>
                        <a:t>What is the quality of our data and how can we improve it?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0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  <a:endParaRPr lang="en" sz="14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2"/>
                          </a:solidFill>
                          <a:latin typeface="Abadi" panose="020B0604020104020204" pitchFamily="34" charset="0"/>
                          <a:ea typeface="Arial"/>
                          <a:cs typeface="Arial"/>
                          <a:sym typeface="Arial"/>
                        </a:rPr>
                        <a:t>How can we process and store big data efficiently?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0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3</a:t>
                      </a:r>
                      <a:endParaRPr lang="en" sz="14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2"/>
                          </a:solidFill>
                          <a:latin typeface="Abadi" panose="020B0604020104020204" pitchFamily="34" charset="0"/>
                          <a:ea typeface="Arial"/>
                          <a:cs typeface="Arial"/>
                          <a:sym typeface="Arial"/>
                        </a:rPr>
                        <a:t>What patterns and insights can we discover from the data?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0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4</a:t>
                      </a:r>
                      <a:endParaRPr lang="en" sz="14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2"/>
                          </a:solidFill>
                          <a:latin typeface="Abadi" panose="020B0604020104020204" pitchFamily="34" charset="0"/>
                          <a:ea typeface="Arial"/>
                          <a:cs typeface="Arial"/>
                          <a:sym typeface="Arial"/>
                        </a:rPr>
                        <a:t>What do customers think about our products?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12" name="Google Shape;2212;p28"/>
          <p:cNvGrpSpPr/>
          <p:nvPr/>
        </p:nvGrpSpPr>
        <p:grpSpPr>
          <a:xfrm>
            <a:off x="3990828" y="4041092"/>
            <a:ext cx="579743" cy="1134819"/>
            <a:chOff x="4921825" y="870250"/>
            <a:chExt cx="407925" cy="798550"/>
          </a:xfrm>
        </p:grpSpPr>
        <p:sp>
          <p:nvSpPr>
            <p:cNvPr id="2213" name="Google Shape;2213;p28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08;p28">
            <a:extLst>
              <a:ext uri="{FF2B5EF4-FFF2-40B4-BE49-F238E27FC236}">
                <a16:creationId xmlns:a16="http://schemas.microsoft.com/office/drawing/2014/main" id="{7B1E546F-7589-30BA-9944-963F6A5A68EB}"/>
              </a:ext>
            </a:extLst>
          </p:cNvPr>
          <p:cNvSpPr txBox="1">
            <a:spLocks/>
          </p:cNvSpPr>
          <p:nvPr/>
        </p:nvSpPr>
        <p:spPr>
          <a:xfrm>
            <a:off x="5414249" y="1156725"/>
            <a:ext cx="2757717" cy="54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sz="1800" b="1">
                <a:solidFill>
                  <a:schemeClr val="tx2">
                    <a:lumMod val="10000"/>
                  </a:schemeClr>
                </a:solidFill>
              </a:rPr>
              <a:t>Key Questions We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7DB9D339-E115-BC22-0534-2A8E77A3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A4C4F5C3-A2BB-5DF2-A762-BAA485C3C04D}"/>
              </a:ext>
            </a:extLst>
          </p:cNvPr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5F51EA9B-01EA-799A-D205-FD41BAB05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Dataset Overview</a:t>
            </a:r>
            <a:endParaRPr sz="1400" b="1">
              <a:solidFill>
                <a:schemeClr val="accent6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E2678F43-CCE8-1D04-00ED-C34C71842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31648" y="1219881"/>
            <a:ext cx="4391510" cy="3331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2000" b="1">
                <a:solidFill>
                  <a:schemeClr val="accent6"/>
                </a:solidFill>
              </a:rPr>
              <a:t>Data Categories</a:t>
            </a:r>
            <a:br>
              <a:rPr lang="en-US" sz="1700">
                <a:solidFill>
                  <a:schemeClr val="accent6"/>
                </a:solidFill>
              </a:rPr>
            </a:br>
            <a:endParaRPr lang="en-GB" sz="1700" b="1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b="1"/>
              <a:t>Identifiers (</a:t>
            </a:r>
            <a:r>
              <a:rPr lang="en-GB" sz="1700" err="1"/>
              <a:t>order_id</a:t>
            </a:r>
            <a:r>
              <a:rPr lang="en-GB" sz="1700"/>
              <a:t>, </a:t>
            </a:r>
            <a:r>
              <a:rPr lang="en-GB" sz="1700" err="1"/>
              <a:t>customer_id</a:t>
            </a:r>
            <a:r>
              <a:rPr lang="en-GB" sz="1700"/>
              <a:t>, </a:t>
            </a:r>
            <a:r>
              <a:rPr lang="en-GB" sz="1700" err="1"/>
              <a:t>product_id</a:t>
            </a:r>
            <a:r>
              <a:rPr lang="en-US" sz="1700" b="1"/>
              <a:t>)</a:t>
            </a:r>
          </a:p>
          <a:p>
            <a:pPr>
              <a:lnSpc>
                <a:spcPct val="150000"/>
              </a:lnSpc>
            </a:pPr>
            <a:r>
              <a:rPr lang="en-US" sz="1700" b="1"/>
              <a:t>Temporal (</a:t>
            </a:r>
            <a:r>
              <a:rPr lang="en-US" sz="1700" err="1"/>
              <a:t>order_date</a:t>
            </a:r>
            <a:r>
              <a:rPr lang="en-US" sz="1700"/>
              <a:t>, </a:t>
            </a:r>
            <a:r>
              <a:rPr lang="en-US" sz="1700" err="1"/>
              <a:t>ship_date</a:t>
            </a:r>
            <a:r>
              <a:rPr lang="en-US" sz="1700" b="1"/>
              <a:t>)</a:t>
            </a:r>
          </a:p>
          <a:p>
            <a:pPr>
              <a:lnSpc>
                <a:spcPct val="150000"/>
              </a:lnSpc>
            </a:pPr>
            <a:r>
              <a:rPr lang="en-US" sz="1700" b="1"/>
              <a:t>Categorical (</a:t>
            </a:r>
            <a:r>
              <a:rPr lang="en-GB" sz="1700"/>
              <a:t>region, category, subcategory, segment, </a:t>
            </a:r>
            <a:r>
              <a:rPr lang="en-GB" sz="1700" err="1"/>
              <a:t>ship_mode</a:t>
            </a:r>
            <a:r>
              <a:rPr lang="en-US" sz="1700" b="1"/>
              <a:t>)</a:t>
            </a:r>
          </a:p>
          <a:p>
            <a:pPr>
              <a:lnSpc>
                <a:spcPct val="150000"/>
              </a:lnSpc>
            </a:pPr>
            <a:r>
              <a:rPr lang="en-US" sz="1700" b="1"/>
              <a:t>Numerical (</a:t>
            </a:r>
            <a:r>
              <a:rPr lang="en-US" sz="1700"/>
              <a:t>sales, quantity, discount, profit</a:t>
            </a:r>
            <a:r>
              <a:rPr lang="en-US" sz="1700" b="1"/>
              <a:t>)</a:t>
            </a:r>
          </a:p>
          <a:p>
            <a:pPr>
              <a:lnSpc>
                <a:spcPct val="150000"/>
              </a:lnSpc>
            </a:pPr>
            <a:r>
              <a:rPr lang="en-US" sz="1700" b="1"/>
              <a:t>Unstructured (</a:t>
            </a:r>
            <a:r>
              <a:rPr lang="en-US" sz="1700"/>
              <a:t>customer reviews (text data)</a:t>
            </a:r>
            <a:r>
              <a:rPr lang="en-US" sz="1700" b="1"/>
              <a:t>)</a:t>
            </a:r>
            <a:endParaRPr lang="en-GB" sz="1700"/>
          </a:p>
        </p:txBody>
      </p:sp>
      <p:graphicFrame>
        <p:nvGraphicFramePr>
          <p:cNvPr id="2209" name="Google Shape;2209;p28">
            <a:extLst>
              <a:ext uri="{FF2B5EF4-FFF2-40B4-BE49-F238E27FC236}">
                <a16:creationId xmlns:a16="http://schemas.microsoft.com/office/drawing/2014/main" id="{F8AB8EEB-BFAD-9612-F47C-606D0E0C2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462957"/>
              </p:ext>
            </p:extLst>
          </p:nvPr>
        </p:nvGraphicFramePr>
        <p:xfrm>
          <a:off x="1113406" y="1906172"/>
          <a:ext cx="2759748" cy="2730645"/>
        </p:xfrm>
        <a:graphic>
          <a:graphicData uri="http://schemas.openxmlformats.org/drawingml/2006/table">
            <a:tbl>
              <a:tblPr>
                <a:noFill/>
                <a:tableStyleId>{9097B9AB-1872-4A28-808A-46CC7F8F2F22}</a:tableStyleId>
              </a:tblPr>
              <a:tblGrid>
                <a:gridCol w="996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Aspect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Details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Name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i="0" u="none" strike="noStrike" cap="none" err="1">
                          <a:solidFill>
                            <a:schemeClr val="dk2"/>
                          </a:solidFill>
                          <a:latin typeface="Abel"/>
                          <a:ea typeface="Arial"/>
                          <a:cs typeface="Arial"/>
                          <a:sym typeface="Arial"/>
                        </a:rPr>
                        <a:t>megamart_CSV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Records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dk2"/>
                          </a:solidFill>
                          <a:latin typeface="Abel"/>
                          <a:ea typeface="Arial"/>
                          <a:cs typeface="Arial"/>
                          <a:sym typeface="Arial"/>
                        </a:rPr>
                        <a:t>9,994 transactions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Variables 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dk2"/>
                          </a:solidFill>
                          <a:latin typeface="Abel"/>
                          <a:ea typeface="Arial"/>
                          <a:cs typeface="Arial"/>
                          <a:sym typeface="Arial"/>
                        </a:rPr>
                        <a:t>19 columns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Data Type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chemeClr val="dk2"/>
                          </a:solidFill>
                          <a:latin typeface="Abel"/>
                          <a:ea typeface="Arial"/>
                          <a:cs typeface="Arial"/>
                          <a:sym typeface="Arial"/>
                        </a:rPr>
                        <a:t>Transactional sales data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71994"/>
                  </a:ext>
                </a:extLst>
              </a:tr>
            </a:tbl>
          </a:graphicData>
        </a:graphic>
      </p:graphicFrame>
      <p:grpSp>
        <p:nvGrpSpPr>
          <p:cNvPr id="2212" name="Google Shape;2212;p28">
            <a:extLst>
              <a:ext uri="{FF2B5EF4-FFF2-40B4-BE49-F238E27FC236}">
                <a16:creationId xmlns:a16="http://schemas.microsoft.com/office/drawing/2014/main" id="{EADFE78F-C046-BE86-CC8C-F97A7EB8AB03}"/>
              </a:ext>
            </a:extLst>
          </p:cNvPr>
          <p:cNvGrpSpPr/>
          <p:nvPr/>
        </p:nvGrpSpPr>
        <p:grpSpPr>
          <a:xfrm>
            <a:off x="3990828" y="4041092"/>
            <a:ext cx="579743" cy="1134819"/>
            <a:chOff x="4921825" y="870250"/>
            <a:chExt cx="407925" cy="798550"/>
          </a:xfrm>
        </p:grpSpPr>
        <p:sp>
          <p:nvSpPr>
            <p:cNvPr id="2213" name="Google Shape;2213;p28">
              <a:extLst>
                <a:ext uri="{FF2B5EF4-FFF2-40B4-BE49-F238E27FC236}">
                  <a16:creationId xmlns:a16="http://schemas.microsoft.com/office/drawing/2014/main" id="{ECEFB15E-B272-6B39-44D4-EA5D0BFB80A3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>
              <a:extLst>
                <a:ext uri="{FF2B5EF4-FFF2-40B4-BE49-F238E27FC236}">
                  <a16:creationId xmlns:a16="http://schemas.microsoft.com/office/drawing/2014/main" id="{C2171872-06F3-5779-0423-48BA9BEC35A1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>
              <a:extLst>
                <a:ext uri="{FF2B5EF4-FFF2-40B4-BE49-F238E27FC236}">
                  <a16:creationId xmlns:a16="http://schemas.microsoft.com/office/drawing/2014/main" id="{E6A1FDA8-7E16-FB83-D8A3-C41A2505F241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>
              <a:extLst>
                <a:ext uri="{FF2B5EF4-FFF2-40B4-BE49-F238E27FC236}">
                  <a16:creationId xmlns:a16="http://schemas.microsoft.com/office/drawing/2014/main" id="{E6EB0367-FAE1-8FBF-F6AB-2F26BDB1D099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>
              <a:extLst>
                <a:ext uri="{FF2B5EF4-FFF2-40B4-BE49-F238E27FC236}">
                  <a16:creationId xmlns:a16="http://schemas.microsoft.com/office/drawing/2014/main" id="{C6922AC1-1411-B48E-A318-D485A382B8FD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>
              <a:extLst>
                <a:ext uri="{FF2B5EF4-FFF2-40B4-BE49-F238E27FC236}">
                  <a16:creationId xmlns:a16="http://schemas.microsoft.com/office/drawing/2014/main" id="{20A14B22-A22F-22C6-8DC5-8D670BEAFDE2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>
              <a:extLst>
                <a:ext uri="{FF2B5EF4-FFF2-40B4-BE49-F238E27FC236}">
                  <a16:creationId xmlns:a16="http://schemas.microsoft.com/office/drawing/2014/main" id="{259C0A1F-E659-0179-24F7-C1C6F5C49E27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>
              <a:extLst>
                <a:ext uri="{FF2B5EF4-FFF2-40B4-BE49-F238E27FC236}">
                  <a16:creationId xmlns:a16="http://schemas.microsoft.com/office/drawing/2014/main" id="{3BA582F2-88FA-6D57-B0FD-10C64793B639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>
              <a:extLst>
                <a:ext uri="{FF2B5EF4-FFF2-40B4-BE49-F238E27FC236}">
                  <a16:creationId xmlns:a16="http://schemas.microsoft.com/office/drawing/2014/main" id="{C9CDA2E0-935A-FA60-B761-0F272A9711CB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>
              <a:extLst>
                <a:ext uri="{FF2B5EF4-FFF2-40B4-BE49-F238E27FC236}">
                  <a16:creationId xmlns:a16="http://schemas.microsoft.com/office/drawing/2014/main" id="{7CDE0357-97F4-7598-9C75-5331F96F5281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>
              <a:extLst>
                <a:ext uri="{FF2B5EF4-FFF2-40B4-BE49-F238E27FC236}">
                  <a16:creationId xmlns:a16="http://schemas.microsoft.com/office/drawing/2014/main" id="{2B2927D8-921C-070D-4F43-11ACF4D548C1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>
              <a:extLst>
                <a:ext uri="{FF2B5EF4-FFF2-40B4-BE49-F238E27FC236}">
                  <a16:creationId xmlns:a16="http://schemas.microsoft.com/office/drawing/2014/main" id="{8E528BD5-ECF7-27E0-E227-4036F8D16E1A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>
              <a:extLst>
                <a:ext uri="{FF2B5EF4-FFF2-40B4-BE49-F238E27FC236}">
                  <a16:creationId xmlns:a16="http://schemas.microsoft.com/office/drawing/2014/main" id="{D1D90988-8898-02B8-5127-EA6F954BF6A2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>
              <a:extLst>
                <a:ext uri="{FF2B5EF4-FFF2-40B4-BE49-F238E27FC236}">
                  <a16:creationId xmlns:a16="http://schemas.microsoft.com/office/drawing/2014/main" id="{D6A3F8F4-7E91-88C1-C657-CBCD913B1FBB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>
              <a:extLst>
                <a:ext uri="{FF2B5EF4-FFF2-40B4-BE49-F238E27FC236}">
                  <a16:creationId xmlns:a16="http://schemas.microsoft.com/office/drawing/2014/main" id="{E3089408-B919-0BFF-AFFA-AC571B78F12E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>
              <a:extLst>
                <a:ext uri="{FF2B5EF4-FFF2-40B4-BE49-F238E27FC236}">
                  <a16:creationId xmlns:a16="http://schemas.microsoft.com/office/drawing/2014/main" id="{5811F8ED-A7B6-56CB-86E9-03BEF4B130F2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>
              <a:extLst>
                <a:ext uri="{FF2B5EF4-FFF2-40B4-BE49-F238E27FC236}">
                  <a16:creationId xmlns:a16="http://schemas.microsoft.com/office/drawing/2014/main" id="{C5833A84-8A6C-FCC0-0D0E-02EAA055C202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>
              <a:extLst>
                <a:ext uri="{FF2B5EF4-FFF2-40B4-BE49-F238E27FC236}">
                  <a16:creationId xmlns:a16="http://schemas.microsoft.com/office/drawing/2014/main" id="{055554DC-6A27-6ADE-BDD8-8A893DA30287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>
              <a:extLst>
                <a:ext uri="{FF2B5EF4-FFF2-40B4-BE49-F238E27FC236}">
                  <a16:creationId xmlns:a16="http://schemas.microsoft.com/office/drawing/2014/main" id="{A7CDF78C-4AAA-4DA2-5B7A-0A833B6A8FF1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>
              <a:extLst>
                <a:ext uri="{FF2B5EF4-FFF2-40B4-BE49-F238E27FC236}">
                  <a16:creationId xmlns:a16="http://schemas.microsoft.com/office/drawing/2014/main" id="{42B4B128-3499-CA45-FC50-ED07C1FF6738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>
              <a:extLst>
                <a:ext uri="{FF2B5EF4-FFF2-40B4-BE49-F238E27FC236}">
                  <a16:creationId xmlns:a16="http://schemas.microsoft.com/office/drawing/2014/main" id="{27A1D867-2259-668C-E9D9-6AC61F2F7088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>
              <a:extLst>
                <a:ext uri="{FF2B5EF4-FFF2-40B4-BE49-F238E27FC236}">
                  <a16:creationId xmlns:a16="http://schemas.microsoft.com/office/drawing/2014/main" id="{16252F4C-2122-A40B-859F-0AF71C91E40B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>
              <a:extLst>
                <a:ext uri="{FF2B5EF4-FFF2-40B4-BE49-F238E27FC236}">
                  <a16:creationId xmlns:a16="http://schemas.microsoft.com/office/drawing/2014/main" id="{DB26F689-EB75-83B3-8133-F1C3140C64BC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>
              <a:extLst>
                <a:ext uri="{FF2B5EF4-FFF2-40B4-BE49-F238E27FC236}">
                  <a16:creationId xmlns:a16="http://schemas.microsoft.com/office/drawing/2014/main" id="{AD97B398-A2BE-B254-2CB2-FACF4F88F293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>
              <a:extLst>
                <a:ext uri="{FF2B5EF4-FFF2-40B4-BE49-F238E27FC236}">
                  <a16:creationId xmlns:a16="http://schemas.microsoft.com/office/drawing/2014/main" id="{6B0F7512-F57D-FD2B-E729-F9827FAF6D24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>
              <a:extLst>
                <a:ext uri="{FF2B5EF4-FFF2-40B4-BE49-F238E27FC236}">
                  <a16:creationId xmlns:a16="http://schemas.microsoft.com/office/drawing/2014/main" id="{7C258006-FE0A-0B0C-3D9A-54F8E8C918B8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>
              <a:extLst>
                <a:ext uri="{FF2B5EF4-FFF2-40B4-BE49-F238E27FC236}">
                  <a16:creationId xmlns:a16="http://schemas.microsoft.com/office/drawing/2014/main" id="{D6CFE2B7-7C07-369E-54AD-19FCDEFB6B15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>
              <a:extLst>
                <a:ext uri="{FF2B5EF4-FFF2-40B4-BE49-F238E27FC236}">
                  <a16:creationId xmlns:a16="http://schemas.microsoft.com/office/drawing/2014/main" id="{919E6019-7507-9E4F-2A67-CC7757EBD8C0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>
              <a:extLst>
                <a:ext uri="{FF2B5EF4-FFF2-40B4-BE49-F238E27FC236}">
                  <a16:creationId xmlns:a16="http://schemas.microsoft.com/office/drawing/2014/main" id="{AB0B8A42-1612-A143-B76A-C2B8AB7FC2F3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>
              <a:extLst>
                <a:ext uri="{FF2B5EF4-FFF2-40B4-BE49-F238E27FC236}">
                  <a16:creationId xmlns:a16="http://schemas.microsoft.com/office/drawing/2014/main" id="{4A76A4D3-905B-666D-5AC4-C366F5D1CD6C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08;p28">
            <a:extLst>
              <a:ext uri="{FF2B5EF4-FFF2-40B4-BE49-F238E27FC236}">
                <a16:creationId xmlns:a16="http://schemas.microsoft.com/office/drawing/2014/main" id="{C09F5FB2-B966-A7F9-FC09-BD678C0DD406}"/>
              </a:ext>
            </a:extLst>
          </p:cNvPr>
          <p:cNvSpPr txBox="1">
            <a:spLocks/>
          </p:cNvSpPr>
          <p:nvPr/>
        </p:nvSpPr>
        <p:spPr>
          <a:xfrm>
            <a:off x="946546" y="1156725"/>
            <a:ext cx="2526715" cy="47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sz="2000" b="1">
                <a:solidFill>
                  <a:schemeClr val="accent6"/>
                </a:solidFill>
              </a:rPr>
              <a:t>Dataset Structure</a:t>
            </a:r>
          </a:p>
        </p:txBody>
      </p:sp>
    </p:spTree>
    <p:extLst>
      <p:ext uri="{BB962C8B-B14F-4D97-AF65-F5344CB8AC3E}">
        <p14:creationId xmlns:p14="http://schemas.microsoft.com/office/powerpoint/2010/main" val="397348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B2413392-B43E-643A-1EFC-A63E1CD3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C8E81C30-6155-FE3D-DF73-AB832FEF0A92}"/>
              </a:ext>
            </a:extLst>
          </p:cNvPr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2F3CBC75-CC76-CB83-6F4D-840937C52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Key Statistics</a:t>
            </a:r>
            <a:endParaRPr sz="1400" b="1">
              <a:solidFill>
                <a:schemeClr val="accent6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F15FCF3E-0EFC-92F0-DDCD-D8E302815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169534"/>
            <a:ext cx="1368129" cy="414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>
                <a:solidFill>
                  <a:schemeClr val="accent6"/>
                </a:solidFill>
              </a:rPr>
              <a:t>Key Findings</a:t>
            </a:r>
          </a:p>
          <a:p>
            <a:pPr marL="139700" indent="0">
              <a:buNone/>
            </a:pPr>
            <a:br>
              <a:rPr lang="en-US"/>
            </a:br>
            <a:endParaRPr lang="en-GB"/>
          </a:p>
        </p:txBody>
      </p:sp>
      <p:graphicFrame>
        <p:nvGraphicFramePr>
          <p:cNvPr id="2209" name="Google Shape;2209;p28">
            <a:extLst>
              <a:ext uri="{FF2B5EF4-FFF2-40B4-BE49-F238E27FC236}">
                <a16:creationId xmlns:a16="http://schemas.microsoft.com/office/drawing/2014/main" id="{739BD579-AA01-FE78-346B-60EBE0D70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282866"/>
              </p:ext>
            </p:extLst>
          </p:nvPr>
        </p:nvGraphicFramePr>
        <p:xfrm>
          <a:off x="1084470" y="1231045"/>
          <a:ext cx="7015609" cy="1898410"/>
        </p:xfrm>
        <a:graphic>
          <a:graphicData uri="http://schemas.openxmlformats.org/drawingml/2006/table">
            <a:tbl>
              <a:tblPr>
                <a:noFill/>
                <a:tableStyleId>{9097B9AB-1872-4A28-808A-46CC7F8F2F22}</a:tableStyleId>
              </a:tblPr>
              <a:tblGrid>
                <a:gridCol w="1175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054">
                  <a:extLst>
                    <a:ext uri="{9D8B030D-6E8A-4147-A177-3AD203B41FA5}">
                      <a16:colId xmlns:a16="http://schemas.microsoft.com/office/drawing/2014/main" val="3122992977"/>
                    </a:ext>
                  </a:extLst>
                </a:gridCol>
                <a:gridCol w="1619234">
                  <a:extLst>
                    <a:ext uri="{9D8B030D-6E8A-4147-A177-3AD203B41FA5}">
                      <a16:colId xmlns:a16="http://schemas.microsoft.com/office/drawing/2014/main" val="3662601558"/>
                    </a:ext>
                  </a:extLst>
                </a:gridCol>
                <a:gridCol w="1619234">
                  <a:extLst>
                    <a:ext uri="{9D8B030D-6E8A-4147-A177-3AD203B41FA5}">
                      <a16:colId xmlns:a16="http://schemas.microsoft.com/office/drawing/2014/main" val="4110413017"/>
                    </a:ext>
                  </a:extLst>
                </a:gridCol>
              </a:tblGrid>
              <a:tr h="32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Statistic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Sales</a:t>
                      </a:r>
                      <a:endParaRPr lang="en-US" sz="1100" b="0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1" i="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</a:rPr>
                        <a:t>Quantity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Discount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Profit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8AF">
                        <a:alpha val="707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Mean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$229.86</a:t>
                      </a:r>
                      <a:endParaRPr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3.23</a:t>
                      </a:r>
                      <a:endParaRPr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0.156 (15.6%)</a:t>
                      </a:r>
                      <a:endParaRPr lang="en-AE"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$28.66</a:t>
                      </a:r>
                      <a:endParaRPr lang="en-AE"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Median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$54.49</a:t>
                      </a:r>
                      <a:endParaRPr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0.200 (20%)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$8.67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AF">
                        <a:alpha val="7077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Std Dev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$623.25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1.61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0.206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$234.26</a:t>
                      </a:r>
                      <a:endParaRPr lang="en-AE" sz="1100" b="1" i="0" u="none" strike="noStrike" cap="none">
                        <a:solidFill>
                          <a:schemeClr val="accent6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Minimum</a:t>
                      </a:r>
                      <a:endParaRPr sz="1100" b="1">
                        <a:solidFill>
                          <a:schemeClr val="dk1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$0.44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-3.00</a:t>
                      </a:r>
                      <a:endParaRPr lang="en-AE" sz="1100" b="1" i="0" u="none" strike="noStrike" cap="none">
                        <a:solidFill>
                          <a:schemeClr val="accent6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lang="en-AE" sz="1100" b="1" i="0" u="none" strike="noStrike" cap="none">
                        <a:solidFill>
                          <a:schemeClr val="dk2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-$6,599.98</a:t>
                      </a:r>
                      <a:endParaRPr lang="en-AE" sz="1100" b="1" i="0" u="none" strike="noStrike" cap="none">
                        <a:solidFill>
                          <a:schemeClr val="accent6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alpha val="2849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71994"/>
                  </a:ext>
                </a:extLst>
              </a:tr>
              <a:tr h="2592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Maximum</a:t>
                      </a:r>
                      <a:endParaRPr sz="1100" b="1">
                        <a:solidFill>
                          <a:schemeClr val="accent6">
                            <a:lumMod val="75000"/>
                          </a:schemeClr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$22,638.50</a:t>
                      </a:r>
                      <a:endParaRPr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lang="en-AE" sz="1100" b="1" i="0" u="none" strike="noStrike" cap="none">
                        <a:solidFill>
                          <a:schemeClr val="accent6">
                            <a:lumMod val="75000"/>
                          </a:schemeClr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80%</a:t>
                      </a:r>
                      <a:endParaRPr lang="en-AE" sz="1100" b="1" i="0" u="none" strike="noStrike" cap="none">
                        <a:solidFill>
                          <a:schemeClr val="accent6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28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B05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$8,399.98</a:t>
                      </a:r>
                      <a:endParaRPr lang="en-AE" sz="1100" b="1" i="0" u="none" strike="noStrike" cap="none">
                        <a:solidFill>
                          <a:srgbClr val="00B050"/>
                        </a:solidFill>
                        <a:latin typeface="Abe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alpha val="2849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97434"/>
                  </a:ext>
                </a:extLst>
              </a:tr>
            </a:tbl>
          </a:graphicData>
        </a:graphic>
      </p:graphicFrame>
      <p:sp>
        <p:nvSpPr>
          <p:cNvPr id="2" name="Google Shape;2208;p28">
            <a:extLst>
              <a:ext uri="{FF2B5EF4-FFF2-40B4-BE49-F238E27FC236}">
                <a16:creationId xmlns:a16="http://schemas.microsoft.com/office/drawing/2014/main" id="{00252808-522B-ECA2-C002-0B2710F91B93}"/>
              </a:ext>
            </a:extLst>
          </p:cNvPr>
          <p:cNvSpPr txBox="1">
            <a:spLocks/>
          </p:cNvSpPr>
          <p:nvPr/>
        </p:nvSpPr>
        <p:spPr>
          <a:xfrm>
            <a:off x="720000" y="835984"/>
            <a:ext cx="2526715" cy="46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b="1">
                <a:solidFill>
                  <a:schemeClr val="tx1"/>
                </a:solidFill>
              </a:rPr>
              <a:t>Numerical Variables Summary</a:t>
            </a:r>
            <a:br>
              <a:rPr lang="en-US" b="1">
                <a:solidFill>
                  <a:schemeClr val="tx1"/>
                </a:solidFill>
              </a:rPr>
            </a:b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Google Shape;2208;p28">
            <a:extLst>
              <a:ext uri="{FF2B5EF4-FFF2-40B4-BE49-F238E27FC236}">
                <a16:creationId xmlns:a16="http://schemas.microsoft.com/office/drawing/2014/main" id="{F8681180-49B5-FC7E-FCA2-9E4F63634639}"/>
              </a:ext>
            </a:extLst>
          </p:cNvPr>
          <p:cNvSpPr txBox="1">
            <a:spLocks/>
          </p:cNvSpPr>
          <p:nvPr/>
        </p:nvSpPr>
        <p:spPr>
          <a:xfrm>
            <a:off x="720000" y="3583635"/>
            <a:ext cx="2645616" cy="134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b="1"/>
              <a:t>Sales Distribution:</a:t>
            </a:r>
            <a:r>
              <a:rPr lang="en-US"/>
              <a:t> A few large sales are pulling the average up. Most sales are much smaller than the average.</a:t>
            </a:r>
          </a:p>
        </p:txBody>
      </p:sp>
      <p:sp>
        <p:nvSpPr>
          <p:cNvPr id="4" name="Google Shape;2208;p28">
            <a:extLst>
              <a:ext uri="{FF2B5EF4-FFF2-40B4-BE49-F238E27FC236}">
                <a16:creationId xmlns:a16="http://schemas.microsoft.com/office/drawing/2014/main" id="{4637983B-078B-63A5-B81B-98184AB67FC3}"/>
              </a:ext>
            </a:extLst>
          </p:cNvPr>
          <p:cNvSpPr txBox="1">
            <a:spLocks/>
          </p:cNvSpPr>
          <p:nvPr/>
        </p:nvSpPr>
        <p:spPr>
          <a:xfrm>
            <a:off x="3246715" y="3548502"/>
            <a:ext cx="2721762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GB" b="1"/>
              <a:t>Profit Volatility:</a:t>
            </a:r>
            <a:r>
              <a:rPr lang="en-GB"/>
              <a:t> Extreme range from -$6,599.98 to +$8,399.98 with high standard deviation ($234.26) confirms unpredictable profitability.</a:t>
            </a:r>
          </a:p>
        </p:txBody>
      </p:sp>
      <p:sp>
        <p:nvSpPr>
          <p:cNvPr id="5" name="Google Shape;2208;p28">
            <a:extLst>
              <a:ext uri="{FF2B5EF4-FFF2-40B4-BE49-F238E27FC236}">
                <a16:creationId xmlns:a16="http://schemas.microsoft.com/office/drawing/2014/main" id="{BCB64D8D-FB21-E46C-C4FD-EDF4FD53CE9D}"/>
              </a:ext>
            </a:extLst>
          </p:cNvPr>
          <p:cNvSpPr txBox="1">
            <a:spLocks/>
          </p:cNvSpPr>
          <p:nvPr/>
        </p:nvSpPr>
        <p:spPr>
          <a:xfrm>
            <a:off x="5968477" y="3583635"/>
            <a:ext cx="2645616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b="1"/>
              <a:t>Discount Pattern:</a:t>
            </a:r>
            <a:r>
              <a:rPr lang="en-US"/>
              <a:t> The most common discount is 20%. Some discounts go up to 80%, which is very aggressive.</a:t>
            </a:r>
          </a:p>
        </p:txBody>
      </p:sp>
    </p:spTree>
    <p:extLst>
      <p:ext uri="{BB962C8B-B14F-4D97-AF65-F5344CB8AC3E}">
        <p14:creationId xmlns:p14="http://schemas.microsoft.com/office/powerpoint/2010/main" val="83834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89F1E01E-3E74-2095-BCEA-1E83FEDB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E5F47E6F-BBAE-4B30-369C-B69B546C1200}"/>
              </a:ext>
            </a:extLst>
          </p:cNvPr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77B53885-467E-82C8-C231-02B59F2FA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Data Quality Issues Found</a:t>
            </a:r>
            <a:endParaRPr sz="1400" b="1">
              <a:solidFill>
                <a:schemeClr val="accent6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8B98DB98-ED47-18CF-4329-C268BCC9F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7756" y="1241187"/>
            <a:ext cx="4196244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>
                <a:solidFill>
                  <a:schemeClr val="accent6"/>
                </a:solidFill>
              </a:rPr>
              <a:t>Outliers and Anomalies</a:t>
            </a:r>
            <a:br>
              <a:rPr lang="en-US">
                <a:solidFill>
                  <a:schemeClr val="accent6"/>
                </a:solidFill>
              </a:rPr>
            </a:br>
            <a:endParaRPr lang="en-GB" b="1">
              <a:solidFill>
                <a:schemeClr val="accent6"/>
              </a:solidFill>
            </a:endParaRPr>
          </a:p>
          <a:p>
            <a:r>
              <a:rPr lang="en-US" b="1"/>
              <a:t>Sales Outliers </a:t>
            </a:r>
          </a:p>
          <a:p>
            <a:pPr marL="139700" indent="0">
              <a:buNone/>
            </a:pPr>
            <a:r>
              <a:rPr lang="en-US" b="1"/>
              <a:t>        </a:t>
            </a:r>
            <a:r>
              <a:rPr lang="en-GB" b="1">
                <a:solidFill>
                  <a:srgbClr val="00B050"/>
                </a:solidFill>
              </a:rPr>
              <a:t>1,167 records</a:t>
            </a:r>
            <a:r>
              <a:rPr lang="en-GB">
                <a:solidFill>
                  <a:srgbClr val="00B050"/>
                </a:solidFill>
              </a:rPr>
              <a:t> </a:t>
            </a:r>
            <a:r>
              <a:rPr lang="en-GB"/>
              <a:t>(11.7%) </a:t>
            </a:r>
            <a:r>
              <a:rPr lang="en-US"/>
              <a:t>have unusually high sales </a:t>
            </a:r>
            <a:endParaRPr lang="en-GB"/>
          </a:p>
          <a:p>
            <a:pPr marL="139700" indent="0">
              <a:buNone/>
            </a:pPr>
            <a:r>
              <a:rPr lang="en-GB"/>
              <a:t>        above $498.93</a:t>
            </a:r>
          </a:p>
          <a:p>
            <a:pPr marL="139700" indent="0">
              <a:buNone/>
            </a:pPr>
            <a:endParaRPr lang="en-GB"/>
          </a:p>
          <a:p>
            <a:r>
              <a:rPr lang="en-US" b="1"/>
              <a:t>Profit Outliers</a:t>
            </a:r>
          </a:p>
          <a:p>
            <a:pPr marL="139700" indent="0">
              <a:buNone/>
            </a:pPr>
            <a:r>
              <a:rPr lang="en-GB" b="1"/>
              <a:t>        </a:t>
            </a:r>
            <a:r>
              <a:rPr lang="en-GB" b="1">
                <a:solidFill>
                  <a:schemeClr val="accent6"/>
                </a:solidFill>
              </a:rPr>
              <a:t>1,881</a:t>
            </a:r>
            <a:r>
              <a:rPr lang="en-GB" b="1"/>
              <a:t> </a:t>
            </a:r>
            <a:r>
              <a:rPr lang="en-GB" b="1">
                <a:solidFill>
                  <a:schemeClr val="accent6"/>
                </a:solidFill>
              </a:rPr>
              <a:t>records</a:t>
            </a:r>
            <a:r>
              <a:rPr lang="en-GB"/>
              <a:t> (18.8%) total outliers:</a:t>
            </a:r>
            <a:br>
              <a:rPr lang="en-GB"/>
            </a:br>
            <a:r>
              <a:rPr lang="en-GB"/>
              <a:t>        604 low outliers (losses below -$39.72)</a:t>
            </a:r>
            <a:br>
              <a:rPr lang="en-GB"/>
            </a:br>
            <a:r>
              <a:rPr lang="en-GB"/>
              <a:t>        1,277 high outliers (profits above $70.82)</a:t>
            </a:r>
          </a:p>
          <a:p>
            <a:pPr marL="139700" indent="0">
              <a:buNone/>
            </a:pPr>
            <a:endParaRPr lang="en-GB"/>
          </a:p>
          <a:p>
            <a:r>
              <a:rPr lang="en-US" b="1"/>
              <a:t>Quantity Anomaly</a:t>
            </a:r>
          </a:p>
          <a:p>
            <a:pPr marL="139700" indent="0">
              <a:buNone/>
            </a:pPr>
            <a:r>
              <a:rPr lang="en-GB"/>
              <a:t>        Minimum value:</a:t>
            </a:r>
            <a:r>
              <a:rPr lang="en-GB" b="1">
                <a:solidFill>
                  <a:schemeClr val="accent6"/>
                </a:solidFill>
              </a:rPr>
              <a:t> -3</a:t>
            </a:r>
            <a:br>
              <a:rPr lang="en-GB"/>
            </a:br>
            <a:r>
              <a:rPr lang="en-GB"/>
              <a:t>        Indicates returns or data entry errors requiring</a:t>
            </a:r>
          </a:p>
          <a:p>
            <a:pPr marL="139700" indent="0">
              <a:buNone/>
            </a:pPr>
            <a:r>
              <a:rPr lang="en-GB"/>
              <a:t>        investigation</a:t>
            </a:r>
          </a:p>
        </p:txBody>
      </p:sp>
      <p:graphicFrame>
        <p:nvGraphicFramePr>
          <p:cNvPr id="2209" name="Google Shape;2209;p28">
            <a:extLst>
              <a:ext uri="{FF2B5EF4-FFF2-40B4-BE49-F238E27FC236}">
                <a16:creationId xmlns:a16="http://schemas.microsoft.com/office/drawing/2014/main" id="{427A88DE-0295-454B-3A3F-3020C77A9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035125"/>
              </p:ext>
            </p:extLst>
          </p:nvPr>
        </p:nvGraphicFramePr>
        <p:xfrm>
          <a:off x="409998" y="1855514"/>
          <a:ext cx="4537758" cy="2519146"/>
        </p:xfrm>
        <a:graphic>
          <a:graphicData uri="http://schemas.openxmlformats.org/drawingml/2006/table">
            <a:tbl>
              <a:tblPr>
                <a:noFill/>
                <a:tableStyleId>{9097B9AB-1872-4A28-808A-46CC7F8F2F22}</a:tableStyleId>
              </a:tblPr>
              <a:tblGrid>
                <a:gridCol w="1105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4948300"/>
                    </a:ext>
                  </a:extLst>
                </a:gridCol>
                <a:gridCol w="1324023">
                  <a:extLst>
                    <a:ext uri="{9D8B030D-6E8A-4147-A177-3AD203B41FA5}">
                      <a16:colId xmlns:a16="http://schemas.microsoft.com/office/drawing/2014/main" val="4099563023"/>
                    </a:ext>
                  </a:extLst>
                </a:gridCol>
              </a:tblGrid>
              <a:tr h="5135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 lang="en-US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Questrial"/>
                        <a:cs typeface="A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Missing</a:t>
                      </a:r>
                      <a:endParaRPr lang="en-US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bel"/>
                          <a:cs typeface="Arial"/>
                          <a:sym typeface="Abel"/>
                        </a:rPr>
                        <a:t>Percent (%)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 lang="en-US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order_date</a:t>
                      </a:r>
                      <a:endParaRPr lang="en-US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Questrial"/>
                        <a:cs typeface="A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2,278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22.79%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Time-series analysis</a:t>
                      </a:r>
                      <a:endParaRPr lang="en-US" sz="14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quantity</a:t>
                      </a:r>
                      <a:endParaRPr lang="en-US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Questrial"/>
                        <a:cs typeface="A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1,257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12.58%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Sales calculations</a:t>
                      </a:r>
                      <a:endParaRPr lang="en-AE" sz="14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review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Questrial"/>
                          <a:cs typeface="Arial"/>
                          <a:sym typeface="Questrial"/>
                        </a:rPr>
                        <a:t> </a:t>
                      </a: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2,380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AE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23.81%</a:t>
                      </a:r>
                      <a:endParaRPr lang="en-AE" sz="140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Sentiment analysis</a:t>
                      </a:r>
                      <a:endParaRPr lang="en-AE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2208;p28">
            <a:extLst>
              <a:ext uri="{FF2B5EF4-FFF2-40B4-BE49-F238E27FC236}">
                <a16:creationId xmlns:a16="http://schemas.microsoft.com/office/drawing/2014/main" id="{D7F653AC-788F-EC12-CA30-FA02402F94F1}"/>
              </a:ext>
            </a:extLst>
          </p:cNvPr>
          <p:cNvSpPr txBox="1">
            <a:spLocks/>
          </p:cNvSpPr>
          <p:nvPr/>
        </p:nvSpPr>
        <p:spPr>
          <a:xfrm>
            <a:off x="936921" y="1328836"/>
            <a:ext cx="3053907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b="1">
                <a:solidFill>
                  <a:schemeClr val="accent6"/>
                </a:solidFill>
              </a:rPr>
              <a:t>Missing Values (Before Cleaning)</a:t>
            </a:r>
            <a:br>
              <a:rPr lang="en-US"/>
            </a:br>
            <a:endParaRPr lang="en-US" b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83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781B4A21-2560-28C6-18EB-9453E504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95DD2C70-04A2-1583-B885-D9AF70C66CDF}"/>
              </a:ext>
            </a:extLst>
          </p:cNvPr>
          <p:cNvSpPr/>
          <p:nvPr/>
        </p:nvSpPr>
        <p:spPr>
          <a:xfrm>
            <a:off x="1801320" y="427674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06192537-E16D-85D5-E495-08A8723B0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95" y="1867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Data Storage &amp; Processing Strategy</a:t>
            </a:r>
            <a:endParaRPr sz="1400" b="1">
              <a:solidFill>
                <a:schemeClr val="accent6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C7F534AA-2877-E150-FBDA-55B28EC56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274" y="759424"/>
            <a:ext cx="5244860" cy="4333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b="1" dirty="0">
                <a:solidFill>
                  <a:schemeClr val="tx2">
                    <a:lumMod val="25000"/>
                  </a:schemeClr>
                </a:solidFill>
              </a:rPr>
              <a:t>Storage Solution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Lakehouse Architecture: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/>
              <a:t>We use a Data Lakehouse. It combines the flexibility of a Data Lake with the structure of a Data Warehouse.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Cloud Storage (S3):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/>
              <a:t>This gives us low-cost, unlimited storage for all our data (structured and unstructured).</a:t>
            </a:r>
          </a:p>
          <a:p>
            <a:endParaRPr lang="en-GB" dirty="0"/>
          </a:p>
          <a:p>
            <a:pPr marL="139700" indent="0">
              <a:buNone/>
            </a:pP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Processing Strategy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Batch Processing: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/>
              <a:t>We process data in large groups (batches) for maximum efficiency.</a:t>
            </a:r>
          </a:p>
          <a:p>
            <a:endParaRPr lang="en-US" dirty="0"/>
          </a:p>
          <a:p>
            <a:pPr marL="139700" indent="0">
              <a:buNone/>
            </a:pP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Optimization Techniques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Partitioning: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/>
              <a:t>We split data by date and region to make queries faster.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Virtualization: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dirty="0"/>
              <a:t>We create a single, unified view of all our data.</a:t>
            </a:r>
          </a:p>
          <a:p>
            <a:pPr marL="139700" indent="0">
              <a:buNone/>
            </a:pPr>
            <a:endParaRPr lang="en-GB" dirty="0"/>
          </a:p>
        </p:txBody>
      </p:sp>
      <p:grpSp>
        <p:nvGrpSpPr>
          <p:cNvPr id="2212" name="Google Shape;2212;p28">
            <a:extLst>
              <a:ext uri="{FF2B5EF4-FFF2-40B4-BE49-F238E27FC236}">
                <a16:creationId xmlns:a16="http://schemas.microsoft.com/office/drawing/2014/main" id="{AC4417A8-B86F-DA21-3137-7E041C13DB4C}"/>
              </a:ext>
            </a:extLst>
          </p:cNvPr>
          <p:cNvGrpSpPr/>
          <p:nvPr/>
        </p:nvGrpSpPr>
        <p:grpSpPr>
          <a:xfrm>
            <a:off x="5776396" y="3856197"/>
            <a:ext cx="579735" cy="1134804"/>
            <a:chOff x="4921825" y="870250"/>
            <a:chExt cx="407925" cy="798550"/>
          </a:xfrm>
        </p:grpSpPr>
        <p:sp>
          <p:nvSpPr>
            <p:cNvPr id="2213" name="Google Shape;2213;p28">
              <a:extLst>
                <a:ext uri="{FF2B5EF4-FFF2-40B4-BE49-F238E27FC236}">
                  <a16:creationId xmlns:a16="http://schemas.microsoft.com/office/drawing/2014/main" id="{1F32B254-5EE3-F8F0-3BA8-47571B37E6FB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>
              <a:extLst>
                <a:ext uri="{FF2B5EF4-FFF2-40B4-BE49-F238E27FC236}">
                  <a16:creationId xmlns:a16="http://schemas.microsoft.com/office/drawing/2014/main" id="{3368DA04-746E-9726-4FB9-2D8E55B36AA9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>
              <a:extLst>
                <a:ext uri="{FF2B5EF4-FFF2-40B4-BE49-F238E27FC236}">
                  <a16:creationId xmlns:a16="http://schemas.microsoft.com/office/drawing/2014/main" id="{FFEB5786-C1ED-78D9-AF88-6B1A704B4B66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>
              <a:extLst>
                <a:ext uri="{FF2B5EF4-FFF2-40B4-BE49-F238E27FC236}">
                  <a16:creationId xmlns:a16="http://schemas.microsoft.com/office/drawing/2014/main" id="{51E1C439-3C9F-1808-1C91-4AF2CEE51F2A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>
              <a:extLst>
                <a:ext uri="{FF2B5EF4-FFF2-40B4-BE49-F238E27FC236}">
                  <a16:creationId xmlns:a16="http://schemas.microsoft.com/office/drawing/2014/main" id="{E61C1FB8-9119-B55D-B87B-BDD8A66BC4A3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>
              <a:extLst>
                <a:ext uri="{FF2B5EF4-FFF2-40B4-BE49-F238E27FC236}">
                  <a16:creationId xmlns:a16="http://schemas.microsoft.com/office/drawing/2014/main" id="{5322E1D5-678C-FB95-B5AC-DA282DD7F26D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>
              <a:extLst>
                <a:ext uri="{FF2B5EF4-FFF2-40B4-BE49-F238E27FC236}">
                  <a16:creationId xmlns:a16="http://schemas.microsoft.com/office/drawing/2014/main" id="{68B1A115-7524-85E6-E72E-D81BD28526F9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>
              <a:extLst>
                <a:ext uri="{FF2B5EF4-FFF2-40B4-BE49-F238E27FC236}">
                  <a16:creationId xmlns:a16="http://schemas.microsoft.com/office/drawing/2014/main" id="{4A1957DC-33D9-AB48-ADBC-6B2451137863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>
              <a:extLst>
                <a:ext uri="{FF2B5EF4-FFF2-40B4-BE49-F238E27FC236}">
                  <a16:creationId xmlns:a16="http://schemas.microsoft.com/office/drawing/2014/main" id="{540F181E-8C6B-5FB5-B1CF-F735B2AAAA97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>
              <a:extLst>
                <a:ext uri="{FF2B5EF4-FFF2-40B4-BE49-F238E27FC236}">
                  <a16:creationId xmlns:a16="http://schemas.microsoft.com/office/drawing/2014/main" id="{8F09C6C6-1FF6-1795-85AD-7DB86D12C1DE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>
              <a:extLst>
                <a:ext uri="{FF2B5EF4-FFF2-40B4-BE49-F238E27FC236}">
                  <a16:creationId xmlns:a16="http://schemas.microsoft.com/office/drawing/2014/main" id="{5AA228D3-CE1D-E5B3-E0CE-504C4C74E8A8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>
              <a:extLst>
                <a:ext uri="{FF2B5EF4-FFF2-40B4-BE49-F238E27FC236}">
                  <a16:creationId xmlns:a16="http://schemas.microsoft.com/office/drawing/2014/main" id="{1B7D9823-854E-28C1-FFAD-AD11E591B9C7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>
              <a:extLst>
                <a:ext uri="{FF2B5EF4-FFF2-40B4-BE49-F238E27FC236}">
                  <a16:creationId xmlns:a16="http://schemas.microsoft.com/office/drawing/2014/main" id="{A1926E29-2962-788C-9DC0-B35ABF69667B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>
              <a:extLst>
                <a:ext uri="{FF2B5EF4-FFF2-40B4-BE49-F238E27FC236}">
                  <a16:creationId xmlns:a16="http://schemas.microsoft.com/office/drawing/2014/main" id="{20E6F66E-F581-40DF-26F3-B8D22341C978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>
              <a:extLst>
                <a:ext uri="{FF2B5EF4-FFF2-40B4-BE49-F238E27FC236}">
                  <a16:creationId xmlns:a16="http://schemas.microsoft.com/office/drawing/2014/main" id="{D51D5106-854A-6817-9A17-1AF5698D8B6C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>
              <a:extLst>
                <a:ext uri="{FF2B5EF4-FFF2-40B4-BE49-F238E27FC236}">
                  <a16:creationId xmlns:a16="http://schemas.microsoft.com/office/drawing/2014/main" id="{8A022896-F88F-8A1E-0010-B70E6CAC85AA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>
              <a:extLst>
                <a:ext uri="{FF2B5EF4-FFF2-40B4-BE49-F238E27FC236}">
                  <a16:creationId xmlns:a16="http://schemas.microsoft.com/office/drawing/2014/main" id="{F695AE03-48A9-BFF9-B7E0-EBD5521DE357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>
              <a:extLst>
                <a:ext uri="{FF2B5EF4-FFF2-40B4-BE49-F238E27FC236}">
                  <a16:creationId xmlns:a16="http://schemas.microsoft.com/office/drawing/2014/main" id="{A94F3D9B-2C35-98F6-E7A2-529479CBC12B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>
              <a:extLst>
                <a:ext uri="{FF2B5EF4-FFF2-40B4-BE49-F238E27FC236}">
                  <a16:creationId xmlns:a16="http://schemas.microsoft.com/office/drawing/2014/main" id="{535B0670-0FEB-4236-A708-A2A5F9E684DF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>
              <a:extLst>
                <a:ext uri="{FF2B5EF4-FFF2-40B4-BE49-F238E27FC236}">
                  <a16:creationId xmlns:a16="http://schemas.microsoft.com/office/drawing/2014/main" id="{228BBBB7-9D78-C6FB-ECC2-DDE56BECC5D5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>
              <a:extLst>
                <a:ext uri="{FF2B5EF4-FFF2-40B4-BE49-F238E27FC236}">
                  <a16:creationId xmlns:a16="http://schemas.microsoft.com/office/drawing/2014/main" id="{24CD0751-2982-A070-FF0D-02FD22D5FBE1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>
              <a:extLst>
                <a:ext uri="{FF2B5EF4-FFF2-40B4-BE49-F238E27FC236}">
                  <a16:creationId xmlns:a16="http://schemas.microsoft.com/office/drawing/2014/main" id="{B97317C0-52BE-1A47-53CC-72DEE98C98AD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>
              <a:extLst>
                <a:ext uri="{FF2B5EF4-FFF2-40B4-BE49-F238E27FC236}">
                  <a16:creationId xmlns:a16="http://schemas.microsoft.com/office/drawing/2014/main" id="{59C60A31-21CB-A80E-BB9E-9D28A13A59DE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>
              <a:extLst>
                <a:ext uri="{FF2B5EF4-FFF2-40B4-BE49-F238E27FC236}">
                  <a16:creationId xmlns:a16="http://schemas.microsoft.com/office/drawing/2014/main" id="{E2D69D93-BD1C-0C8C-9E1B-8E0C726F247D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>
              <a:extLst>
                <a:ext uri="{FF2B5EF4-FFF2-40B4-BE49-F238E27FC236}">
                  <a16:creationId xmlns:a16="http://schemas.microsoft.com/office/drawing/2014/main" id="{DD60D666-D545-CCB6-E5F0-94175273E99A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>
              <a:extLst>
                <a:ext uri="{FF2B5EF4-FFF2-40B4-BE49-F238E27FC236}">
                  <a16:creationId xmlns:a16="http://schemas.microsoft.com/office/drawing/2014/main" id="{A3842728-B20F-E5C4-E408-5130C0C8EB13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>
              <a:extLst>
                <a:ext uri="{FF2B5EF4-FFF2-40B4-BE49-F238E27FC236}">
                  <a16:creationId xmlns:a16="http://schemas.microsoft.com/office/drawing/2014/main" id="{774941FF-60D9-716A-0F8B-5362BD0CC383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>
              <a:extLst>
                <a:ext uri="{FF2B5EF4-FFF2-40B4-BE49-F238E27FC236}">
                  <a16:creationId xmlns:a16="http://schemas.microsoft.com/office/drawing/2014/main" id="{AB782AB9-7816-A0E0-10A4-4B0FDC5681F1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>
              <a:extLst>
                <a:ext uri="{FF2B5EF4-FFF2-40B4-BE49-F238E27FC236}">
                  <a16:creationId xmlns:a16="http://schemas.microsoft.com/office/drawing/2014/main" id="{3ADC602B-5C26-F302-89FD-E7C04BCB9586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>
              <a:extLst>
                <a:ext uri="{FF2B5EF4-FFF2-40B4-BE49-F238E27FC236}">
                  <a16:creationId xmlns:a16="http://schemas.microsoft.com/office/drawing/2014/main" id="{A882B8C5-EE45-1B04-E6A7-DBBD6E44C0DB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AutoShape 2" descr="Big Data Architecture Diagram">
            <a:extLst>
              <a:ext uri="{FF2B5EF4-FFF2-40B4-BE49-F238E27FC236}">
                <a16:creationId xmlns:a16="http://schemas.microsoft.com/office/drawing/2014/main" id="{9A5B8FE6-6F5B-951F-3236-57D6996FA7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2760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50FF0-7BB8-2DD1-DA84-0F2DF70AE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51" y="1728481"/>
            <a:ext cx="4001065" cy="222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7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7F0424C2-5EED-7F88-2E92-1A16AD59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8375178D-68FE-5247-4B80-72529DAB2AA0}"/>
              </a:ext>
            </a:extLst>
          </p:cNvPr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0B38A6C3-3815-105D-2E6B-262E8B2321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GB" b="1"/>
              <a:t>Data Quality Check in </a:t>
            </a:r>
            <a:r>
              <a:rPr lang="en-GB" b="1" err="1"/>
              <a:t>DigiXT</a:t>
            </a:r>
            <a:r>
              <a:rPr lang="en-US" sz="1400" b="1">
                <a:solidFill>
                  <a:schemeClr val="tx1"/>
                </a:solidFill>
                <a:latin typeface="Abel"/>
              </a:rPr>
              <a:t>(</a:t>
            </a:r>
            <a:r>
              <a:rPr lang="en-US" sz="1400" b="1">
                <a:solidFill>
                  <a:schemeClr val="tx1"/>
                </a:solidFill>
                <a:latin typeface="Abel"/>
                <a:sym typeface="Abel"/>
              </a:rPr>
              <a:t>CLO2)</a:t>
            </a: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B5A9970E-F977-0CC4-6619-CD5FE76E6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5504" y="1086112"/>
            <a:ext cx="4528896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>
                <a:solidFill>
                  <a:schemeClr val="tx2">
                    <a:lumMod val="25000"/>
                  </a:schemeClr>
                </a:solidFill>
              </a:rPr>
              <a:t>Task 4: Initial Quality Assessment</a:t>
            </a:r>
          </a:p>
          <a:p>
            <a:r>
              <a:rPr lang="en-US"/>
              <a:t>Ingested raw CSV file into 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DigiXT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platform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/>
              <a:t>for comprehensive data quality evaluation.</a:t>
            </a:r>
          </a:p>
          <a:p>
            <a:pPr marL="139700" indent="0">
              <a:buNone/>
            </a:pPr>
            <a:endParaRPr lang="en-US"/>
          </a:p>
          <a:p>
            <a:r>
              <a:rPr lang="en-US"/>
              <a:t>Implemented 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test suite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/>
              <a:t>based on quality requirements to identify critical issues in the dataset.</a:t>
            </a:r>
          </a:p>
          <a:p>
            <a:endParaRPr lang="en-US"/>
          </a:p>
          <a:p>
            <a:pPr marL="139700" indent="0">
              <a:buNone/>
            </a:pPr>
            <a:r>
              <a:rPr lang="en-US" sz="1800" b="1">
                <a:solidFill>
                  <a:schemeClr val="tx2">
                    <a:lumMod val="25000"/>
                  </a:schemeClr>
                </a:solidFill>
              </a:rPr>
              <a:t>Quality Metrics Checked:</a:t>
            </a:r>
          </a:p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Completeness</a:t>
            </a:r>
            <a:r>
              <a:rPr lang="en-US"/>
              <a:t> - Missing values analysis</a:t>
            </a:r>
          </a:p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Accuracy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/>
              <a:t>- Outliers and anomalies detection</a:t>
            </a:r>
          </a:p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Consistency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/>
              <a:t>- Data types and formats validation</a:t>
            </a:r>
          </a:p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Validity</a:t>
            </a:r>
            <a:r>
              <a:rPr lang="en-US"/>
              <a:t> - Business logic compliance</a:t>
            </a:r>
          </a:p>
        </p:txBody>
      </p:sp>
      <p:grpSp>
        <p:nvGrpSpPr>
          <p:cNvPr id="2212" name="Google Shape;2212;p28">
            <a:extLst>
              <a:ext uri="{FF2B5EF4-FFF2-40B4-BE49-F238E27FC236}">
                <a16:creationId xmlns:a16="http://schemas.microsoft.com/office/drawing/2014/main" id="{4DF14789-B623-51C6-E7ED-6D253661212F}"/>
              </a:ext>
            </a:extLst>
          </p:cNvPr>
          <p:cNvGrpSpPr/>
          <p:nvPr/>
        </p:nvGrpSpPr>
        <p:grpSpPr>
          <a:xfrm>
            <a:off x="3990828" y="4041092"/>
            <a:ext cx="579743" cy="1134819"/>
            <a:chOff x="4921825" y="870250"/>
            <a:chExt cx="407925" cy="798550"/>
          </a:xfrm>
        </p:grpSpPr>
        <p:sp>
          <p:nvSpPr>
            <p:cNvPr id="2213" name="Google Shape;2213;p28">
              <a:extLst>
                <a:ext uri="{FF2B5EF4-FFF2-40B4-BE49-F238E27FC236}">
                  <a16:creationId xmlns:a16="http://schemas.microsoft.com/office/drawing/2014/main" id="{003CCF71-3BBC-428A-000F-BF75908DA697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>
              <a:extLst>
                <a:ext uri="{FF2B5EF4-FFF2-40B4-BE49-F238E27FC236}">
                  <a16:creationId xmlns:a16="http://schemas.microsoft.com/office/drawing/2014/main" id="{D3B225F9-55F7-92C6-ACA0-E4A0B88C9317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>
              <a:extLst>
                <a:ext uri="{FF2B5EF4-FFF2-40B4-BE49-F238E27FC236}">
                  <a16:creationId xmlns:a16="http://schemas.microsoft.com/office/drawing/2014/main" id="{C581FE8F-51AE-5038-50EF-1710CBAD3B0F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>
              <a:extLst>
                <a:ext uri="{FF2B5EF4-FFF2-40B4-BE49-F238E27FC236}">
                  <a16:creationId xmlns:a16="http://schemas.microsoft.com/office/drawing/2014/main" id="{FFCC3525-A074-E257-164A-489C6E36383E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>
              <a:extLst>
                <a:ext uri="{FF2B5EF4-FFF2-40B4-BE49-F238E27FC236}">
                  <a16:creationId xmlns:a16="http://schemas.microsoft.com/office/drawing/2014/main" id="{DB2FCF3A-2253-27E0-7D50-B7E0FCCB4928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>
              <a:extLst>
                <a:ext uri="{FF2B5EF4-FFF2-40B4-BE49-F238E27FC236}">
                  <a16:creationId xmlns:a16="http://schemas.microsoft.com/office/drawing/2014/main" id="{42B6CDD6-F350-2C95-D1F7-8D8AB29C4B68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>
              <a:extLst>
                <a:ext uri="{FF2B5EF4-FFF2-40B4-BE49-F238E27FC236}">
                  <a16:creationId xmlns:a16="http://schemas.microsoft.com/office/drawing/2014/main" id="{66F7E1FD-FC38-735D-727B-512D2255BFC4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>
              <a:extLst>
                <a:ext uri="{FF2B5EF4-FFF2-40B4-BE49-F238E27FC236}">
                  <a16:creationId xmlns:a16="http://schemas.microsoft.com/office/drawing/2014/main" id="{34226DE3-B437-35CE-60DF-7D8D96946EC3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>
              <a:extLst>
                <a:ext uri="{FF2B5EF4-FFF2-40B4-BE49-F238E27FC236}">
                  <a16:creationId xmlns:a16="http://schemas.microsoft.com/office/drawing/2014/main" id="{E65A5129-BBA1-8ED4-741C-A0E33A01FF98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>
              <a:extLst>
                <a:ext uri="{FF2B5EF4-FFF2-40B4-BE49-F238E27FC236}">
                  <a16:creationId xmlns:a16="http://schemas.microsoft.com/office/drawing/2014/main" id="{B07F92BA-15BB-DC59-F25F-43EB93543759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>
              <a:extLst>
                <a:ext uri="{FF2B5EF4-FFF2-40B4-BE49-F238E27FC236}">
                  <a16:creationId xmlns:a16="http://schemas.microsoft.com/office/drawing/2014/main" id="{596F023A-65DD-183E-1DDF-9BA87F04085F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>
              <a:extLst>
                <a:ext uri="{FF2B5EF4-FFF2-40B4-BE49-F238E27FC236}">
                  <a16:creationId xmlns:a16="http://schemas.microsoft.com/office/drawing/2014/main" id="{B52A3B61-2E1B-046B-632F-827F153CAB17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>
              <a:extLst>
                <a:ext uri="{FF2B5EF4-FFF2-40B4-BE49-F238E27FC236}">
                  <a16:creationId xmlns:a16="http://schemas.microsoft.com/office/drawing/2014/main" id="{FA8AA390-9718-3967-4141-E7A2BB6D472D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>
              <a:extLst>
                <a:ext uri="{FF2B5EF4-FFF2-40B4-BE49-F238E27FC236}">
                  <a16:creationId xmlns:a16="http://schemas.microsoft.com/office/drawing/2014/main" id="{8AF73307-D30A-2BDD-4BFF-5BE5268F82CE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>
              <a:extLst>
                <a:ext uri="{FF2B5EF4-FFF2-40B4-BE49-F238E27FC236}">
                  <a16:creationId xmlns:a16="http://schemas.microsoft.com/office/drawing/2014/main" id="{81ED45B5-9D25-F13D-7843-DD3E67F7340D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>
              <a:extLst>
                <a:ext uri="{FF2B5EF4-FFF2-40B4-BE49-F238E27FC236}">
                  <a16:creationId xmlns:a16="http://schemas.microsoft.com/office/drawing/2014/main" id="{6B35926E-EFBA-A1A1-96E3-9A532EDD0FC0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>
              <a:extLst>
                <a:ext uri="{FF2B5EF4-FFF2-40B4-BE49-F238E27FC236}">
                  <a16:creationId xmlns:a16="http://schemas.microsoft.com/office/drawing/2014/main" id="{9F66DA39-B9DF-8E33-39B5-40076E6CADDA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>
              <a:extLst>
                <a:ext uri="{FF2B5EF4-FFF2-40B4-BE49-F238E27FC236}">
                  <a16:creationId xmlns:a16="http://schemas.microsoft.com/office/drawing/2014/main" id="{32F57BAF-224E-AD23-5D30-C7D9797269D9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>
              <a:extLst>
                <a:ext uri="{FF2B5EF4-FFF2-40B4-BE49-F238E27FC236}">
                  <a16:creationId xmlns:a16="http://schemas.microsoft.com/office/drawing/2014/main" id="{83175986-E785-4AF2-F108-085EC7B702BE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>
              <a:extLst>
                <a:ext uri="{FF2B5EF4-FFF2-40B4-BE49-F238E27FC236}">
                  <a16:creationId xmlns:a16="http://schemas.microsoft.com/office/drawing/2014/main" id="{DA5A2AAC-9D3C-FE1D-C125-C44E316B693D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>
              <a:extLst>
                <a:ext uri="{FF2B5EF4-FFF2-40B4-BE49-F238E27FC236}">
                  <a16:creationId xmlns:a16="http://schemas.microsoft.com/office/drawing/2014/main" id="{7ADEC879-0328-890F-7350-2F89587DF110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>
              <a:extLst>
                <a:ext uri="{FF2B5EF4-FFF2-40B4-BE49-F238E27FC236}">
                  <a16:creationId xmlns:a16="http://schemas.microsoft.com/office/drawing/2014/main" id="{4FB94CED-6B66-02DD-A98E-8760119A5C4B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>
              <a:extLst>
                <a:ext uri="{FF2B5EF4-FFF2-40B4-BE49-F238E27FC236}">
                  <a16:creationId xmlns:a16="http://schemas.microsoft.com/office/drawing/2014/main" id="{9C9548D4-BC53-9C90-9E39-511D5BF0C1B2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>
              <a:extLst>
                <a:ext uri="{FF2B5EF4-FFF2-40B4-BE49-F238E27FC236}">
                  <a16:creationId xmlns:a16="http://schemas.microsoft.com/office/drawing/2014/main" id="{EECD4173-C06B-8BC5-C7E3-DD403695D4FC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>
              <a:extLst>
                <a:ext uri="{FF2B5EF4-FFF2-40B4-BE49-F238E27FC236}">
                  <a16:creationId xmlns:a16="http://schemas.microsoft.com/office/drawing/2014/main" id="{7D997B13-1459-70A7-9A2A-62AE3243DD9F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>
              <a:extLst>
                <a:ext uri="{FF2B5EF4-FFF2-40B4-BE49-F238E27FC236}">
                  <a16:creationId xmlns:a16="http://schemas.microsoft.com/office/drawing/2014/main" id="{2ADDE16D-D2BE-E174-54E0-CC126F66C5AE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>
              <a:extLst>
                <a:ext uri="{FF2B5EF4-FFF2-40B4-BE49-F238E27FC236}">
                  <a16:creationId xmlns:a16="http://schemas.microsoft.com/office/drawing/2014/main" id="{8F812409-D81D-9471-EE5B-AECC15B10270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>
              <a:extLst>
                <a:ext uri="{FF2B5EF4-FFF2-40B4-BE49-F238E27FC236}">
                  <a16:creationId xmlns:a16="http://schemas.microsoft.com/office/drawing/2014/main" id="{F17FBF0C-7B3C-4D51-670B-6DBB2D047746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>
              <a:extLst>
                <a:ext uri="{FF2B5EF4-FFF2-40B4-BE49-F238E27FC236}">
                  <a16:creationId xmlns:a16="http://schemas.microsoft.com/office/drawing/2014/main" id="{FAB3C2AD-3044-2CE2-4D0A-E2A6407C1231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>
              <a:extLst>
                <a:ext uri="{FF2B5EF4-FFF2-40B4-BE49-F238E27FC236}">
                  <a16:creationId xmlns:a16="http://schemas.microsoft.com/office/drawing/2014/main" id="{D93EE045-4CD7-CE8A-694C-9C4CA79614C5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AutoShape 2" descr="Big Data Architecture Diagram">
            <a:extLst>
              <a:ext uri="{FF2B5EF4-FFF2-40B4-BE49-F238E27FC236}">
                <a16:creationId xmlns:a16="http://schemas.microsoft.com/office/drawing/2014/main" id="{C0B73399-EFCC-3A7E-BF00-B48E31874F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8" name="Google Shape;2208;p28">
            <a:extLst>
              <a:ext uri="{FF2B5EF4-FFF2-40B4-BE49-F238E27FC236}">
                <a16:creationId xmlns:a16="http://schemas.microsoft.com/office/drawing/2014/main" id="{527C60BC-F62B-306A-6058-5B9A407CDBFE}"/>
              </a:ext>
            </a:extLst>
          </p:cNvPr>
          <p:cNvSpPr txBox="1">
            <a:spLocks/>
          </p:cNvSpPr>
          <p:nvPr/>
        </p:nvSpPr>
        <p:spPr>
          <a:xfrm>
            <a:off x="4537564" y="1130402"/>
            <a:ext cx="4528896" cy="1593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2AF84B-1915-9D17-E849-85C363F5F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976" y="3658287"/>
            <a:ext cx="2778358" cy="1367625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A8CF27-1EC4-C47B-649B-F514C0E9D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976" y="975822"/>
            <a:ext cx="2778358" cy="1246168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91C31-0292-D471-0CA3-DE30E1C19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976" y="2334667"/>
            <a:ext cx="2778358" cy="120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4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9250531D-2D8B-ADA8-49F9-139A0612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22827F00-105B-FC21-0B80-C6DA80019846}"/>
              </a:ext>
            </a:extLst>
          </p:cNvPr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03801CD2-EC18-6CAC-0770-92F450949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b="1"/>
              <a:t>Data Preprocessing &amp; Cleaning </a:t>
            </a:r>
            <a:r>
              <a:rPr lang="en-US" sz="1400" b="1">
                <a:solidFill>
                  <a:schemeClr val="accent6"/>
                </a:solidFill>
                <a:latin typeface="Abel"/>
              </a:rPr>
              <a:t>(</a:t>
            </a:r>
            <a:r>
              <a:rPr lang="en-US" sz="1400" b="1">
                <a:solidFill>
                  <a:schemeClr val="accent6"/>
                </a:solidFill>
                <a:latin typeface="Abel"/>
                <a:sym typeface="Abel"/>
              </a:rPr>
              <a:t>CLO2)</a:t>
            </a:r>
            <a:endParaRPr sz="1400" b="1">
              <a:solidFill>
                <a:schemeClr val="accent6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50F17F63-7618-4567-2A04-CB0C4BF04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5504" y="1086112"/>
            <a:ext cx="4528896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sz="1800" b="1">
                <a:solidFill>
                  <a:schemeClr val="tx2">
                    <a:lumMod val="25000"/>
                  </a:schemeClr>
                </a:solidFill>
              </a:rPr>
              <a:t>Task 5: Cleaning Strategy</a:t>
            </a:r>
          </a:p>
          <a:p>
            <a:pPr marL="139700" indent="0">
              <a:buNone/>
            </a:pPr>
            <a:r>
              <a:rPr lang="en-GB" sz="1600" b="1">
                <a:solidFill>
                  <a:schemeClr val="tx2">
                    <a:lumMod val="25000"/>
                  </a:schemeClr>
                </a:solidFill>
              </a:rPr>
              <a:t>Handle Missing Values</a:t>
            </a:r>
          </a:p>
          <a:p>
            <a:r>
              <a:rPr lang="en-GB"/>
              <a:t> </a:t>
            </a:r>
            <a:r>
              <a:rPr lang="en-GB" b="1" err="1">
                <a:solidFill>
                  <a:schemeClr val="tx1"/>
                </a:solidFill>
              </a:rPr>
              <a:t>order_date</a:t>
            </a:r>
            <a:r>
              <a:rPr lang="en-GB" b="1">
                <a:solidFill>
                  <a:schemeClr val="tx1"/>
                </a:solidFill>
              </a:rPr>
              <a:t>: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Impute with median or remove records</a:t>
            </a:r>
          </a:p>
          <a:p>
            <a:r>
              <a:rPr lang="en-GB"/>
              <a:t> </a:t>
            </a:r>
            <a:r>
              <a:rPr lang="en-GB" b="1">
                <a:solidFill>
                  <a:schemeClr val="tx1"/>
                </a:solidFill>
              </a:rPr>
              <a:t>quantity: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Remove records with missing values</a:t>
            </a:r>
          </a:p>
          <a:p>
            <a:r>
              <a:rPr lang="en-GB"/>
              <a:t> </a:t>
            </a:r>
            <a:r>
              <a:rPr lang="en-GB" b="1">
                <a:solidFill>
                  <a:schemeClr val="tx1"/>
                </a:solidFill>
              </a:rPr>
              <a:t>review: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Keep as-is for sentiment analysis subset</a:t>
            </a:r>
          </a:p>
          <a:p>
            <a:pPr marL="139700" indent="0">
              <a:buNone/>
            </a:pPr>
            <a:endParaRPr lang="en-GB" b="1"/>
          </a:p>
          <a:p>
            <a:pPr marL="139700" indent="0">
              <a:buNone/>
            </a:pPr>
            <a:r>
              <a:rPr lang="en-GB" sz="1600" b="1">
                <a:solidFill>
                  <a:schemeClr val="tx2">
                    <a:lumMod val="25000"/>
                  </a:schemeClr>
                </a:solidFill>
              </a:rPr>
              <a:t>Fix Anomalies</a:t>
            </a:r>
          </a:p>
          <a:p>
            <a:r>
              <a:rPr lang="en-GB"/>
              <a:t> </a:t>
            </a:r>
            <a:r>
              <a:rPr lang="en-GB" b="1">
                <a:solidFill>
                  <a:schemeClr val="tx1"/>
                </a:solidFill>
              </a:rPr>
              <a:t>Negative quantity: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Treat as returns or remove</a:t>
            </a:r>
          </a:p>
          <a:p>
            <a:r>
              <a:rPr lang="en-GB"/>
              <a:t> </a:t>
            </a:r>
            <a:r>
              <a:rPr lang="en-GB" b="1">
                <a:solidFill>
                  <a:schemeClr val="tx1"/>
                </a:solidFill>
              </a:rPr>
              <a:t>Extreme outliers: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Keep (valid high-value transactions)</a:t>
            </a:r>
          </a:p>
          <a:p>
            <a:pPr marL="139700" indent="0">
              <a:buNone/>
            </a:pPr>
            <a:endParaRPr lang="en-GB" b="1"/>
          </a:p>
          <a:p>
            <a:pPr marL="139700" indent="0">
              <a:buNone/>
            </a:pPr>
            <a:r>
              <a:rPr lang="en-GB" sz="1600" b="1">
                <a:solidFill>
                  <a:schemeClr val="tx2">
                    <a:lumMod val="25000"/>
                  </a:schemeClr>
                </a:solidFill>
              </a:rPr>
              <a:t>Data Validation</a:t>
            </a:r>
          </a:p>
          <a:p>
            <a:r>
              <a:rPr lang="en-GB"/>
              <a:t> Ensure all values are within </a:t>
            </a:r>
            <a:r>
              <a:rPr lang="en-GB" b="1">
                <a:solidFill>
                  <a:schemeClr val="tx1"/>
                </a:solidFill>
              </a:rPr>
              <a:t>valid ranges</a:t>
            </a:r>
          </a:p>
          <a:p>
            <a:r>
              <a:rPr lang="en-GB"/>
              <a:t> Check </a:t>
            </a:r>
            <a:r>
              <a:rPr lang="en-GB" b="1">
                <a:solidFill>
                  <a:schemeClr val="tx1"/>
                </a:solidFill>
              </a:rPr>
              <a:t>data type </a:t>
            </a:r>
            <a:r>
              <a:rPr lang="en-GB"/>
              <a:t>consistency</a:t>
            </a:r>
          </a:p>
          <a:p>
            <a:r>
              <a:rPr lang="en-GB"/>
              <a:t> Verify </a:t>
            </a:r>
            <a:r>
              <a:rPr lang="en-GB" b="1">
                <a:solidFill>
                  <a:schemeClr val="tx1"/>
                </a:solidFill>
              </a:rPr>
              <a:t>business logic </a:t>
            </a:r>
            <a:r>
              <a:rPr lang="en-GB"/>
              <a:t>compliance</a:t>
            </a:r>
          </a:p>
        </p:txBody>
      </p:sp>
      <p:grpSp>
        <p:nvGrpSpPr>
          <p:cNvPr id="2212" name="Google Shape;2212;p28">
            <a:extLst>
              <a:ext uri="{FF2B5EF4-FFF2-40B4-BE49-F238E27FC236}">
                <a16:creationId xmlns:a16="http://schemas.microsoft.com/office/drawing/2014/main" id="{485858F7-6D1F-7D84-7D0A-FA8709705D60}"/>
              </a:ext>
            </a:extLst>
          </p:cNvPr>
          <p:cNvGrpSpPr/>
          <p:nvPr/>
        </p:nvGrpSpPr>
        <p:grpSpPr>
          <a:xfrm>
            <a:off x="3990828" y="4041092"/>
            <a:ext cx="579743" cy="1134819"/>
            <a:chOff x="4921825" y="870250"/>
            <a:chExt cx="407925" cy="798550"/>
          </a:xfrm>
        </p:grpSpPr>
        <p:sp>
          <p:nvSpPr>
            <p:cNvPr id="2213" name="Google Shape;2213;p28">
              <a:extLst>
                <a:ext uri="{FF2B5EF4-FFF2-40B4-BE49-F238E27FC236}">
                  <a16:creationId xmlns:a16="http://schemas.microsoft.com/office/drawing/2014/main" id="{12968275-5850-C35B-59AD-2487CDAE78CB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>
              <a:extLst>
                <a:ext uri="{FF2B5EF4-FFF2-40B4-BE49-F238E27FC236}">
                  <a16:creationId xmlns:a16="http://schemas.microsoft.com/office/drawing/2014/main" id="{98D03E52-5FB2-69A8-1E74-6D1812E3F0F1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>
              <a:extLst>
                <a:ext uri="{FF2B5EF4-FFF2-40B4-BE49-F238E27FC236}">
                  <a16:creationId xmlns:a16="http://schemas.microsoft.com/office/drawing/2014/main" id="{937E918B-FC4A-6E0A-96E4-AEC0FC31EBE0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>
              <a:extLst>
                <a:ext uri="{FF2B5EF4-FFF2-40B4-BE49-F238E27FC236}">
                  <a16:creationId xmlns:a16="http://schemas.microsoft.com/office/drawing/2014/main" id="{DB098A8C-232B-A50F-9782-6CC655518BCC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>
              <a:extLst>
                <a:ext uri="{FF2B5EF4-FFF2-40B4-BE49-F238E27FC236}">
                  <a16:creationId xmlns:a16="http://schemas.microsoft.com/office/drawing/2014/main" id="{98820241-94D4-E9D8-17CC-0BDF3A59A106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>
              <a:extLst>
                <a:ext uri="{FF2B5EF4-FFF2-40B4-BE49-F238E27FC236}">
                  <a16:creationId xmlns:a16="http://schemas.microsoft.com/office/drawing/2014/main" id="{92DBCF6E-D944-AC06-7934-B7BCCDC548A0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>
              <a:extLst>
                <a:ext uri="{FF2B5EF4-FFF2-40B4-BE49-F238E27FC236}">
                  <a16:creationId xmlns:a16="http://schemas.microsoft.com/office/drawing/2014/main" id="{2200DB10-56C7-717A-D949-D557CCE8043E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>
              <a:extLst>
                <a:ext uri="{FF2B5EF4-FFF2-40B4-BE49-F238E27FC236}">
                  <a16:creationId xmlns:a16="http://schemas.microsoft.com/office/drawing/2014/main" id="{5227C80D-6A7D-ECAA-041F-3CC950B8381D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>
              <a:extLst>
                <a:ext uri="{FF2B5EF4-FFF2-40B4-BE49-F238E27FC236}">
                  <a16:creationId xmlns:a16="http://schemas.microsoft.com/office/drawing/2014/main" id="{60011BA8-4CEF-1DF7-5B75-9EED502F55E0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>
              <a:extLst>
                <a:ext uri="{FF2B5EF4-FFF2-40B4-BE49-F238E27FC236}">
                  <a16:creationId xmlns:a16="http://schemas.microsoft.com/office/drawing/2014/main" id="{548E96DC-DA37-4A45-9153-1B8A89E2ACC9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>
              <a:extLst>
                <a:ext uri="{FF2B5EF4-FFF2-40B4-BE49-F238E27FC236}">
                  <a16:creationId xmlns:a16="http://schemas.microsoft.com/office/drawing/2014/main" id="{AAA8DC65-3FDB-057B-1999-7C3C0A4E0555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>
              <a:extLst>
                <a:ext uri="{FF2B5EF4-FFF2-40B4-BE49-F238E27FC236}">
                  <a16:creationId xmlns:a16="http://schemas.microsoft.com/office/drawing/2014/main" id="{81D22764-803C-0997-3384-E106AC3D1E26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>
              <a:extLst>
                <a:ext uri="{FF2B5EF4-FFF2-40B4-BE49-F238E27FC236}">
                  <a16:creationId xmlns:a16="http://schemas.microsoft.com/office/drawing/2014/main" id="{1EA8F6B6-D1E9-EF3B-75F0-734F9C2F669F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>
              <a:extLst>
                <a:ext uri="{FF2B5EF4-FFF2-40B4-BE49-F238E27FC236}">
                  <a16:creationId xmlns:a16="http://schemas.microsoft.com/office/drawing/2014/main" id="{B0E860E5-BC67-A962-F0F1-7BE3CE582297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>
              <a:extLst>
                <a:ext uri="{FF2B5EF4-FFF2-40B4-BE49-F238E27FC236}">
                  <a16:creationId xmlns:a16="http://schemas.microsoft.com/office/drawing/2014/main" id="{7825E23D-2360-9C15-8FAB-A7BF1B1CD71F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>
              <a:extLst>
                <a:ext uri="{FF2B5EF4-FFF2-40B4-BE49-F238E27FC236}">
                  <a16:creationId xmlns:a16="http://schemas.microsoft.com/office/drawing/2014/main" id="{A2447EBC-D28E-999B-70EC-35A41C95F85E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>
              <a:extLst>
                <a:ext uri="{FF2B5EF4-FFF2-40B4-BE49-F238E27FC236}">
                  <a16:creationId xmlns:a16="http://schemas.microsoft.com/office/drawing/2014/main" id="{79BA0C7A-8013-1983-C5CD-37DE0AC3D246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>
              <a:extLst>
                <a:ext uri="{FF2B5EF4-FFF2-40B4-BE49-F238E27FC236}">
                  <a16:creationId xmlns:a16="http://schemas.microsoft.com/office/drawing/2014/main" id="{EA956BEF-1003-5690-E036-92017EE1E771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>
              <a:extLst>
                <a:ext uri="{FF2B5EF4-FFF2-40B4-BE49-F238E27FC236}">
                  <a16:creationId xmlns:a16="http://schemas.microsoft.com/office/drawing/2014/main" id="{B0271977-0531-3E61-4E85-F106797DCA9C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>
              <a:extLst>
                <a:ext uri="{FF2B5EF4-FFF2-40B4-BE49-F238E27FC236}">
                  <a16:creationId xmlns:a16="http://schemas.microsoft.com/office/drawing/2014/main" id="{0C8268BB-2038-08B9-9147-F699913055AA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>
              <a:extLst>
                <a:ext uri="{FF2B5EF4-FFF2-40B4-BE49-F238E27FC236}">
                  <a16:creationId xmlns:a16="http://schemas.microsoft.com/office/drawing/2014/main" id="{98800490-56DA-392E-053B-4246BD004638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>
              <a:extLst>
                <a:ext uri="{FF2B5EF4-FFF2-40B4-BE49-F238E27FC236}">
                  <a16:creationId xmlns:a16="http://schemas.microsoft.com/office/drawing/2014/main" id="{445F27C1-34A7-B7D8-9E0D-725D39589EF0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>
              <a:extLst>
                <a:ext uri="{FF2B5EF4-FFF2-40B4-BE49-F238E27FC236}">
                  <a16:creationId xmlns:a16="http://schemas.microsoft.com/office/drawing/2014/main" id="{10F16632-5743-0E44-4541-8A7686C90B74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>
              <a:extLst>
                <a:ext uri="{FF2B5EF4-FFF2-40B4-BE49-F238E27FC236}">
                  <a16:creationId xmlns:a16="http://schemas.microsoft.com/office/drawing/2014/main" id="{5C2E99EB-106A-CD30-99B2-C0FD66A64782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>
              <a:extLst>
                <a:ext uri="{FF2B5EF4-FFF2-40B4-BE49-F238E27FC236}">
                  <a16:creationId xmlns:a16="http://schemas.microsoft.com/office/drawing/2014/main" id="{2CB01452-2B19-EED8-DEEA-25FC13A977F5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>
              <a:extLst>
                <a:ext uri="{FF2B5EF4-FFF2-40B4-BE49-F238E27FC236}">
                  <a16:creationId xmlns:a16="http://schemas.microsoft.com/office/drawing/2014/main" id="{84A4AE9E-DC84-0B20-90CA-8C1D95C90A31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>
              <a:extLst>
                <a:ext uri="{FF2B5EF4-FFF2-40B4-BE49-F238E27FC236}">
                  <a16:creationId xmlns:a16="http://schemas.microsoft.com/office/drawing/2014/main" id="{39968495-E465-8EE2-AA66-C8BF9B4DE5DE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>
              <a:extLst>
                <a:ext uri="{FF2B5EF4-FFF2-40B4-BE49-F238E27FC236}">
                  <a16:creationId xmlns:a16="http://schemas.microsoft.com/office/drawing/2014/main" id="{626C64FB-4019-B30E-E6A7-B54E3FA8460F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>
              <a:extLst>
                <a:ext uri="{FF2B5EF4-FFF2-40B4-BE49-F238E27FC236}">
                  <a16:creationId xmlns:a16="http://schemas.microsoft.com/office/drawing/2014/main" id="{BC377977-4310-9CDA-46F3-1BCC921EEB3D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>
              <a:extLst>
                <a:ext uri="{FF2B5EF4-FFF2-40B4-BE49-F238E27FC236}">
                  <a16:creationId xmlns:a16="http://schemas.microsoft.com/office/drawing/2014/main" id="{16982FCB-AE10-36AD-C877-454EA18671C1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AutoShape 2" descr="Big Data Architecture Diagram">
            <a:extLst>
              <a:ext uri="{FF2B5EF4-FFF2-40B4-BE49-F238E27FC236}">
                <a16:creationId xmlns:a16="http://schemas.microsoft.com/office/drawing/2014/main" id="{7108C043-3BFC-BCAB-D9CE-A3248186C9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954CD-AB43-7DA9-087E-6D21E58C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611" y="2869045"/>
            <a:ext cx="3471000" cy="1525794"/>
          </a:xfrm>
          <a:prstGeom prst="rect">
            <a:avLst/>
          </a:prstGeom>
        </p:spPr>
      </p:pic>
      <p:sp>
        <p:nvSpPr>
          <p:cNvPr id="8" name="Google Shape;2208;p28">
            <a:extLst>
              <a:ext uri="{FF2B5EF4-FFF2-40B4-BE49-F238E27FC236}">
                <a16:creationId xmlns:a16="http://schemas.microsoft.com/office/drawing/2014/main" id="{4394BCFD-8E89-6980-B305-0198E8C45815}"/>
              </a:ext>
            </a:extLst>
          </p:cNvPr>
          <p:cNvSpPr txBox="1">
            <a:spLocks/>
          </p:cNvSpPr>
          <p:nvPr/>
        </p:nvSpPr>
        <p:spPr>
          <a:xfrm>
            <a:off x="4537564" y="1130402"/>
            <a:ext cx="4528896" cy="1593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r>
              <a:rPr lang="en-US" sz="1800" b="1">
                <a:solidFill>
                  <a:schemeClr val="tx2">
                    <a:lumMod val="25000"/>
                  </a:schemeClr>
                </a:solidFill>
              </a:rPr>
              <a:t>Task 6: Re-validation</a:t>
            </a:r>
          </a:p>
          <a:p>
            <a:r>
              <a:rPr lang="en-GB"/>
              <a:t> Ran quality checks again </a:t>
            </a:r>
            <a:r>
              <a:rPr lang="en-GB" b="1">
                <a:solidFill>
                  <a:schemeClr val="tx1"/>
                </a:solidFill>
              </a:rPr>
              <a:t>after cleaning</a:t>
            </a:r>
          </a:p>
          <a:p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 b="1">
                <a:solidFill>
                  <a:schemeClr val="tx1"/>
                </a:solidFill>
              </a:rPr>
              <a:t>Confirmed improvement </a:t>
            </a:r>
            <a:r>
              <a:rPr lang="en-GB"/>
              <a:t>in data quality metrics</a:t>
            </a:r>
          </a:p>
          <a:p>
            <a:r>
              <a:rPr lang="en-GB"/>
              <a:t> </a:t>
            </a:r>
            <a:r>
              <a:rPr lang="en-GB" b="1">
                <a:solidFill>
                  <a:schemeClr val="tx1"/>
                </a:solidFill>
              </a:rPr>
              <a:t>Reduced missing </a:t>
            </a:r>
            <a:r>
              <a:rPr lang="en-GB"/>
              <a:t>values significantly</a:t>
            </a:r>
          </a:p>
          <a:p>
            <a:r>
              <a:rPr lang="en-GB"/>
              <a:t> Dataset now </a:t>
            </a:r>
            <a:r>
              <a:rPr lang="en-GB" b="1">
                <a:solidFill>
                  <a:schemeClr val="tx1"/>
                </a:solidFill>
              </a:rPr>
              <a:t>ready</a:t>
            </a:r>
            <a:r>
              <a:rPr lang="en-GB"/>
              <a:t> for analysis</a:t>
            </a:r>
          </a:p>
          <a:p>
            <a:pPr marL="139700" indent="0">
              <a:buNone/>
            </a:pPr>
            <a:br>
              <a:rPr lang="en-US" sz="1800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75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067A-D89E-06D2-05CB-02460D53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764ED28-113F-3448-E877-FA548DA73288}"/>
              </a:ext>
            </a:extLst>
          </p:cNvPr>
          <p:cNvSpPr/>
          <p:nvPr/>
        </p:nvSpPr>
        <p:spPr>
          <a:xfrm>
            <a:off x="2366735" y="91267"/>
            <a:ext cx="5028621" cy="305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12" b="1">
                <a:solidFill>
                  <a:srgbClr val="1A5490"/>
                </a:solidFill>
              </a:rPr>
              <a:t>Exploratory Data Analysis - Simple Queries</a:t>
            </a:r>
            <a:endParaRPr lang="en-US" sz="191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034957-98EF-D434-390D-C697F2E51BC7}"/>
              </a:ext>
            </a:extLst>
          </p:cNvPr>
          <p:cNvSpPr/>
          <p:nvPr/>
        </p:nvSpPr>
        <p:spPr>
          <a:xfrm>
            <a:off x="3745393" y="404124"/>
            <a:ext cx="8001000" cy="214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>
                <a:solidFill>
                  <a:srgbClr val="1A5490"/>
                </a:solidFill>
              </a:rPr>
              <a:t>Task 7: EDA with Trino SQL</a:t>
            </a:r>
            <a:endParaRPr lang="en-US" sz="109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0071011-0180-BD73-086C-B76A8CC8494A}"/>
              </a:ext>
            </a:extLst>
          </p:cNvPr>
          <p:cNvSpPr/>
          <p:nvPr/>
        </p:nvSpPr>
        <p:spPr>
          <a:xfrm>
            <a:off x="597562" y="736634"/>
            <a:ext cx="117179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>
                <a:solidFill>
                  <a:schemeClr val="tx1"/>
                </a:solidFill>
              </a:rPr>
              <a:t>a) Simple Query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BA5BB0A-2AC9-D603-BBFF-454E20CA9DAD}"/>
              </a:ext>
            </a:extLst>
          </p:cNvPr>
          <p:cNvSpPr/>
          <p:nvPr/>
        </p:nvSpPr>
        <p:spPr>
          <a:xfrm>
            <a:off x="620431" y="973573"/>
            <a:ext cx="3911203" cy="77679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37458F7-1565-8256-4878-C0D2FAE25B61}"/>
              </a:ext>
            </a:extLst>
          </p:cNvPr>
          <p:cNvSpPr/>
          <p:nvPr/>
        </p:nvSpPr>
        <p:spPr>
          <a:xfrm>
            <a:off x="592824" y="967233"/>
            <a:ext cx="45719" cy="776795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B3067C2-0192-B613-A8DF-3D4B6C99CBE3}"/>
              </a:ext>
            </a:extLst>
          </p:cNvPr>
          <p:cNvSpPr/>
          <p:nvPr/>
        </p:nvSpPr>
        <p:spPr>
          <a:xfrm>
            <a:off x="530538" y="845054"/>
            <a:ext cx="3778136" cy="911019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r>
              <a:rPr lang="en-US" sz="1050">
                <a:solidFill>
                  <a:srgbClr val="2C3E50"/>
                </a:solidFill>
              </a:rPr>
              <a:t>-- </a:t>
            </a:r>
            <a:r>
              <a:rPr lang="en-GB" sz="1050">
                <a:solidFill>
                  <a:srgbClr val="2C3E50"/>
                </a:solidFill>
              </a:rPr>
              <a:t>Previewing the core columns for our profitability analysis.</a:t>
            </a:r>
          </a:p>
          <a:p>
            <a:r>
              <a:rPr lang="en-GB" sz="1050">
                <a:solidFill>
                  <a:srgbClr val="2C3E50"/>
                </a:solidFill>
              </a:rPr>
              <a:t>SELECT </a:t>
            </a:r>
            <a:r>
              <a:rPr lang="en-GB" sz="1050" err="1">
                <a:solidFill>
                  <a:srgbClr val="2C3E50"/>
                </a:solidFill>
              </a:rPr>
              <a:t>order_id</a:t>
            </a:r>
            <a:r>
              <a:rPr lang="en-GB" sz="1050">
                <a:solidFill>
                  <a:srgbClr val="2C3E50"/>
                </a:solidFill>
              </a:rPr>
              <a:t>, </a:t>
            </a:r>
            <a:r>
              <a:rPr lang="en-GB" sz="1050" err="1">
                <a:solidFill>
                  <a:srgbClr val="2C3E50"/>
                </a:solidFill>
              </a:rPr>
              <a:t>product_name</a:t>
            </a:r>
            <a:r>
              <a:rPr lang="en-GB" sz="1050">
                <a:solidFill>
                  <a:srgbClr val="2C3E50"/>
                </a:solidFill>
              </a:rPr>
              <a:t>, sales, discount, profit</a:t>
            </a:r>
          </a:p>
          <a:p>
            <a:r>
              <a:rPr lang="en-GB" sz="1050">
                <a:solidFill>
                  <a:srgbClr val="2C3E50"/>
                </a:solidFill>
              </a:rPr>
              <a:t>FROM </a:t>
            </a:r>
            <a:r>
              <a:rPr lang="en-GB" sz="1050" err="1">
                <a:solidFill>
                  <a:srgbClr val="2C3E50"/>
                </a:solidFill>
              </a:rPr>
              <a:t>maryam_alali_workspace.megamartt_sales</a:t>
            </a:r>
            <a:endParaRPr lang="en-GB" sz="1050">
              <a:solidFill>
                <a:srgbClr val="2C3E50"/>
              </a:solidFill>
            </a:endParaRPr>
          </a:p>
          <a:p>
            <a:r>
              <a:rPr lang="en-GB" sz="1050">
                <a:solidFill>
                  <a:srgbClr val="2C3E50"/>
                </a:solidFill>
              </a:rPr>
              <a:t>LIMIT 10;</a:t>
            </a:r>
            <a:endParaRPr lang="en-AE" sz="1050">
              <a:solidFill>
                <a:srgbClr val="2C3E50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C62BC4D-6E90-EC5B-87BA-0B3C4AE8936A}"/>
              </a:ext>
            </a:extLst>
          </p:cNvPr>
          <p:cNvSpPr/>
          <p:nvPr/>
        </p:nvSpPr>
        <p:spPr>
          <a:xfrm>
            <a:off x="575199" y="2981355"/>
            <a:ext cx="136896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>
                <a:solidFill>
                  <a:schemeClr val="tx1"/>
                </a:solidFill>
              </a:rPr>
              <a:t>c) Group By Query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D152FDE-CF09-9631-5042-C73BE90BA3FB}"/>
              </a:ext>
            </a:extLst>
          </p:cNvPr>
          <p:cNvSpPr/>
          <p:nvPr/>
        </p:nvSpPr>
        <p:spPr>
          <a:xfrm>
            <a:off x="575198" y="3256951"/>
            <a:ext cx="3911203" cy="168378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0353F45-1417-7716-38EB-331E966D59B8}"/>
              </a:ext>
            </a:extLst>
          </p:cNvPr>
          <p:cNvSpPr/>
          <p:nvPr/>
        </p:nvSpPr>
        <p:spPr>
          <a:xfrm>
            <a:off x="575198" y="3256950"/>
            <a:ext cx="45719" cy="1622185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848FF2C-6313-C38B-216B-F08A9E842F7F}"/>
              </a:ext>
            </a:extLst>
          </p:cNvPr>
          <p:cNvSpPr/>
          <p:nvPr/>
        </p:nvSpPr>
        <p:spPr>
          <a:xfrm>
            <a:off x="552332" y="3242728"/>
            <a:ext cx="3911203" cy="1626599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r>
              <a:rPr lang="en-GB" sz="1100">
                <a:solidFill>
                  <a:srgbClr val="2C3E50"/>
                </a:solidFill>
              </a:rPr>
              <a:t>-- </a:t>
            </a:r>
            <a:r>
              <a:rPr lang="en-GB" sz="1100" err="1">
                <a:solidFill>
                  <a:srgbClr val="2C3E50"/>
                </a:solidFill>
              </a:rPr>
              <a:t>Analyzing</a:t>
            </a:r>
            <a:r>
              <a:rPr lang="en-GB" sz="1100">
                <a:solidFill>
                  <a:srgbClr val="2C3E50"/>
                </a:solidFill>
              </a:rPr>
              <a:t> the impact of different discount levels on profitability.</a:t>
            </a:r>
          </a:p>
          <a:p>
            <a:r>
              <a:rPr lang="en-GB" sz="1100">
                <a:solidFill>
                  <a:srgbClr val="2C3E50"/>
                </a:solidFill>
              </a:rPr>
              <a:t>SELECT discount,</a:t>
            </a:r>
          </a:p>
          <a:p>
            <a:r>
              <a:rPr lang="en-GB" sz="1100">
                <a:solidFill>
                  <a:srgbClr val="2C3E50"/>
                </a:solidFill>
              </a:rPr>
              <a:t>    COUNT(</a:t>
            </a:r>
            <a:r>
              <a:rPr lang="en-GB" sz="1100" err="1">
                <a:solidFill>
                  <a:srgbClr val="2C3E50"/>
                </a:solidFill>
              </a:rPr>
              <a:t>order_id</a:t>
            </a:r>
            <a:r>
              <a:rPr lang="en-GB" sz="1100">
                <a:solidFill>
                  <a:srgbClr val="2C3E50"/>
                </a:solidFill>
              </a:rPr>
              <a:t>) AS </a:t>
            </a:r>
            <a:r>
              <a:rPr lang="en-GB" sz="1100" err="1">
                <a:solidFill>
                  <a:srgbClr val="2C3E50"/>
                </a:solidFill>
              </a:rPr>
              <a:t>number_of_orders</a:t>
            </a:r>
            <a:r>
              <a:rPr lang="en-GB" sz="1100">
                <a:solidFill>
                  <a:srgbClr val="2C3E50"/>
                </a:solidFill>
              </a:rPr>
              <a:t>,</a:t>
            </a:r>
          </a:p>
          <a:p>
            <a:r>
              <a:rPr lang="en-GB" sz="1100">
                <a:solidFill>
                  <a:srgbClr val="2C3E50"/>
                </a:solidFill>
              </a:rPr>
              <a:t>    AVG(profit) AS </a:t>
            </a:r>
            <a:r>
              <a:rPr lang="en-GB" sz="1100" err="1">
                <a:solidFill>
                  <a:srgbClr val="2C3E50"/>
                </a:solidFill>
              </a:rPr>
              <a:t>average_profit</a:t>
            </a:r>
            <a:r>
              <a:rPr lang="en-GB" sz="1100">
                <a:solidFill>
                  <a:srgbClr val="2C3E50"/>
                </a:solidFill>
              </a:rPr>
              <a:t>,</a:t>
            </a:r>
          </a:p>
          <a:p>
            <a:r>
              <a:rPr lang="en-GB" sz="1100">
                <a:solidFill>
                  <a:srgbClr val="2C3E50"/>
                </a:solidFill>
              </a:rPr>
              <a:t>    SUM(sales) AS </a:t>
            </a:r>
            <a:r>
              <a:rPr lang="en-GB" sz="1100" err="1">
                <a:solidFill>
                  <a:srgbClr val="2C3E50"/>
                </a:solidFill>
              </a:rPr>
              <a:t>total_sales</a:t>
            </a:r>
            <a:endParaRPr lang="en-GB" sz="1100">
              <a:solidFill>
                <a:srgbClr val="2C3E50"/>
              </a:solidFill>
            </a:endParaRPr>
          </a:p>
          <a:p>
            <a:r>
              <a:rPr lang="en-GB" sz="1100">
                <a:solidFill>
                  <a:srgbClr val="2C3E50"/>
                </a:solidFill>
              </a:rPr>
              <a:t>FROM </a:t>
            </a:r>
            <a:r>
              <a:rPr lang="en-GB" sz="1100" err="1">
                <a:solidFill>
                  <a:srgbClr val="2C3E50"/>
                </a:solidFill>
              </a:rPr>
              <a:t>maryam_alali_workspace.megamartt_sales</a:t>
            </a:r>
            <a:endParaRPr lang="en-GB" sz="1100">
              <a:solidFill>
                <a:srgbClr val="2C3E50"/>
              </a:solidFill>
            </a:endParaRPr>
          </a:p>
          <a:p>
            <a:r>
              <a:rPr lang="en-GB" sz="1100">
                <a:solidFill>
                  <a:srgbClr val="2C3E50"/>
                </a:solidFill>
              </a:rPr>
              <a:t>GROUP BY discount</a:t>
            </a:r>
          </a:p>
          <a:p>
            <a:r>
              <a:rPr lang="en-GB" sz="1100">
                <a:solidFill>
                  <a:srgbClr val="2C3E50"/>
                </a:solidFill>
              </a:rPr>
              <a:t>ORDER BY discount ASC;</a:t>
            </a:r>
            <a:endParaRPr lang="en-AE" sz="1100">
              <a:solidFill>
                <a:srgbClr val="2C3E50"/>
              </a:solidFill>
            </a:endParaRP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3899EC3E-FC06-2137-EC2F-8E051B4C0A94}"/>
              </a:ext>
            </a:extLst>
          </p:cNvPr>
          <p:cNvSpPr/>
          <p:nvPr/>
        </p:nvSpPr>
        <p:spPr>
          <a:xfrm>
            <a:off x="575198" y="1970514"/>
            <a:ext cx="3911203" cy="10108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EA258D3-A22C-1CD2-670A-A74653D3B025}"/>
              </a:ext>
            </a:extLst>
          </p:cNvPr>
          <p:cNvSpPr/>
          <p:nvPr/>
        </p:nvSpPr>
        <p:spPr>
          <a:xfrm>
            <a:off x="569965" y="1960428"/>
            <a:ext cx="45719" cy="1010840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87CFA8C-1E11-EB4C-35A8-F71D31B14880}"/>
              </a:ext>
            </a:extLst>
          </p:cNvPr>
          <p:cNvSpPr/>
          <p:nvPr/>
        </p:nvSpPr>
        <p:spPr>
          <a:xfrm>
            <a:off x="511962" y="2018079"/>
            <a:ext cx="3951573" cy="911019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r>
              <a:rPr lang="en-GB" sz="1050">
                <a:solidFill>
                  <a:srgbClr val="2C3E50"/>
                </a:solidFill>
              </a:rPr>
              <a:t>-- Isolating specific loss-making transactions</a:t>
            </a:r>
          </a:p>
          <a:p>
            <a:r>
              <a:rPr lang="en-GB" sz="1050">
                <a:solidFill>
                  <a:srgbClr val="2C3E50"/>
                </a:solidFill>
              </a:rPr>
              <a:t>SELECT </a:t>
            </a:r>
            <a:r>
              <a:rPr lang="en-GB" sz="1050" err="1">
                <a:solidFill>
                  <a:srgbClr val="2C3E50"/>
                </a:solidFill>
              </a:rPr>
              <a:t>order_id</a:t>
            </a:r>
            <a:r>
              <a:rPr lang="en-GB" sz="1050">
                <a:solidFill>
                  <a:srgbClr val="2C3E50"/>
                </a:solidFill>
              </a:rPr>
              <a:t>, </a:t>
            </a:r>
            <a:r>
              <a:rPr lang="en-GB" sz="1050" err="1">
                <a:solidFill>
                  <a:srgbClr val="2C3E50"/>
                </a:solidFill>
              </a:rPr>
              <a:t>product_name</a:t>
            </a:r>
            <a:r>
              <a:rPr lang="en-GB" sz="1050">
                <a:solidFill>
                  <a:srgbClr val="2C3E50"/>
                </a:solidFill>
              </a:rPr>
              <a:t>, sales, discount, profit</a:t>
            </a:r>
          </a:p>
          <a:p>
            <a:r>
              <a:rPr lang="en-GB" sz="1050">
                <a:solidFill>
                  <a:srgbClr val="2C3E50"/>
                </a:solidFill>
              </a:rPr>
              <a:t>FROM </a:t>
            </a:r>
            <a:r>
              <a:rPr lang="en-GB" sz="1050" err="1">
                <a:solidFill>
                  <a:srgbClr val="2C3E50"/>
                </a:solidFill>
              </a:rPr>
              <a:t>maryam_alali_workspace.megamartt_sales</a:t>
            </a:r>
            <a:endParaRPr lang="en-GB" sz="1050">
              <a:solidFill>
                <a:srgbClr val="2C3E50"/>
              </a:solidFill>
            </a:endParaRPr>
          </a:p>
          <a:p>
            <a:r>
              <a:rPr lang="en-GB" sz="1050">
                <a:solidFill>
                  <a:srgbClr val="2C3E50"/>
                </a:solidFill>
              </a:rPr>
              <a:t>WHERE profit &lt; 0           </a:t>
            </a:r>
          </a:p>
          <a:p>
            <a:r>
              <a:rPr lang="en-GB" sz="1050">
                <a:solidFill>
                  <a:srgbClr val="2C3E50"/>
                </a:solidFill>
              </a:rPr>
              <a:t>AND discount &gt; 0.5;</a:t>
            </a:r>
            <a:endParaRPr lang="en-AE" sz="1050">
              <a:solidFill>
                <a:srgbClr val="2C3E50"/>
              </a:solidFill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BDFD8B52-D76F-0C0F-93FC-164F35CD7A05}"/>
              </a:ext>
            </a:extLst>
          </p:cNvPr>
          <p:cNvSpPr/>
          <p:nvPr/>
        </p:nvSpPr>
        <p:spPr>
          <a:xfrm>
            <a:off x="4835327" y="1031510"/>
            <a:ext cx="233717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>
                <a:solidFill>
                  <a:schemeClr val="tx1"/>
                </a:solidFill>
              </a:rPr>
              <a:t>d) Group By query with HAVING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2976E3EF-1B05-2C76-1A62-75FEC5BD3485}"/>
              </a:ext>
            </a:extLst>
          </p:cNvPr>
          <p:cNvSpPr/>
          <p:nvPr/>
        </p:nvSpPr>
        <p:spPr>
          <a:xfrm>
            <a:off x="4835327" y="1255393"/>
            <a:ext cx="3911203" cy="17189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E951D0A1-634F-6CBD-3411-648194FCDEEF}"/>
              </a:ext>
            </a:extLst>
          </p:cNvPr>
          <p:cNvSpPr/>
          <p:nvPr/>
        </p:nvSpPr>
        <p:spPr>
          <a:xfrm>
            <a:off x="4835327" y="1255392"/>
            <a:ext cx="45719" cy="1718927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88D7A108-4757-E491-E4A6-3DCA1E986C73}"/>
              </a:ext>
            </a:extLst>
          </p:cNvPr>
          <p:cNvSpPr/>
          <p:nvPr/>
        </p:nvSpPr>
        <p:spPr>
          <a:xfrm>
            <a:off x="4835327" y="1267698"/>
            <a:ext cx="4021597" cy="1557349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r>
              <a:rPr lang="en-GB" sz="1050">
                <a:solidFill>
                  <a:srgbClr val="2C3E50"/>
                </a:solidFill>
              </a:rPr>
              <a:t>--  Identifying product sub-categories that become unprofitable</a:t>
            </a:r>
          </a:p>
          <a:p>
            <a:r>
              <a:rPr lang="en-GB" sz="1050">
                <a:solidFill>
                  <a:srgbClr val="2C3E50"/>
                </a:solidFill>
              </a:rPr>
              <a:t>SELECT subcategory,</a:t>
            </a:r>
          </a:p>
          <a:p>
            <a:r>
              <a:rPr lang="en-GB" sz="1050">
                <a:solidFill>
                  <a:srgbClr val="2C3E50"/>
                </a:solidFill>
              </a:rPr>
              <a:t>    AVG(profit) AS </a:t>
            </a:r>
            <a:r>
              <a:rPr lang="en-GB" sz="1050" err="1">
                <a:solidFill>
                  <a:srgbClr val="2C3E50"/>
                </a:solidFill>
              </a:rPr>
              <a:t>average_profit</a:t>
            </a:r>
            <a:r>
              <a:rPr lang="en-GB" sz="1050">
                <a:solidFill>
                  <a:srgbClr val="2C3E50"/>
                </a:solidFill>
              </a:rPr>
              <a:t>,</a:t>
            </a:r>
          </a:p>
          <a:p>
            <a:r>
              <a:rPr lang="en-GB" sz="1050">
                <a:solidFill>
                  <a:srgbClr val="2C3E50"/>
                </a:solidFill>
              </a:rPr>
              <a:t>    AVG(discount) AS </a:t>
            </a:r>
            <a:r>
              <a:rPr lang="en-GB" sz="1050" err="1">
                <a:solidFill>
                  <a:srgbClr val="2C3E50"/>
                </a:solidFill>
              </a:rPr>
              <a:t>average_discount_applied</a:t>
            </a:r>
            <a:endParaRPr lang="en-GB" sz="1050">
              <a:solidFill>
                <a:srgbClr val="2C3E50"/>
              </a:solidFill>
            </a:endParaRPr>
          </a:p>
          <a:p>
            <a:r>
              <a:rPr lang="en-GB" sz="1050">
                <a:solidFill>
                  <a:srgbClr val="2C3E50"/>
                </a:solidFill>
              </a:rPr>
              <a:t>FROM </a:t>
            </a:r>
            <a:r>
              <a:rPr lang="en-GB" sz="1050" err="1">
                <a:solidFill>
                  <a:srgbClr val="2C3E50"/>
                </a:solidFill>
              </a:rPr>
              <a:t>maryam_alali_workspace.megamartt_sales</a:t>
            </a:r>
            <a:endParaRPr lang="en-GB" sz="1050">
              <a:solidFill>
                <a:srgbClr val="2C3E50"/>
              </a:solidFill>
            </a:endParaRPr>
          </a:p>
          <a:p>
            <a:r>
              <a:rPr lang="en-GB" sz="1050">
                <a:solidFill>
                  <a:srgbClr val="2C3E50"/>
                </a:solidFill>
              </a:rPr>
              <a:t>WHERE discount &gt; 0 </a:t>
            </a:r>
          </a:p>
          <a:p>
            <a:r>
              <a:rPr lang="en-GB" sz="1050">
                <a:solidFill>
                  <a:srgbClr val="2C3E50"/>
                </a:solidFill>
              </a:rPr>
              <a:t>GROUP BY subcategory</a:t>
            </a:r>
          </a:p>
          <a:p>
            <a:r>
              <a:rPr lang="en-GB" sz="1050">
                <a:solidFill>
                  <a:srgbClr val="2C3E50"/>
                </a:solidFill>
              </a:rPr>
              <a:t>HAVING AVG(profit) &lt; 0 </a:t>
            </a:r>
          </a:p>
          <a:p>
            <a:r>
              <a:rPr lang="en-GB" sz="1050">
                <a:solidFill>
                  <a:srgbClr val="2C3E50"/>
                </a:solidFill>
              </a:rPr>
              <a:t>ORDER BY </a:t>
            </a:r>
            <a:r>
              <a:rPr lang="en-GB" sz="1050" err="1">
                <a:solidFill>
                  <a:srgbClr val="2C3E50"/>
                </a:solidFill>
              </a:rPr>
              <a:t>average_profit</a:t>
            </a:r>
            <a:r>
              <a:rPr lang="en-GB" sz="1050">
                <a:solidFill>
                  <a:srgbClr val="2C3E50"/>
                </a:solidFill>
              </a:rPr>
              <a:t> ASC;</a:t>
            </a:r>
            <a:endParaRPr lang="en-AE" sz="1050">
              <a:solidFill>
                <a:srgbClr val="2C3E50"/>
              </a:solidFill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C4CB4D77-CEF3-9AC6-6FBE-C924BB95CE99}"/>
              </a:ext>
            </a:extLst>
          </p:cNvPr>
          <p:cNvSpPr/>
          <p:nvPr/>
        </p:nvSpPr>
        <p:spPr>
          <a:xfrm>
            <a:off x="4835327" y="3190148"/>
            <a:ext cx="1324080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b="1">
                <a:solidFill>
                  <a:schemeClr val="tx1"/>
                </a:solidFill>
              </a:rPr>
              <a:t>e) Order By Query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0AFD3A8A-2166-91D0-7E05-3FA0177E4D35}"/>
              </a:ext>
            </a:extLst>
          </p:cNvPr>
          <p:cNvSpPr/>
          <p:nvPr/>
        </p:nvSpPr>
        <p:spPr>
          <a:xfrm>
            <a:off x="4835327" y="3474076"/>
            <a:ext cx="3911203" cy="123418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8236BAB3-AFDF-8AB2-06A0-80562A30A4A4}"/>
              </a:ext>
            </a:extLst>
          </p:cNvPr>
          <p:cNvSpPr/>
          <p:nvPr/>
        </p:nvSpPr>
        <p:spPr>
          <a:xfrm>
            <a:off x="4835327" y="3474076"/>
            <a:ext cx="45719" cy="1214596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B8B2F471-9222-0F39-8CC9-05C617FA4D98}"/>
              </a:ext>
            </a:extLst>
          </p:cNvPr>
          <p:cNvSpPr/>
          <p:nvPr/>
        </p:nvSpPr>
        <p:spPr>
          <a:xfrm>
            <a:off x="4858186" y="3454487"/>
            <a:ext cx="4021597" cy="1234184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r>
              <a:rPr lang="en-GB" sz="1050">
                <a:solidFill>
                  <a:srgbClr val="2C3E50"/>
                </a:solidFill>
              </a:rPr>
              <a:t>-- Order By Query: Identifying the top 15 worst-performing transactions (highest losses)</a:t>
            </a:r>
          </a:p>
          <a:p>
            <a:r>
              <a:rPr lang="en-GB" sz="1050">
                <a:solidFill>
                  <a:srgbClr val="2C3E50"/>
                </a:solidFill>
              </a:rPr>
              <a:t>SELECT </a:t>
            </a:r>
            <a:r>
              <a:rPr lang="en-GB" sz="1050" err="1">
                <a:solidFill>
                  <a:srgbClr val="2C3E50"/>
                </a:solidFill>
              </a:rPr>
              <a:t>order_id</a:t>
            </a:r>
            <a:r>
              <a:rPr lang="en-GB" sz="1050">
                <a:solidFill>
                  <a:srgbClr val="2C3E50"/>
                </a:solidFill>
              </a:rPr>
              <a:t>, </a:t>
            </a:r>
            <a:r>
              <a:rPr lang="en-GB" sz="1050" err="1">
                <a:solidFill>
                  <a:srgbClr val="2C3E50"/>
                </a:solidFill>
              </a:rPr>
              <a:t>product_name</a:t>
            </a:r>
            <a:r>
              <a:rPr lang="en-GB" sz="1050">
                <a:solidFill>
                  <a:srgbClr val="2C3E50"/>
                </a:solidFill>
              </a:rPr>
              <a:t>, region, sales, discount, profit</a:t>
            </a:r>
          </a:p>
          <a:p>
            <a:r>
              <a:rPr lang="en-GB" sz="1050">
                <a:solidFill>
                  <a:srgbClr val="2C3E50"/>
                </a:solidFill>
              </a:rPr>
              <a:t>FROM </a:t>
            </a:r>
            <a:r>
              <a:rPr lang="en-GB" sz="1050" err="1">
                <a:solidFill>
                  <a:srgbClr val="2C3E50"/>
                </a:solidFill>
              </a:rPr>
              <a:t>maryam_alali_workspace.megamartt_sales</a:t>
            </a:r>
            <a:endParaRPr lang="en-GB" sz="1050">
              <a:solidFill>
                <a:srgbClr val="2C3E50"/>
              </a:solidFill>
            </a:endParaRPr>
          </a:p>
          <a:p>
            <a:r>
              <a:rPr lang="en-GB" sz="1050">
                <a:solidFill>
                  <a:srgbClr val="2C3E50"/>
                </a:solidFill>
              </a:rPr>
              <a:t>ORDER BY profit ASC </a:t>
            </a:r>
          </a:p>
          <a:p>
            <a:r>
              <a:rPr lang="en-GB" sz="1050">
                <a:solidFill>
                  <a:srgbClr val="2C3E50"/>
                </a:solidFill>
              </a:rPr>
              <a:t>LIMIT 15;</a:t>
            </a:r>
            <a:endParaRPr lang="en-AE" sz="1050">
              <a:solidFill>
                <a:srgbClr val="2C3E50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B4D4A20-6223-3CF2-A1B6-020A8B70DDD6}"/>
              </a:ext>
            </a:extLst>
          </p:cNvPr>
          <p:cNvSpPr/>
          <p:nvPr/>
        </p:nvSpPr>
        <p:spPr>
          <a:xfrm>
            <a:off x="638543" y="1802921"/>
            <a:ext cx="209833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b="1">
                <a:solidFill>
                  <a:schemeClr val="tx1"/>
                </a:solidFill>
              </a:rPr>
              <a:t>b) Simple queries with filters</a:t>
            </a:r>
          </a:p>
        </p:txBody>
      </p:sp>
    </p:spTree>
    <p:extLst>
      <p:ext uri="{BB962C8B-B14F-4D97-AF65-F5344CB8AC3E}">
        <p14:creationId xmlns:p14="http://schemas.microsoft.com/office/powerpoint/2010/main" val="34282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810787D9-8112-1EE5-49B6-367E200732FD}"/>
              </a:ext>
            </a:extLst>
          </p:cNvPr>
          <p:cNvSpPr/>
          <p:nvPr/>
        </p:nvSpPr>
        <p:spPr>
          <a:xfrm>
            <a:off x="571500" y="1416809"/>
            <a:ext cx="163025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a) Inner Join Query</a:t>
            </a:r>
            <a:endParaRPr lang="en-US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6F029F9-E0C3-62BB-0CFE-3D3E91C051F7}"/>
              </a:ext>
            </a:extLst>
          </p:cNvPr>
          <p:cNvSpPr/>
          <p:nvPr/>
        </p:nvSpPr>
        <p:spPr>
          <a:xfrm>
            <a:off x="571500" y="1666927"/>
            <a:ext cx="3857625" cy="129844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11A8ABF-4D6D-8181-BAB1-BB6DD3F31149}"/>
              </a:ext>
            </a:extLst>
          </p:cNvPr>
          <p:cNvSpPr/>
          <p:nvPr/>
        </p:nvSpPr>
        <p:spPr>
          <a:xfrm>
            <a:off x="571500" y="1715576"/>
            <a:ext cx="4143375" cy="111357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-- Finds products that are both highly profitable and high-volume sellers.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SELECT</a:t>
            </a:r>
            <a:r>
              <a:rPr lang="ar-AE" sz="9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ar-AE" sz="9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p.total_profit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s.total_quantity_sold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FROM maryam_alali_workspace.top_100_profit_products p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INNER JOIN</a:t>
            </a:r>
            <a:r>
              <a:rPr lang="ar-AE" sz="9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maryam_alali_workspace.top_100_sales_products s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ON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;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AE98A00-95E5-056B-DD9F-62F26014C534}"/>
              </a:ext>
            </a:extLst>
          </p:cNvPr>
          <p:cNvSpPr/>
          <p:nvPr/>
        </p:nvSpPr>
        <p:spPr>
          <a:xfrm>
            <a:off x="571500" y="3173705"/>
            <a:ext cx="205665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>
                <a:solidFill>
                  <a:schemeClr val="tx2">
                    <a:lumMod val="25000"/>
                  </a:schemeClr>
                </a:solidFill>
              </a:rPr>
              <a:t>b) Left Outer Join Query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B39892ED-731E-F83D-475E-A3D25F24E2E9}"/>
              </a:ext>
            </a:extLst>
          </p:cNvPr>
          <p:cNvSpPr/>
          <p:nvPr/>
        </p:nvSpPr>
        <p:spPr>
          <a:xfrm>
            <a:off x="571500" y="3415866"/>
            <a:ext cx="3857625" cy="129900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7F7EF55-E7D4-2CD8-F1DD-C2716FFCD336}"/>
              </a:ext>
            </a:extLst>
          </p:cNvPr>
          <p:cNvSpPr/>
          <p:nvPr/>
        </p:nvSpPr>
        <p:spPr>
          <a:xfrm>
            <a:off x="617219" y="3347150"/>
            <a:ext cx="3857625" cy="1280287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-- Finds highly profitable products that are not selling in high volumes.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SELECT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p.total_profit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FROM maryam_alali_workspace.top_100_profit_products p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LEFT JOIN maryam_alali_workspace.top_100_sales_products s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ON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WHERE 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IS NULL;</a:t>
            </a: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7F1DFEA-8CFB-6901-9F91-2F2E1226E158}"/>
              </a:ext>
            </a:extLst>
          </p:cNvPr>
          <p:cNvSpPr/>
          <p:nvPr/>
        </p:nvSpPr>
        <p:spPr>
          <a:xfrm>
            <a:off x="4714875" y="1413317"/>
            <a:ext cx="103393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>
                <a:solidFill>
                  <a:schemeClr val="tx2">
                    <a:lumMod val="25000"/>
                  </a:schemeClr>
                </a:solidFill>
              </a:rPr>
              <a:t>c) Subquery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EEA438A-6911-D7F1-BFAA-A1DE29113C32}"/>
              </a:ext>
            </a:extLst>
          </p:cNvPr>
          <p:cNvSpPr/>
          <p:nvPr/>
        </p:nvSpPr>
        <p:spPr>
          <a:xfrm>
            <a:off x="4714875" y="1639423"/>
            <a:ext cx="3857625" cy="129844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71081B0-B56C-CDCB-EA79-176D5FBC2CFC}"/>
              </a:ext>
            </a:extLst>
          </p:cNvPr>
          <p:cNvSpPr/>
          <p:nvPr/>
        </p:nvSpPr>
        <p:spPr>
          <a:xfrm>
            <a:off x="4572000" y="1564599"/>
            <a:ext cx="4000500" cy="1280287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-- Finds the transaction details for the single sale with the highest profit.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SELECT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order_id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sales, discount, profit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FROM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maryam_alali_workspace.megamartt_sales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WHERE  profit = (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    SELECT MAX(profit)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    FROM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maryam_alali_workspace.megamartt_sales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);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CADAD79-BE1B-6A05-2FF1-CF9A6432719D}"/>
              </a:ext>
            </a:extLst>
          </p:cNvPr>
          <p:cNvSpPr/>
          <p:nvPr/>
        </p:nvSpPr>
        <p:spPr>
          <a:xfrm>
            <a:off x="4714875" y="3369433"/>
            <a:ext cx="3857625" cy="1277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80CC01F-B5BB-28AB-FACC-6D8B0CA7C2A7}"/>
              </a:ext>
            </a:extLst>
          </p:cNvPr>
          <p:cNvSpPr/>
          <p:nvPr/>
        </p:nvSpPr>
        <p:spPr>
          <a:xfrm flipH="1">
            <a:off x="4669156" y="3369433"/>
            <a:ext cx="45719" cy="125800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6CA77F9-9E30-1F6A-914F-B8A2F36CF0FC}"/>
              </a:ext>
            </a:extLst>
          </p:cNvPr>
          <p:cNvSpPr/>
          <p:nvPr/>
        </p:nvSpPr>
        <p:spPr>
          <a:xfrm>
            <a:off x="4857750" y="3415866"/>
            <a:ext cx="1821011" cy="160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>
                <a:solidFill>
                  <a:schemeClr val="accent2">
                    <a:lumMod val="50000"/>
                  </a:schemeClr>
                </a:solidFill>
              </a:rPr>
              <a:t>Query Capabilities Demonstrated</a:t>
            </a:r>
            <a:endParaRPr lang="en-US" sz="9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DD2B40E-ABE2-5819-E9BB-433023CC1036}"/>
              </a:ext>
            </a:extLst>
          </p:cNvPr>
          <p:cNvSpPr/>
          <p:nvPr/>
        </p:nvSpPr>
        <p:spPr>
          <a:xfrm>
            <a:off x="4857748" y="3673851"/>
            <a:ext cx="3128783" cy="315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Inner Join:</a:t>
            </a:r>
            <a:r>
              <a:rPr lang="en-US" sz="9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>
                <a:solidFill>
                  <a:srgbClr val="2C3E50"/>
                </a:solidFill>
              </a:rPr>
              <a:t>Combines related data from multiple tables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sz="9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E03CF051-90E0-9721-ADF2-82559D057BFE}"/>
              </a:ext>
            </a:extLst>
          </p:cNvPr>
          <p:cNvSpPr/>
          <p:nvPr/>
        </p:nvSpPr>
        <p:spPr>
          <a:xfrm>
            <a:off x="4857748" y="3877828"/>
            <a:ext cx="3270126" cy="151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Left Join:</a:t>
            </a:r>
            <a:r>
              <a:rPr lang="en-US" sz="9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>
                <a:solidFill>
                  <a:srgbClr val="2C3E50"/>
                </a:solidFill>
              </a:rPr>
              <a:t>Includes all records from left table with matching data</a:t>
            </a:r>
            <a:endParaRPr lang="en-US" sz="90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FAEB0CFF-B653-3613-EB5C-546747C35463}"/>
              </a:ext>
            </a:extLst>
          </p:cNvPr>
          <p:cNvSpPr/>
          <p:nvPr/>
        </p:nvSpPr>
        <p:spPr>
          <a:xfrm>
            <a:off x="4857748" y="4101513"/>
            <a:ext cx="2930289" cy="151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Subquery:</a:t>
            </a:r>
            <a:r>
              <a:rPr lang="en-US" sz="9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900">
                <a:solidFill>
                  <a:srgbClr val="2C3E50"/>
                </a:solidFill>
              </a:rPr>
              <a:t>Filters data based on aggregated calculations</a:t>
            </a:r>
            <a:endParaRPr lang="en-US" sz="90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3E5887A3-9139-5960-4FF7-E67585CA4075}"/>
              </a:ext>
            </a:extLst>
          </p:cNvPr>
          <p:cNvSpPr/>
          <p:nvPr/>
        </p:nvSpPr>
        <p:spPr>
          <a:xfrm>
            <a:off x="1055813" y="287435"/>
            <a:ext cx="7032374" cy="418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>
                <a:solidFill>
                  <a:schemeClr val="tx2">
                    <a:lumMod val="25000"/>
                  </a:schemeClr>
                </a:solidFill>
              </a:rPr>
              <a:t>Advanced Queries - Joins &amp; Subqueries</a:t>
            </a:r>
            <a:endParaRPr lang="en-US" sz="280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143D26E5-6A4A-9057-13F2-036D35838A3B}"/>
              </a:ext>
            </a:extLst>
          </p:cNvPr>
          <p:cNvSpPr/>
          <p:nvPr/>
        </p:nvSpPr>
        <p:spPr>
          <a:xfrm>
            <a:off x="571500" y="1067806"/>
            <a:ext cx="2531142" cy="2390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>
                <a:solidFill>
                  <a:schemeClr val="tx2">
                    <a:lumMod val="25000"/>
                  </a:schemeClr>
                </a:solidFill>
              </a:rPr>
              <a:t>Task 8: Complex Analysis</a:t>
            </a:r>
            <a:endParaRPr lang="en-US" sz="160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6BECE30B-384D-874B-F4FB-3D82638DFD21}"/>
              </a:ext>
            </a:extLst>
          </p:cNvPr>
          <p:cNvSpPr/>
          <p:nvPr/>
        </p:nvSpPr>
        <p:spPr>
          <a:xfrm flipH="1">
            <a:off x="4671913" y="1661706"/>
            <a:ext cx="45719" cy="125800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629F57A8-4BB5-FFEE-6ADC-34EAC5060F4D}"/>
              </a:ext>
            </a:extLst>
          </p:cNvPr>
          <p:cNvSpPr/>
          <p:nvPr/>
        </p:nvSpPr>
        <p:spPr>
          <a:xfrm flipH="1">
            <a:off x="586477" y="1687149"/>
            <a:ext cx="45719" cy="125800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BD255387-258A-C4B7-852C-E912B44FBDD6}"/>
              </a:ext>
            </a:extLst>
          </p:cNvPr>
          <p:cNvSpPr/>
          <p:nvPr/>
        </p:nvSpPr>
        <p:spPr>
          <a:xfrm flipH="1">
            <a:off x="572187" y="3419234"/>
            <a:ext cx="45719" cy="125800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58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0">
          <a:extLst>
            <a:ext uri="{FF2B5EF4-FFF2-40B4-BE49-F238E27FC236}">
              <a16:creationId xmlns:a16="http://schemas.microsoft.com/office/drawing/2014/main" id="{38F18D38-5299-A455-6EC3-4CFEAA41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p40">
            <a:extLst>
              <a:ext uri="{FF2B5EF4-FFF2-40B4-BE49-F238E27FC236}">
                <a16:creationId xmlns:a16="http://schemas.microsoft.com/office/drawing/2014/main" id="{523888EF-0C0B-764C-114B-4E03BA25903E}"/>
              </a:ext>
            </a:extLst>
          </p:cNvPr>
          <p:cNvSpPr/>
          <p:nvPr/>
        </p:nvSpPr>
        <p:spPr>
          <a:xfrm rot="10800000" flipH="1">
            <a:off x="1871538" y="1623006"/>
            <a:ext cx="979200" cy="11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40">
            <a:extLst>
              <a:ext uri="{FF2B5EF4-FFF2-40B4-BE49-F238E27FC236}">
                <a16:creationId xmlns:a16="http://schemas.microsoft.com/office/drawing/2014/main" id="{9A1706FF-074D-780A-BC11-08F7D2AD2329}"/>
              </a:ext>
            </a:extLst>
          </p:cNvPr>
          <p:cNvSpPr/>
          <p:nvPr/>
        </p:nvSpPr>
        <p:spPr>
          <a:xfrm rot="10800000" flipH="1">
            <a:off x="6407214" y="1583654"/>
            <a:ext cx="671700" cy="11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4" name="Google Shape;2694;p40">
            <a:extLst>
              <a:ext uri="{FF2B5EF4-FFF2-40B4-BE49-F238E27FC236}">
                <a16:creationId xmlns:a16="http://schemas.microsoft.com/office/drawing/2014/main" id="{CB4864FC-43EE-AF00-B23A-F8338ABD47C0}"/>
              </a:ext>
            </a:extLst>
          </p:cNvPr>
          <p:cNvSpPr/>
          <p:nvPr/>
        </p:nvSpPr>
        <p:spPr>
          <a:xfrm rot="10800000" flipH="1">
            <a:off x="1910765" y="3654585"/>
            <a:ext cx="979200" cy="11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6" name="Google Shape;2696;p40">
            <a:extLst>
              <a:ext uri="{FF2B5EF4-FFF2-40B4-BE49-F238E27FC236}">
                <a16:creationId xmlns:a16="http://schemas.microsoft.com/office/drawing/2014/main" id="{3765E686-A4B5-A941-AC32-AE60FA018810}"/>
              </a:ext>
            </a:extLst>
          </p:cNvPr>
          <p:cNvSpPr/>
          <p:nvPr/>
        </p:nvSpPr>
        <p:spPr>
          <a:xfrm rot="10800000" flipH="1">
            <a:off x="6376902" y="3610092"/>
            <a:ext cx="671700" cy="11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7" name="Google Shape;2697;p40">
            <a:extLst>
              <a:ext uri="{FF2B5EF4-FFF2-40B4-BE49-F238E27FC236}">
                <a16:creationId xmlns:a16="http://schemas.microsoft.com/office/drawing/2014/main" id="{695CEF5E-CDFB-7069-530C-E68B8C74A987}"/>
              </a:ext>
            </a:extLst>
          </p:cNvPr>
          <p:cNvSpPr/>
          <p:nvPr/>
        </p:nvSpPr>
        <p:spPr>
          <a:xfrm>
            <a:off x="2583800" y="685975"/>
            <a:ext cx="3994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8" name="Google Shape;2698;p40">
            <a:extLst>
              <a:ext uri="{FF2B5EF4-FFF2-40B4-BE49-F238E27FC236}">
                <a16:creationId xmlns:a16="http://schemas.microsoft.com/office/drawing/2014/main" id="{E98A894E-4328-60A9-588D-12FC9F0AB5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Findings from EDA</a:t>
            </a:r>
          </a:p>
        </p:txBody>
      </p:sp>
      <p:sp>
        <p:nvSpPr>
          <p:cNvPr id="2699" name="Google Shape;2699;p40">
            <a:extLst>
              <a:ext uri="{FF2B5EF4-FFF2-40B4-BE49-F238E27FC236}">
                <a16:creationId xmlns:a16="http://schemas.microsoft.com/office/drawing/2014/main" id="{94A3A3B9-AF0F-E541-F16E-6D766D7BC68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211988" y="1358255"/>
            <a:ext cx="229829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1. The Discount Trap</a:t>
            </a:r>
            <a:endParaRPr/>
          </a:p>
        </p:txBody>
      </p:sp>
      <p:sp>
        <p:nvSpPr>
          <p:cNvPr id="2700" name="Google Shape;2700;p40">
            <a:extLst>
              <a:ext uri="{FF2B5EF4-FFF2-40B4-BE49-F238E27FC236}">
                <a16:creationId xmlns:a16="http://schemas.microsoft.com/office/drawing/2014/main" id="{41ADFB30-A96D-31EC-F329-F0823A05D1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2967" y="1789941"/>
            <a:ext cx="3142104" cy="758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>
                <a:solidFill>
                  <a:schemeClr val="tx1"/>
                </a:solidFill>
                <a:latin typeface="Abadi" panose="020B0604020104020204" pitchFamily="34" charset="0"/>
              </a:rPr>
              <a:t>Higher discounts lead to lower profits. A 20% discount is common but hurts profitability.</a:t>
            </a:r>
          </a:p>
        </p:txBody>
      </p:sp>
      <p:sp>
        <p:nvSpPr>
          <p:cNvPr id="2703" name="Google Shape;2703;p40">
            <a:extLst>
              <a:ext uri="{FF2B5EF4-FFF2-40B4-BE49-F238E27FC236}">
                <a16:creationId xmlns:a16="http://schemas.microsoft.com/office/drawing/2014/main" id="{06359C94-CE08-3312-E125-FAEB80B872F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865081" y="3436976"/>
            <a:ext cx="3306234" cy="758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Geographic Patterns</a:t>
            </a:r>
            <a:br>
              <a:rPr lang="en-US"/>
            </a:br>
            <a:endParaRPr/>
          </a:p>
        </p:txBody>
      </p:sp>
      <p:sp>
        <p:nvSpPr>
          <p:cNvPr id="2704" name="Google Shape;2704;p40">
            <a:extLst>
              <a:ext uri="{FF2B5EF4-FFF2-40B4-BE49-F238E27FC236}">
                <a16:creationId xmlns:a16="http://schemas.microsoft.com/office/drawing/2014/main" id="{46F876A7-66BE-9944-D943-569CDB8B857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66246" y="3849662"/>
            <a:ext cx="3614116" cy="980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tx1"/>
                </a:solidFill>
                <a:latin typeface="Abadi" panose="020B0604020104020204" pitchFamily="34" charset="0"/>
              </a:rPr>
              <a:t>The West region has the most sales (32.05%). Standard Class is the main shipping method (59.72%). The Consumer segment is the largest (51.94%).</a:t>
            </a:r>
          </a:p>
        </p:txBody>
      </p:sp>
      <p:sp>
        <p:nvSpPr>
          <p:cNvPr id="2707" name="Google Shape;2707;p40">
            <a:extLst>
              <a:ext uri="{FF2B5EF4-FFF2-40B4-BE49-F238E27FC236}">
                <a16:creationId xmlns:a16="http://schemas.microsoft.com/office/drawing/2014/main" id="{D57DBF49-3353-A366-17DC-3CC6E8143A14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157981" y="1319637"/>
            <a:ext cx="286048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AE"/>
              <a:t>2</a:t>
            </a:r>
            <a:r>
              <a:rPr lang="en-US"/>
              <a:t>. Category Performance</a:t>
            </a:r>
            <a:endParaRPr/>
          </a:p>
        </p:txBody>
      </p:sp>
      <p:sp>
        <p:nvSpPr>
          <p:cNvPr id="2708" name="Google Shape;2708;p40">
            <a:extLst>
              <a:ext uri="{FF2B5EF4-FFF2-40B4-BE49-F238E27FC236}">
                <a16:creationId xmlns:a16="http://schemas.microsoft.com/office/drawing/2014/main" id="{61C64DEF-B89C-0427-EA52-9E63439CCC24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157981" y="1735061"/>
            <a:ext cx="3089597" cy="980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en-US">
                <a:solidFill>
                  <a:schemeClr val="tx1"/>
                </a:solidFill>
                <a:latin typeface="Abadi" panose="020B0604020104020204" pitchFamily="34" charset="0"/>
              </a:rPr>
              <a:t>Office Supplies is the most common category (60.3%). Binders is the top subcategory (15.24%). Profitability varies a lot between categories.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p40">
            <a:extLst>
              <a:ext uri="{FF2B5EF4-FFF2-40B4-BE49-F238E27FC236}">
                <a16:creationId xmlns:a16="http://schemas.microsoft.com/office/drawing/2014/main" id="{CF214FEC-D907-AD66-03B9-A5C132719C62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744757" y="3525383"/>
            <a:ext cx="1986000" cy="3663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Profit Volatility</a:t>
            </a:r>
            <a:endParaRPr/>
          </a:p>
        </p:txBody>
      </p:sp>
      <p:sp>
        <p:nvSpPr>
          <p:cNvPr id="2710" name="Google Shape;2710;p40">
            <a:extLst>
              <a:ext uri="{FF2B5EF4-FFF2-40B4-BE49-F238E27FC236}">
                <a16:creationId xmlns:a16="http://schemas.microsoft.com/office/drawing/2014/main" id="{37DEE299-CAAF-BA98-A98C-F1F60D83D4FB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5097423" y="3807301"/>
            <a:ext cx="3223527" cy="980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Abadi" panose="020B0604020104020204" pitchFamily="34" charset="0"/>
              </a:rPr>
              <a:t>Profit ranges from a loss of -$6,599 to a gain of +$8,399. This wide range means profitability is very unpredictable.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40">
            <a:extLst>
              <a:ext uri="{FF2B5EF4-FFF2-40B4-BE49-F238E27FC236}">
                <a16:creationId xmlns:a16="http://schemas.microsoft.com/office/drawing/2014/main" id="{307D1F3E-6328-26AC-1F59-AEFA1626A4BB}"/>
              </a:ext>
            </a:extLst>
          </p:cNvPr>
          <p:cNvSpPr/>
          <p:nvPr/>
        </p:nvSpPr>
        <p:spPr>
          <a:xfrm>
            <a:off x="6508663" y="3068222"/>
            <a:ext cx="429793" cy="372452"/>
          </a:xfrm>
          <a:custGeom>
            <a:avLst/>
            <a:gdLst/>
            <a:ahLst/>
            <a:cxnLst/>
            <a:rect l="l" t="t" r="r" b="b"/>
            <a:pathLst>
              <a:path w="11860" h="10933" extrusionOk="0">
                <a:moveTo>
                  <a:pt x="6275" y="341"/>
                </a:moveTo>
                <a:cubicBezTo>
                  <a:pt x="6299" y="341"/>
                  <a:pt x="6323" y="347"/>
                  <a:pt x="6359" y="359"/>
                </a:cubicBezTo>
                <a:cubicBezTo>
                  <a:pt x="6406" y="383"/>
                  <a:pt x="6430" y="430"/>
                  <a:pt x="6478" y="454"/>
                </a:cubicBezTo>
                <a:lnTo>
                  <a:pt x="8430" y="4264"/>
                </a:lnTo>
                <a:cubicBezTo>
                  <a:pt x="8454" y="4312"/>
                  <a:pt x="8454" y="4360"/>
                  <a:pt x="8430" y="4407"/>
                </a:cubicBezTo>
                <a:cubicBezTo>
                  <a:pt x="8407" y="4479"/>
                  <a:pt x="8383" y="4502"/>
                  <a:pt x="8335" y="4526"/>
                </a:cubicBezTo>
                <a:cubicBezTo>
                  <a:pt x="8311" y="4538"/>
                  <a:pt x="8294" y="4544"/>
                  <a:pt x="8273" y="4544"/>
                </a:cubicBezTo>
                <a:cubicBezTo>
                  <a:pt x="8252" y="4544"/>
                  <a:pt x="8228" y="4538"/>
                  <a:pt x="8192" y="4526"/>
                </a:cubicBezTo>
                <a:cubicBezTo>
                  <a:pt x="8145" y="4502"/>
                  <a:pt x="8097" y="4479"/>
                  <a:pt x="8073" y="4431"/>
                </a:cubicBezTo>
                <a:lnTo>
                  <a:pt x="6120" y="621"/>
                </a:lnTo>
                <a:cubicBezTo>
                  <a:pt x="6049" y="549"/>
                  <a:pt x="6120" y="430"/>
                  <a:pt x="6192" y="359"/>
                </a:cubicBezTo>
                <a:cubicBezTo>
                  <a:pt x="6228" y="347"/>
                  <a:pt x="6251" y="341"/>
                  <a:pt x="6275" y="341"/>
                </a:cubicBezTo>
                <a:close/>
                <a:moveTo>
                  <a:pt x="5549" y="359"/>
                </a:moveTo>
                <a:cubicBezTo>
                  <a:pt x="5573" y="359"/>
                  <a:pt x="5597" y="359"/>
                  <a:pt x="5644" y="383"/>
                </a:cubicBezTo>
                <a:cubicBezTo>
                  <a:pt x="5716" y="454"/>
                  <a:pt x="5787" y="573"/>
                  <a:pt x="5716" y="668"/>
                </a:cubicBezTo>
                <a:lnTo>
                  <a:pt x="3763" y="4479"/>
                </a:lnTo>
                <a:cubicBezTo>
                  <a:pt x="3739" y="4526"/>
                  <a:pt x="3691" y="4550"/>
                  <a:pt x="3644" y="4550"/>
                </a:cubicBezTo>
                <a:cubicBezTo>
                  <a:pt x="3620" y="4566"/>
                  <a:pt x="3601" y="4571"/>
                  <a:pt x="3586" y="4571"/>
                </a:cubicBezTo>
                <a:cubicBezTo>
                  <a:pt x="3554" y="4571"/>
                  <a:pt x="3533" y="4550"/>
                  <a:pt x="3501" y="4550"/>
                </a:cubicBezTo>
                <a:cubicBezTo>
                  <a:pt x="3429" y="4526"/>
                  <a:pt x="3406" y="4502"/>
                  <a:pt x="3406" y="4431"/>
                </a:cubicBezTo>
                <a:cubicBezTo>
                  <a:pt x="3382" y="4383"/>
                  <a:pt x="3382" y="4312"/>
                  <a:pt x="3406" y="4264"/>
                </a:cubicBezTo>
                <a:lnTo>
                  <a:pt x="5358" y="454"/>
                </a:lnTo>
                <a:cubicBezTo>
                  <a:pt x="5382" y="383"/>
                  <a:pt x="5430" y="359"/>
                  <a:pt x="5477" y="359"/>
                </a:cubicBezTo>
                <a:close/>
                <a:moveTo>
                  <a:pt x="11312" y="4264"/>
                </a:moveTo>
                <a:cubicBezTo>
                  <a:pt x="11431" y="4264"/>
                  <a:pt x="11526" y="4360"/>
                  <a:pt x="11526" y="4479"/>
                </a:cubicBezTo>
                <a:cubicBezTo>
                  <a:pt x="11503" y="4550"/>
                  <a:pt x="11407" y="4645"/>
                  <a:pt x="11312" y="4645"/>
                </a:cubicBezTo>
                <a:lnTo>
                  <a:pt x="8740" y="4645"/>
                </a:lnTo>
                <a:cubicBezTo>
                  <a:pt x="8764" y="4622"/>
                  <a:pt x="8788" y="4550"/>
                  <a:pt x="8788" y="4526"/>
                </a:cubicBezTo>
                <a:cubicBezTo>
                  <a:pt x="8811" y="4431"/>
                  <a:pt x="8811" y="4360"/>
                  <a:pt x="8811" y="4264"/>
                </a:cubicBezTo>
                <a:close/>
                <a:moveTo>
                  <a:pt x="5906" y="1026"/>
                </a:moveTo>
                <a:lnTo>
                  <a:pt x="7787" y="4622"/>
                </a:lnTo>
                <a:cubicBezTo>
                  <a:pt x="7787" y="4645"/>
                  <a:pt x="7811" y="4645"/>
                  <a:pt x="7811" y="4669"/>
                </a:cubicBezTo>
                <a:lnTo>
                  <a:pt x="4025" y="4669"/>
                </a:lnTo>
                <a:cubicBezTo>
                  <a:pt x="4025" y="4669"/>
                  <a:pt x="4049" y="4645"/>
                  <a:pt x="4049" y="4622"/>
                </a:cubicBezTo>
                <a:lnTo>
                  <a:pt x="4239" y="4264"/>
                </a:lnTo>
                <a:lnTo>
                  <a:pt x="6882" y="4264"/>
                </a:lnTo>
                <a:cubicBezTo>
                  <a:pt x="6978" y="4264"/>
                  <a:pt x="7049" y="4169"/>
                  <a:pt x="7049" y="4074"/>
                </a:cubicBezTo>
                <a:cubicBezTo>
                  <a:pt x="7049" y="4002"/>
                  <a:pt x="6978" y="3907"/>
                  <a:pt x="6882" y="3907"/>
                </a:cubicBezTo>
                <a:lnTo>
                  <a:pt x="4406" y="3907"/>
                </a:lnTo>
                <a:lnTo>
                  <a:pt x="5906" y="1026"/>
                </a:lnTo>
                <a:close/>
                <a:moveTo>
                  <a:pt x="2953" y="5003"/>
                </a:moveTo>
                <a:lnTo>
                  <a:pt x="3144" y="6693"/>
                </a:lnTo>
                <a:lnTo>
                  <a:pt x="1048" y="6693"/>
                </a:lnTo>
                <a:lnTo>
                  <a:pt x="715" y="5003"/>
                </a:lnTo>
                <a:close/>
                <a:moveTo>
                  <a:pt x="5716" y="5003"/>
                </a:moveTo>
                <a:lnTo>
                  <a:pt x="5716" y="6693"/>
                </a:lnTo>
                <a:lnTo>
                  <a:pt x="3501" y="6693"/>
                </a:lnTo>
                <a:lnTo>
                  <a:pt x="3310" y="5003"/>
                </a:lnTo>
                <a:close/>
                <a:moveTo>
                  <a:pt x="8526" y="5003"/>
                </a:moveTo>
                <a:lnTo>
                  <a:pt x="8335" y="6693"/>
                </a:lnTo>
                <a:lnTo>
                  <a:pt x="6073" y="6693"/>
                </a:lnTo>
                <a:lnTo>
                  <a:pt x="6073" y="5003"/>
                </a:lnTo>
                <a:close/>
                <a:moveTo>
                  <a:pt x="11121" y="5003"/>
                </a:moveTo>
                <a:lnTo>
                  <a:pt x="10788" y="6693"/>
                </a:lnTo>
                <a:lnTo>
                  <a:pt x="8692" y="6693"/>
                </a:lnTo>
                <a:lnTo>
                  <a:pt x="8883" y="5003"/>
                </a:lnTo>
                <a:close/>
                <a:moveTo>
                  <a:pt x="3167" y="7051"/>
                </a:moveTo>
                <a:lnTo>
                  <a:pt x="3334" y="8765"/>
                </a:lnTo>
                <a:lnTo>
                  <a:pt x="1429" y="8765"/>
                </a:lnTo>
                <a:lnTo>
                  <a:pt x="1119" y="7051"/>
                </a:lnTo>
                <a:close/>
                <a:moveTo>
                  <a:pt x="5763" y="7051"/>
                </a:moveTo>
                <a:lnTo>
                  <a:pt x="5763" y="8765"/>
                </a:lnTo>
                <a:lnTo>
                  <a:pt x="3691" y="8765"/>
                </a:lnTo>
                <a:lnTo>
                  <a:pt x="3525" y="7051"/>
                </a:lnTo>
                <a:close/>
                <a:moveTo>
                  <a:pt x="8335" y="7051"/>
                </a:moveTo>
                <a:lnTo>
                  <a:pt x="8168" y="8765"/>
                </a:lnTo>
                <a:lnTo>
                  <a:pt x="6120" y="8765"/>
                </a:lnTo>
                <a:lnTo>
                  <a:pt x="6120" y="7051"/>
                </a:lnTo>
                <a:close/>
                <a:moveTo>
                  <a:pt x="10717" y="7051"/>
                </a:moveTo>
                <a:lnTo>
                  <a:pt x="10407" y="8765"/>
                </a:lnTo>
                <a:lnTo>
                  <a:pt x="8502" y="8765"/>
                </a:lnTo>
                <a:lnTo>
                  <a:pt x="8669" y="7051"/>
                </a:lnTo>
                <a:close/>
                <a:moveTo>
                  <a:pt x="3334" y="9075"/>
                </a:moveTo>
                <a:lnTo>
                  <a:pt x="3501" y="10599"/>
                </a:lnTo>
                <a:lnTo>
                  <a:pt x="2096" y="10599"/>
                </a:lnTo>
                <a:cubicBezTo>
                  <a:pt x="1905" y="10599"/>
                  <a:pt x="1739" y="10480"/>
                  <a:pt x="1715" y="10266"/>
                </a:cubicBezTo>
                <a:lnTo>
                  <a:pt x="1477" y="9075"/>
                </a:lnTo>
                <a:close/>
                <a:moveTo>
                  <a:pt x="5716" y="9075"/>
                </a:moveTo>
                <a:lnTo>
                  <a:pt x="5716" y="10599"/>
                </a:lnTo>
                <a:lnTo>
                  <a:pt x="3858" y="10599"/>
                </a:lnTo>
                <a:lnTo>
                  <a:pt x="3691" y="9075"/>
                </a:lnTo>
                <a:close/>
                <a:moveTo>
                  <a:pt x="8097" y="9075"/>
                </a:moveTo>
                <a:lnTo>
                  <a:pt x="7954" y="10599"/>
                </a:lnTo>
                <a:lnTo>
                  <a:pt x="6073" y="10599"/>
                </a:lnTo>
                <a:lnTo>
                  <a:pt x="6073" y="9075"/>
                </a:lnTo>
                <a:close/>
                <a:moveTo>
                  <a:pt x="10336" y="9122"/>
                </a:moveTo>
                <a:lnTo>
                  <a:pt x="10097" y="10313"/>
                </a:lnTo>
                <a:cubicBezTo>
                  <a:pt x="10074" y="10480"/>
                  <a:pt x="9931" y="10623"/>
                  <a:pt x="9716" y="10623"/>
                </a:cubicBezTo>
                <a:lnTo>
                  <a:pt x="8311" y="10623"/>
                </a:lnTo>
                <a:lnTo>
                  <a:pt x="8454" y="9122"/>
                </a:lnTo>
                <a:close/>
                <a:moveTo>
                  <a:pt x="5550" y="1"/>
                </a:moveTo>
                <a:cubicBezTo>
                  <a:pt x="5497" y="1"/>
                  <a:pt x="5441" y="8"/>
                  <a:pt x="5382" y="25"/>
                </a:cubicBezTo>
                <a:cubicBezTo>
                  <a:pt x="5239" y="73"/>
                  <a:pt x="5144" y="192"/>
                  <a:pt x="5073" y="311"/>
                </a:cubicBezTo>
                <a:lnTo>
                  <a:pt x="3096" y="4121"/>
                </a:lnTo>
                <a:cubicBezTo>
                  <a:pt x="3048" y="4241"/>
                  <a:pt x="3001" y="4383"/>
                  <a:pt x="3072" y="4526"/>
                </a:cubicBezTo>
                <a:cubicBezTo>
                  <a:pt x="3096" y="4598"/>
                  <a:pt x="3096" y="4622"/>
                  <a:pt x="3144" y="4645"/>
                </a:cubicBezTo>
                <a:lnTo>
                  <a:pt x="548" y="4645"/>
                </a:lnTo>
                <a:cubicBezTo>
                  <a:pt x="429" y="4645"/>
                  <a:pt x="334" y="4550"/>
                  <a:pt x="334" y="4431"/>
                </a:cubicBezTo>
                <a:cubicBezTo>
                  <a:pt x="334" y="4312"/>
                  <a:pt x="429" y="4241"/>
                  <a:pt x="548" y="4241"/>
                </a:cubicBezTo>
                <a:lnTo>
                  <a:pt x="2548" y="4241"/>
                </a:lnTo>
                <a:cubicBezTo>
                  <a:pt x="2620" y="4241"/>
                  <a:pt x="2715" y="4145"/>
                  <a:pt x="2715" y="4050"/>
                </a:cubicBezTo>
                <a:cubicBezTo>
                  <a:pt x="2715" y="3955"/>
                  <a:pt x="2620" y="3859"/>
                  <a:pt x="2548" y="3859"/>
                </a:cubicBezTo>
                <a:lnTo>
                  <a:pt x="548" y="3859"/>
                </a:lnTo>
                <a:cubicBezTo>
                  <a:pt x="238" y="3859"/>
                  <a:pt x="0" y="4098"/>
                  <a:pt x="0" y="4407"/>
                </a:cubicBezTo>
                <a:cubicBezTo>
                  <a:pt x="0" y="4645"/>
                  <a:pt x="191" y="4860"/>
                  <a:pt x="405" y="4955"/>
                </a:cubicBezTo>
                <a:lnTo>
                  <a:pt x="1405" y="10337"/>
                </a:lnTo>
                <a:cubicBezTo>
                  <a:pt x="1477" y="10694"/>
                  <a:pt x="1762" y="10932"/>
                  <a:pt x="2120" y="10932"/>
                </a:cubicBezTo>
                <a:lnTo>
                  <a:pt x="9740" y="10932"/>
                </a:lnTo>
                <a:cubicBezTo>
                  <a:pt x="10097" y="10932"/>
                  <a:pt x="10407" y="10694"/>
                  <a:pt x="10455" y="10337"/>
                </a:cubicBezTo>
                <a:lnTo>
                  <a:pt x="11479" y="4955"/>
                </a:lnTo>
                <a:cubicBezTo>
                  <a:pt x="11717" y="4883"/>
                  <a:pt x="11860" y="4669"/>
                  <a:pt x="11860" y="4407"/>
                </a:cubicBezTo>
                <a:cubicBezTo>
                  <a:pt x="11860" y="4145"/>
                  <a:pt x="11622" y="3907"/>
                  <a:pt x="11312" y="3907"/>
                </a:cubicBezTo>
                <a:lnTo>
                  <a:pt x="8669" y="3907"/>
                </a:lnTo>
                <a:lnTo>
                  <a:pt x="6787" y="311"/>
                </a:lnTo>
                <a:cubicBezTo>
                  <a:pt x="6740" y="192"/>
                  <a:pt x="6621" y="73"/>
                  <a:pt x="6478" y="25"/>
                </a:cubicBezTo>
                <a:cubicBezTo>
                  <a:pt x="6417" y="17"/>
                  <a:pt x="6359" y="11"/>
                  <a:pt x="6304" y="11"/>
                </a:cubicBezTo>
                <a:cubicBezTo>
                  <a:pt x="6210" y="11"/>
                  <a:pt x="6124" y="28"/>
                  <a:pt x="6049" y="73"/>
                </a:cubicBezTo>
                <a:cubicBezTo>
                  <a:pt x="5978" y="97"/>
                  <a:pt x="5954" y="121"/>
                  <a:pt x="5930" y="144"/>
                </a:cubicBezTo>
                <a:cubicBezTo>
                  <a:pt x="5906" y="121"/>
                  <a:pt x="5835" y="97"/>
                  <a:pt x="5811" y="73"/>
                </a:cubicBezTo>
                <a:cubicBezTo>
                  <a:pt x="5734" y="27"/>
                  <a:pt x="5647" y="1"/>
                  <a:pt x="555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40">
            <a:extLst>
              <a:ext uri="{FF2B5EF4-FFF2-40B4-BE49-F238E27FC236}">
                <a16:creationId xmlns:a16="http://schemas.microsoft.com/office/drawing/2014/main" id="{B62B3AC9-1479-11D5-D76F-A94792284AE6}"/>
              </a:ext>
            </a:extLst>
          </p:cNvPr>
          <p:cNvGrpSpPr/>
          <p:nvPr/>
        </p:nvGrpSpPr>
        <p:grpSpPr>
          <a:xfrm>
            <a:off x="2188632" y="1084990"/>
            <a:ext cx="484672" cy="361277"/>
            <a:chOff x="7364081" y="2348201"/>
            <a:chExt cx="397728" cy="296465"/>
          </a:xfrm>
        </p:grpSpPr>
        <p:sp>
          <p:nvSpPr>
            <p:cNvPr id="2713" name="Google Shape;2713;p40">
              <a:extLst>
                <a:ext uri="{FF2B5EF4-FFF2-40B4-BE49-F238E27FC236}">
                  <a16:creationId xmlns:a16="http://schemas.microsoft.com/office/drawing/2014/main" id="{65E29B9D-F903-4BE2-F5AF-3DE5FBC13C52}"/>
                </a:ext>
              </a:extLst>
            </p:cNvPr>
            <p:cNvSpPr/>
            <p:nvPr/>
          </p:nvSpPr>
          <p:spPr>
            <a:xfrm>
              <a:off x="7364081" y="2547416"/>
              <a:ext cx="37481" cy="35908"/>
            </a:xfrm>
            <a:custGeom>
              <a:avLst/>
              <a:gdLst/>
              <a:ahLst/>
              <a:cxnLst/>
              <a:rect l="l" t="t" r="r" b="b"/>
              <a:pathLst>
                <a:path w="1120" h="1073" extrusionOk="0">
                  <a:moveTo>
                    <a:pt x="191" y="1"/>
                  </a:moveTo>
                  <a:cubicBezTo>
                    <a:pt x="96" y="1"/>
                    <a:pt x="1" y="72"/>
                    <a:pt x="1" y="167"/>
                  </a:cubicBezTo>
                  <a:lnTo>
                    <a:pt x="1" y="525"/>
                  </a:lnTo>
                  <a:cubicBezTo>
                    <a:pt x="1" y="834"/>
                    <a:pt x="239" y="1072"/>
                    <a:pt x="548" y="1072"/>
                  </a:cubicBezTo>
                  <a:lnTo>
                    <a:pt x="906" y="1072"/>
                  </a:lnTo>
                  <a:cubicBezTo>
                    <a:pt x="1001" y="1072"/>
                    <a:pt x="1072" y="977"/>
                    <a:pt x="1072" y="882"/>
                  </a:cubicBezTo>
                  <a:cubicBezTo>
                    <a:pt x="1120" y="834"/>
                    <a:pt x="1025" y="739"/>
                    <a:pt x="929" y="739"/>
                  </a:cubicBezTo>
                  <a:lnTo>
                    <a:pt x="572" y="739"/>
                  </a:lnTo>
                  <a:cubicBezTo>
                    <a:pt x="453" y="739"/>
                    <a:pt x="382" y="644"/>
                    <a:pt x="382" y="525"/>
                  </a:cubicBezTo>
                  <a:lnTo>
                    <a:pt x="382" y="167"/>
                  </a:lnTo>
                  <a:cubicBezTo>
                    <a:pt x="382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40">
              <a:extLst>
                <a:ext uri="{FF2B5EF4-FFF2-40B4-BE49-F238E27FC236}">
                  <a16:creationId xmlns:a16="http://schemas.microsoft.com/office/drawing/2014/main" id="{C8FF0C5D-8198-11CE-BFF8-087AD54431C8}"/>
                </a:ext>
              </a:extLst>
            </p:cNvPr>
            <p:cNvSpPr/>
            <p:nvPr/>
          </p:nvSpPr>
          <p:spPr>
            <a:xfrm>
              <a:off x="7365687" y="2348201"/>
              <a:ext cx="36678" cy="35874"/>
            </a:xfrm>
            <a:custGeom>
              <a:avLst/>
              <a:gdLst/>
              <a:ahLst/>
              <a:cxnLst/>
              <a:rect l="l" t="t" r="r" b="b"/>
              <a:pathLst>
                <a:path w="1096" h="1072" extrusionOk="0"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lnTo>
                    <a:pt x="0" y="881"/>
                  </a:lnTo>
                  <a:cubicBezTo>
                    <a:pt x="0" y="976"/>
                    <a:pt x="96" y="1072"/>
                    <a:pt x="167" y="1072"/>
                  </a:cubicBezTo>
                  <a:cubicBezTo>
                    <a:pt x="262" y="1072"/>
                    <a:pt x="358" y="976"/>
                    <a:pt x="358" y="881"/>
                  </a:cubicBezTo>
                  <a:lnTo>
                    <a:pt x="358" y="524"/>
                  </a:lnTo>
                  <a:cubicBezTo>
                    <a:pt x="358" y="405"/>
                    <a:pt x="453" y="310"/>
                    <a:pt x="572" y="310"/>
                  </a:cubicBezTo>
                  <a:lnTo>
                    <a:pt x="929" y="310"/>
                  </a:lnTo>
                  <a:cubicBezTo>
                    <a:pt x="1000" y="310"/>
                    <a:pt x="1096" y="238"/>
                    <a:pt x="1096" y="143"/>
                  </a:cubicBezTo>
                  <a:cubicBezTo>
                    <a:pt x="1072" y="71"/>
                    <a:pt x="977" y="0"/>
                    <a:pt x="8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0">
              <a:extLst>
                <a:ext uri="{FF2B5EF4-FFF2-40B4-BE49-F238E27FC236}">
                  <a16:creationId xmlns:a16="http://schemas.microsoft.com/office/drawing/2014/main" id="{6A1418FB-0415-7F1C-8CC6-C6BAEBF2BB2C}"/>
                </a:ext>
              </a:extLst>
            </p:cNvPr>
            <p:cNvSpPr/>
            <p:nvPr/>
          </p:nvSpPr>
          <p:spPr>
            <a:xfrm>
              <a:off x="7364884" y="2497219"/>
              <a:ext cx="11980" cy="36678"/>
            </a:xfrm>
            <a:custGeom>
              <a:avLst/>
              <a:gdLst/>
              <a:ahLst/>
              <a:cxnLst/>
              <a:rect l="l" t="t" r="r" b="b"/>
              <a:pathLst>
                <a:path w="358" h="1096" extrusionOk="0">
                  <a:moveTo>
                    <a:pt x="167" y="0"/>
                  </a:moveTo>
                  <a:cubicBezTo>
                    <a:pt x="72" y="0"/>
                    <a:pt x="0" y="96"/>
                    <a:pt x="0" y="191"/>
                  </a:cubicBezTo>
                  <a:lnTo>
                    <a:pt x="0" y="929"/>
                  </a:lnTo>
                  <a:cubicBezTo>
                    <a:pt x="0" y="1024"/>
                    <a:pt x="72" y="1096"/>
                    <a:pt x="167" y="1096"/>
                  </a:cubicBezTo>
                  <a:cubicBezTo>
                    <a:pt x="262" y="1096"/>
                    <a:pt x="358" y="1024"/>
                    <a:pt x="358" y="929"/>
                  </a:cubicBezTo>
                  <a:lnTo>
                    <a:pt x="358" y="191"/>
                  </a:lnTo>
                  <a:cubicBezTo>
                    <a:pt x="358" y="96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0">
              <a:extLst>
                <a:ext uri="{FF2B5EF4-FFF2-40B4-BE49-F238E27FC236}">
                  <a16:creationId xmlns:a16="http://schemas.microsoft.com/office/drawing/2014/main" id="{C476A68F-F39E-AC06-5728-0ADFF5156A00}"/>
                </a:ext>
              </a:extLst>
            </p:cNvPr>
            <p:cNvSpPr/>
            <p:nvPr/>
          </p:nvSpPr>
          <p:spPr>
            <a:xfrm>
              <a:off x="7364884" y="2447792"/>
              <a:ext cx="11980" cy="36711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906"/>
                  </a:lnTo>
                  <a:cubicBezTo>
                    <a:pt x="0" y="1001"/>
                    <a:pt x="72" y="1096"/>
                    <a:pt x="167" y="1096"/>
                  </a:cubicBezTo>
                  <a:cubicBezTo>
                    <a:pt x="262" y="1096"/>
                    <a:pt x="358" y="1001"/>
                    <a:pt x="358" y="906"/>
                  </a:cubicBezTo>
                  <a:lnTo>
                    <a:pt x="358" y="168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0">
              <a:extLst>
                <a:ext uri="{FF2B5EF4-FFF2-40B4-BE49-F238E27FC236}">
                  <a16:creationId xmlns:a16="http://schemas.microsoft.com/office/drawing/2014/main" id="{430340AF-5E04-5537-7054-A737CA0C7AE3}"/>
                </a:ext>
              </a:extLst>
            </p:cNvPr>
            <p:cNvSpPr/>
            <p:nvPr/>
          </p:nvSpPr>
          <p:spPr>
            <a:xfrm>
              <a:off x="7364884" y="2397595"/>
              <a:ext cx="11980" cy="36678"/>
            </a:xfrm>
            <a:custGeom>
              <a:avLst/>
              <a:gdLst/>
              <a:ahLst/>
              <a:cxnLst/>
              <a:rect l="l" t="t" r="r" b="b"/>
              <a:pathLst>
                <a:path w="358" h="1096" extrusionOk="0">
                  <a:moveTo>
                    <a:pt x="167" y="1"/>
                  </a:moveTo>
                  <a:cubicBezTo>
                    <a:pt x="72" y="1"/>
                    <a:pt x="0" y="96"/>
                    <a:pt x="0" y="191"/>
                  </a:cubicBezTo>
                  <a:lnTo>
                    <a:pt x="0" y="929"/>
                  </a:lnTo>
                  <a:cubicBezTo>
                    <a:pt x="0" y="1025"/>
                    <a:pt x="72" y="1096"/>
                    <a:pt x="167" y="1096"/>
                  </a:cubicBezTo>
                  <a:cubicBezTo>
                    <a:pt x="262" y="1096"/>
                    <a:pt x="358" y="1001"/>
                    <a:pt x="358" y="929"/>
                  </a:cubicBezTo>
                  <a:lnTo>
                    <a:pt x="358" y="191"/>
                  </a:lnTo>
                  <a:cubicBezTo>
                    <a:pt x="358" y="96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0">
              <a:extLst>
                <a:ext uri="{FF2B5EF4-FFF2-40B4-BE49-F238E27FC236}">
                  <a16:creationId xmlns:a16="http://schemas.microsoft.com/office/drawing/2014/main" id="{D27AD143-4622-0FD6-2E49-7AA8B7DA89A9}"/>
                </a:ext>
              </a:extLst>
            </p:cNvPr>
            <p:cNvSpPr/>
            <p:nvPr/>
          </p:nvSpPr>
          <p:spPr>
            <a:xfrm>
              <a:off x="7638222" y="2497219"/>
              <a:ext cx="12014" cy="36678"/>
            </a:xfrm>
            <a:custGeom>
              <a:avLst/>
              <a:gdLst/>
              <a:ahLst/>
              <a:cxnLst/>
              <a:rect l="l" t="t" r="r" b="b"/>
              <a:pathLst>
                <a:path w="359" h="1096" extrusionOk="0">
                  <a:moveTo>
                    <a:pt x="191" y="0"/>
                  </a:moveTo>
                  <a:cubicBezTo>
                    <a:pt x="96" y="0"/>
                    <a:pt x="1" y="96"/>
                    <a:pt x="1" y="191"/>
                  </a:cubicBezTo>
                  <a:lnTo>
                    <a:pt x="1" y="929"/>
                  </a:lnTo>
                  <a:cubicBezTo>
                    <a:pt x="1" y="1024"/>
                    <a:pt x="96" y="1096"/>
                    <a:pt x="191" y="1096"/>
                  </a:cubicBezTo>
                  <a:cubicBezTo>
                    <a:pt x="287" y="1096"/>
                    <a:pt x="358" y="1024"/>
                    <a:pt x="358" y="929"/>
                  </a:cubicBezTo>
                  <a:lnTo>
                    <a:pt x="358" y="191"/>
                  </a:lnTo>
                  <a:cubicBezTo>
                    <a:pt x="358" y="96"/>
                    <a:pt x="287" y="0"/>
                    <a:pt x="1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0">
              <a:extLst>
                <a:ext uri="{FF2B5EF4-FFF2-40B4-BE49-F238E27FC236}">
                  <a16:creationId xmlns:a16="http://schemas.microsoft.com/office/drawing/2014/main" id="{D2A1A7C2-B776-8761-77FF-D1E49A9BC620}"/>
                </a:ext>
              </a:extLst>
            </p:cNvPr>
            <p:cNvSpPr/>
            <p:nvPr/>
          </p:nvSpPr>
          <p:spPr>
            <a:xfrm>
              <a:off x="7638222" y="2447792"/>
              <a:ext cx="12014" cy="36711"/>
            </a:xfrm>
            <a:custGeom>
              <a:avLst/>
              <a:gdLst/>
              <a:ahLst/>
              <a:cxnLst/>
              <a:rect l="l" t="t" r="r" b="b"/>
              <a:pathLst>
                <a:path w="359" h="1097" extrusionOk="0">
                  <a:moveTo>
                    <a:pt x="191" y="1"/>
                  </a:moveTo>
                  <a:cubicBezTo>
                    <a:pt x="96" y="1"/>
                    <a:pt x="1" y="72"/>
                    <a:pt x="1" y="168"/>
                  </a:cubicBezTo>
                  <a:lnTo>
                    <a:pt x="1" y="906"/>
                  </a:lnTo>
                  <a:cubicBezTo>
                    <a:pt x="1" y="1001"/>
                    <a:pt x="96" y="1096"/>
                    <a:pt x="191" y="1096"/>
                  </a:cubicBezTo>
                  <a:cubicBezTo>
                    <a:pt x="287" y="1096"/>
                    <a:pt x="358" y="1001"/>
                    <a:pt x="358" y="906"/>
                  </a:cubicBezTo>
                  <a:lnTo>
                    <a:pt x="358" y="168"/>
                  </a:lnTo>
                  <a:cubicBezTo>
                    <a:pt x="358" y="72"/>
                    <a:pt x="287" y="1"/>
                    <a:pt x="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0">
              <a:extLst>
                <a:ext uri="{FF2B5EF4-FFF2-40B4-BE49-F238E27FC236}">
                  <a16:creationId xmlns:a16="http://schemas.microsoft.com/office/drawing/2014/main" id="{C3028C13-9006-7A36-9B63-C72270907F99}"/>
                </a:ext>
              </a:extLst>
            </p:cNvPr>
            <p:cNvSpPr/>
            <p:nvPr/>
          </p:nvSpPr>
          <p:spPr>
            <a:xfrm>
              <a:off x="7638222" y="2397595"/>
              <a:ext cx="12014" cy="36678"/>
            </a:xfrm>
            <a:custGeom>
              <a:avLst/>
              <a:gdLst/>
              <a:ahLst/>
              <a:cxnLst/>
              <a:rect l="l" t="t" r="r" b="b"/>
              <a:pathLst>
                <a:path w="359" h="1096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9"/>
                  </a:lnTo>
                  <a:cubicBezTo>
                    <a:pt x="1" y="1025"/>
                    <a:pt x="96" y="1096"/>
                    <a:pt x="191" y="1096"/>
                  </a:cubicBezTo>
                  <a:cubicBezTo>
                    <a:pt x="287" y="1096"/>
                    <a:pt x="358" y="1001"/>
                    <a:pt x="358" y="929"/>
                  </a:cubicBezTo>
                  <a:lnTo>
                    <a:pt x="358" y="191"/>
                  </a:lnTo>
                  <a:cubicBezTo>
                    <a:pt x="358" y="96"/>
                    <a:pt x="287" y="1"/>
                    <a:pt x="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0">
              <a:extLst>
                <a:ext uri="{FF2B5EF4-FFF2-40B4-BE49-F238E27FC236}">
                  <a16:creationId xmlns:a16="http://schemas.microsoft.com/office/drawing/2014/main" id="{2DE0D037-BC15-D305-BEA7-082F61DA63C4}"/>
                </a:ext>
              </a:extLst>
            </p:cNvPr>
            <p:cNvSpPr/>
            <p:nvPr/>
          </p:nvSpPr>
          <p:spPr>
            <a:xfrm>
              <a:off x="7613526" y="2348201"/>
              <a:ext cx="36711" cy="36678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167" y="0"/>
                  </a:moveTo>
                  <a:cubicBezTo>
                    <a:pt x="96" y="0"/>
                    <a:pt x="1" y="71"/>
                    <a:pt x="1" y="167"/>
                  </a:cubicBezTo>
                  <a:cubicBezTo>
                    <a:pt x="1" y="262"/>
                    <a:pt x="96" y="357"/>
                    <a:pt x="167" y="357"/>
                  </a:cubicBezTo>
                  <a:lnTo>
                    <a:pt x="548" y="357"/>
                  </a:lnTo>
                  <a:cubicBezTo>
                    <a:pt x="667" y="357"/>
                    <a:pt x="739" y="429"/>
                    <a:pt x="739" y="548"/>
                  </a:cubicBezTo>
                  <a:lnTo>
                    <a:pt x="739" y="905"/>
                  </a:lnTo>
                  <a:cubicBezTo>
                    <a:pt x="739" y="1000"/>
                    <a:pt x="834" y="1095"/>
                    <a:pt x="929" y="1095"/>
                  </a:cubicBezTo>
                  <a:cubicBezTo>
                    <a:pt x="1025" y="1095"/>
                    <a:pt x="1096" y="1000"/>
                    <a:pt x="1096" y="905"/>
                  </a:cubicBezTo>
                  <a:lnTo>
                    <a:pt x="1096" y="548"/>
                  </a:lnTo>
                  <a:cubicBezTo>
                    <a:pt x="1096" y="238"/>
                    <a:pt x="834" y="0"/>
                    <a:pt x="5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0">
              <a:extLst>
                <a:ext uri="{FF2B5EF4-FFF2-40B4-BE49-F238E27FC236}">
                  <a16:creationId xmlns:a16="http://schemas.microsoft.com/office/drawing/2014/main" id="{378DEA3B-AB61-9147-CC62-30D0C801281D}"/>
                </a:ext>
              </a:extLst>
            </p:cNvPr>
            <p:cNvSpPr/>
            <p:nvPr/>
          </p:nvSpPr>
          <p:spPr>
            <a:xfrm>
              <a:off x="7414278" y="2348201"/>
              <a:ext cx="36711" cy="11980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0"/>
                  </a:moveTo>
                  <a:cubicBezTo>
                    <a:pt x="96" y="0"/>
                    <a:pt x="1" y="71"/>
                    <a:pt x="1" y="167"/>
                  </a:cubicBezTo>
                  <a:cubicBezTo>
                    <a:pt x="1" y="262"/>
                    <a:pt x="96" y="357"/>
                    <a:pt x="191" y="357"/>
                  </a:cubicBezTo>
                  <a:lnTo>
                    <a:pt x="930" y="357"/>
                  </a:lnTo>
                  <a:cubicBezTo>
                    <a:pt x="1025" y="357"/>
                    <a:pt x="1096" y="262"/>
                    <a:pt x="1096" y="167"/>
                  </a:cubicBezTo>
                  <a:cubicBezTo>
                    <a:pt x="1096" y="71"/>
                    <a:pt x="1025" y="0"/>
                    <a:pt x="9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0">
              <a:extLst>
                <a:ext uri="{FF2B5EF4-FFF2-40B4-BE49-F238E27FC236}">
                  <a16:creationId xmlns:a16="http://schemas.microsoft.com/office/drawing/2014/main" id="{45574324-19C7-ED2B-5B08-5D3E422BBBD8}"/>
                </a:ext>
              </a:extLst>
            </p:cNvPr>
            <p:cNvSpPr/>
            <p:nvPr/>
          </p:nvSpPr>
          <p:spPr>
            <a:xfrm>
              <a:off x="7464508" y="2348201"/>
              <a:ext cx="36678" cy="11980"/>
            </a:xfrm>
            <a:custGeom>
              <a:avLst/>
              <a:gdLst/>
              <a:ahLst/>
              <a:cxnLst/>
              <a:rect l="l" t="t" r="r" b="b"/>
              <a:pathLst>
                <a:path w="1096" h="358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62"/>
                    <a:pt x="72" y="357"/>
                    <a:pt x="167" y="357"/>
                  </a:cubicBezTo>
                  <a:lnTo>
                    <a:pt x="905" y="357"/>
                  </a:lnTo>
                  <a:cubicBezTo>
                    <a:pt x="1000" y="357"/>
                    <a:pt x="1096" y="262"/>
                    <a:pt x="1096" y="167"/>
                  </a:cubicBezTo>
                  <a:cubicBezTo>
                    <a:pt x="1096" y="71"/>
                    <a:pt x="1000" y="0"/>
                    <a:pt x="9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40">
              <a:extLst>
                <a:ext uri="{FF2B5EF4-FFF2-40B4-BE49-F238E27FC236}">
                  <a16:creationId xmlns:a16="http://schemas.microsoft.com/office/drawing/2014/main" id="{8B16A2CD-E70A-B62B-008E-67D323E5169F}"/>
                </a:ext>
              </a:extLst>
            </p:cNvPr>
            <p:cNvSpPr/>
            <p:nvPr/>
          </p:nvSpPr>
          <p:spPr>
            <a:xfrm>
              <a:off x="7513902" y="2348201"/>
              <a:ext cx="36711" cy="11980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0"/>
                  </a:moveTo>
                  <a:cubicBezTo>
                    <a:pt x="96" y="0"/>
                    <a:pt x="1" y="71"/>
                    <a:pt x="1" y="167"/>
                  </a:cubicBezTo>
                  <a:cubicBezTo>
                    <a:pt x="1" y="262"/>
                    <a:pt x="96" y="357"/>
                    <a:pt x="191" y="357"/>
                  </a:cubicBezTo>
                  <a:lnTo>
                    <a:pt x="930" y="357"/>
                  </a:lnTo>
                  <a:cubicBezTo>
                    <a:pt x="1025" y="357"/>
                    <a:pt x="1096" y="262"/>
                    <a:pt x="1096" y="167"/>
                  </a:cubicBezTo>
                  <a:cubicBezTo>
                    <a:pt x="1096" y="71"/>
                    <a:pt x="1025" y="0"/>
                    <a:pt x="9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40">
              <a:extLst>
                <a:ext uri="{FF2B5EF4-FFF2-40B4-BE49-F238E27FC236}">
                  <a16:creationId xmlns:a16="http://schemas.microsoft.com/office/drawing/2014/main" id="{E05B339D-3995-27CE-BF23-D76415AB5820}"/>
                </a:ext>
              </a:extLst>
            </p:cNvPr>
            <p:cNvSpPr/>
            <p:nvPr/>
          </p:nvSpPr>
          <p:spPr>
            <a:xfrm>
              <a:off x="7564132" y="2348201"/>
              <a:ext cx="36678" cy="11980"/>
            </a:xfrm>
            <a:custGeom>
              <a:avLst/>
              <a:gdLst/>
              <a:ahLst/>
              <a:cxnLst/>
              <a:rect l="l" t="t" r="r" b="b"/>
              <a:pathLst>
                <a:path w="1096" h="358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62"/>
                    <a:pt x="72" y="357"/>
                    <a:pt x="167" y="357"/>
                  </a:cubicBezTo>
                  <a:lnTo>
                    <a:pt x="905" y="357"/>
                  </a:lnTo>
                  <a:cubicBezTo>
                    <a:pt x="1000" y="357"/>
                    <a:pt x="1096" y="262"/>
                    <a:pt x="1096" y="167"/>
                  </a:cubicBezTo>
                  <a:cubicBezTo>
                    <a:pt x="1096" y="71"/>
                    <a:pt x="1000" y="0"/>
                    <a:pt x="9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40">
              <a:extLst>
                <a:ext uri="{FF2B5EF4-FFF2-40B4-BE49-F238E27FC236}">
                  <a16:creationId xmlns:a16="http://schemas.microsoft.com/office/drawing/2014/main" id="{C63AE4CB-CAE4-051B-CC15-72259317CFC9}"/>
                </a:ext>
              </a:extLst>
            </p:cNvPr>
            <p:cNvSpPr/>
            <p:nvPr/>
          </p:nvSpPr>
          <p:spPr>
            <a:xfrm>
              <a:off x="7414278" y="2572113"/>
              <a:ext cx="36711" cy="12014"/>
            </a:xfrm>
            <a:custGeom>
              <a:avLst/>
              <a:gdLst/>
              <a:ahLst/>
              <a:cxnLst/>
              <a:rect l="l" t="t" r="r" b="b"/>
              <a:pathLst>
                <a:path w="1097" h="359" extrusionOk="0">
                  <a:moveTo>
                    <a:pt x="191" y="1"/>
                  </a:moveTo>
                  <a:cubicBezTo>
                    <a:pt x="96" y="1"/>
                    <a:pt x="1" y="96"/>
                    <a:pt x="1" y="168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930" y="358"/>
                  </a:lnTo>
                  <a:cubicBezTo>
                    <a:pt x="1025" y="358"/>
                    <a:pt x="1096" y="263"/>
                    <a:pt x="1096" y="168"/>
                  </a:cubicBezTo>
                  <a:cubicBezTo>
                    <a:pt x="1096" y="96"/>
                    <a:pt x="1025" y="1"/>
                    <a:pt x="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40">
              <a:extLst>
                <a:ext uri="{FF2B5EF4-FFF2-40B4-BE49-F238E27FC236}">
                  <a16:creationId xmlns:a16="http://schemas.microsoft.com/office/drawing/2014/main" id="{C7C0547D-81BF-6C4C-44A4-5D3F0697E8A9}"/>
                </a:ext>
              </a:extLst>
            </p:cNvPr>
            <p:cNvSpPr/>
            <p:nvPr/>
          </p:nvSpPr>
          <p:spPr>
            <a:xfrm>
              <a:off x="7464508" y="2572113"/>
              <a:ext cx="36678" cy="12014"/>
            </a:xfrm>
            <a:custGeom>
              <a:avLst/>
              <a:gdLst/>
              <a:ahLst/>
              <a:cxnLst/>
              <a:rect l="l" t="t" r="r" b="b"/>
              <a:pathLst>
                <a:path w="1096" h="359" extrusionOk="0">
                  <a:moveTo>
                    <a:pt x="167" y="1"/>
                  </a:moveTo>
                  <a:cubicBezTo>
                    <a:pt x="72" y="1"/>
                    <a:pt x="0" y="96"/>
                    <a:pt x="0" y="168"/>
                  </a:cubicBezTo>
                  <a:cubicBezTo>
                    <a:pt x="0" y="263"/>
                    <a:pt x="72" y="358"/>
                    <a:pt x="167" y="358"/>
                  </a:cubicBezTo>
                  <a:lnTo>
                    <a:pt x="905" y="358"/>
                  </a:lnTo>
                  <a:cubicBezTo>
                    <a:pt x="1000" y="358"/>
                    <a:pt x="1096" y="263"/>
                    <a:pt x="1096" y="168"/>
                  </a:cubicBezTo>
                  <a:cubicBezTo>
                    <a:pt x="1096" y="96"/>
                    <a:pt x="1000" y="1"/>
                    <a:pt x="9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40">
              <a:extLst>
                <a:ext uri="{FF2B5EF4-FFF2-40B4-BE49-F238E27FC236}">
                  <a16:creationId xmlns:a16="http://schemas.microsoft.com/office/drawing/2014/main" id="{4995921F-564D-B899-E9B4-AB6A50257F33}"/>
                </a:ext>
              </a:extLst>
            </p:cNvPr>
            <p:cNvSpPr/>
            <p:nvPr/>
          </p:nvSpPr>
          <p:spPr>
            <a:xfrm>
              <a:off x="7513902" y="2572113"/>
              <a:ext cx="36711" cy="12014"/>
            </a:xfrm>
            <a:custGeom>
              <a:avLst/>
              <a:gdLst/>
              <a:ahLst/>
              <a:cxnLst/>
              <a:rect l="l" t="t" r="r" b="b"/>
              <a:pathLst>
                <a:path w="1097" h="359" extrusionOk="0">
                  <a:moveTo>
                    <a:pt x="191" y="1"/>
                  </a:moveTo>
                  <a:cubicBezTo>
                    <a:pt x="96" y="1"/>
                    <a:pt x="1" y="96"/>
                    <a:pt x="1" y="168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930" y="358"/>
                  </a:lnTo>
                  <a:cubicBezTo>
                    <a:pt x="1025" y="358"/>
                    <a:pt x="1096" y="263"/>
                    <a:pt x="1096" y="168"/>
                  </a:cubicBezTo>
                  <a:cubicBezTo>
                    <a:pt x="1096" y="96"/>
                    <a:pt x="1025" y="1"/>
                    <a:pt x="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40">
              <a:extLst>
                <a:ext uri="{FF2B5EF4-FFF2-40B4-BE49-F238E27FC236}">
                  <a16:creationId xmlns:a16="http://schemas.microsoft.com/office/drawing/2014/main" id="{D6989503-0442-DE61-2289-A844DDEE7CC3}"/>
                </a:ext>
              </a:extLst>
            </p:cNvPr>
            <p:cNvSpPr/>
            <p:nvPr/>
          </p:nvSpPr>
          <p:spPr>
            <a:xfrm>
              <a:off x="7564132" y="2572113"/>
              <a:ext cx="36678" cy="12014"/>
            </a:xfrm>
            <a:custGeom>
              <a:avLst/>
              <a:gdLst/>
              <a:ahLst/>
              <a:cxnLst/>
              <a:rect l="l" t="t" r="r" b="b"/>
              <a:pathLst>
                <a:path w="1096" h="359" extrusionOk="0">
                  <a:moveTo>
                    <a:pt x="167" y="1"/>
                  </a:moveTo>
                  <a:cubicBezTo>
                    <a:pt x="72" y="1"/>
                    <a:pt x="0" y="96"/>
                    <a:pt x="0" y="168"/>
                  </a:cubicBezTo>
                  <a:cubicBezTo>
                    <a:pt x="0" y="263"/>
                    <a:pt x="72" y="358"/>
                    <a:pt x="167" y="358"/>
                  </a:cubicBezTo>
                  <a:lnTo>
                    <a:pt x="905" y="358"/>
                  </a:lnTo>
                  <a:cubicBezTo>
                    <a:pt x="1000" y="358"/>
                    <a:pt x="1096" y="263"/>
                    <a:pt x="1096" y="168"/>
                  </a:cubicBezTo>
                  <a:cubicBezTo>
                    <a:pt x="1096" y="96"/>
                    <a:pt x="1000" y="1"/>
                    <a:pt x="9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40">
              <a:extLst>
                <a:ext uri="{FF2B5EF4-FFF2-40B4-BE49-F238E27FC236}">
                  <a16:creationId xmlns:a16="http://schemas.microsoft.com/office/drawing/2014/main" id="{2FEEB137-50EC-5570-26AF-95ECB0034F1F}"/>
                </a:ext>
              </a:extLst>
            </p:cNvPr>
            <p:cNvSpPr/>
            <p:nvPr/>
          </p:nvSpPr>
          <p:spPr>
            <a:xfrm>
              <a:off x="7568114" y="2509166"/>
              <a:ext cx="193695" cy="135500"/>
            </a:xfrm>
            <a:custGeom>
              <a:avLst/>
              <a:gdLst/>
              <a:ahLst/>
              <a:cxnLst/>
              <a:rect l="l" t="t" r="r" b="b"/>
              <a:pathLst>
                <a:path w="5788" h="4049" extrusionOk="0">
                  <a:moveTo>
                    <a:pt x="5001" y="358"/>
                  </a:moveTo>
                  <a:cubicBezTo>
                    <a:pt x="5263" y="358"/>
                    <a:pt x="5478" y="572"/>
                    <a:pt x="5478" y="834"/>
                  </a:cubicBezTo>
                  <a:cubicBezTo>
                    <a:pt x="5478" y="1096"/>
                    <a:pt x="5263" y="1310"/>
                    <a:pt x="5001" y="1310"/>
                  </a:cubicBezTo>
                  <a:lnTo>
                    <a:pt x="4430" y="1310"/>
                  </a:lnTo>
                  <a:cubicBezTo>
                    <a:pt x="4168" y="1310"/>
                    <a:pt x="3953" y="1096"/>
                    <a:pt x="3953" y="834"/>
                  </a:cubicBezTo>
                  <a:cubicBezTo>
                    <a:pt x="3953" y="572"/>
                    <a:pt x="4168" y="358"/>
                    <a:pt x="4430" y="358"/>
                  </a:cubicBezTo>
                  <a:close/>
                  <a:moveTo>
                    <a:pt x="2644" y="1810"/>
                  </a:moveTo>
                  <a:cubicBezTo>
                    <a:pt x="2763" y="1810"/>
                    <a:pt x="2858" y="1906"/>
                    <a:pt x="2858" y="2025"/>
                  </a:cubicBezTo>
                  <a:cubicBezTo>
                    <a:pt x="2858" y="2144"/>
                    <a:pt x="2763" y="2239"/>
                    <a:pt x="2644" y="2239"/>
                  </a:cubicBezTo>
                  <a:cubicBezTo>
                    <a:pt x="2525" y="2239"/>
                    <a:pt x="2429" y="2144"/>
                    <a:pt x="2429" y="2025"/>
                  </a:cubicBezTo>
                  <a:cubicBezTo>
                    <a:pt x="2429" y="1906"/>
                    <a:pt x="2525" y="1810"/>
                    <a:pt x="2644" y="1810"/>
                  </a:cubicBezTo>
                  <a:close/>
                  <a:moveTo>
                    <a:pt x="4954" y="2763"/>
                  </a:moveTo>
                  <a:cubicBezTo>
                    <a:pt x="5239" y="2763"/>
                    <a:pt x="5430" y="2977"/>
                    <a:pt x="5430" y="3239"/>
                  </a:cubicBezTo>
                  <a:cubicBezTo>
                    <a:pt x="5430" y="3525"/>
                    <a:pt x="5239" y="3716"/>
                    <a:pt x="4954" y="3716"/>
                  </a:cubicBezTo>
                  <a:lnTo>
                    <a:pt x="4406" y="3716"/>
                  </a:lnTo>
                  <a:cubicBezTo>
                    <a:pt x="4120" y="3716"/>
                    <a:pt x="3930" y="3525"/>
                    <a:pt x="3930" y="3239"/>
                  </a:cubicBezTo>
                  <a:cubicBezTo>
                    <a:pt x="3930" y="2977"/>
                    <a:pt x="4120" y="2763"/>
                    <a:pt x="4406" y="2763"/>
                  </a:cubicBezTo>
                  <a:close/>
                  <a:moveTo>
                    <a:pt x="4406" y="1"/>
                  </a:moveTo>
                  <a:cubicBezTo>
                    <a:pt x="3953" y="1"/>
                    <a:pt x="3572" y="358"/>
                    <a:pt x="3572" y="834"/>
                  </a:cubicBezTo>
                  <a:cubicBezTo>
                    <a:pt x="3572" y="953"/>
                    <a:pt x="3596" y="1072"/>
                    <a:pt x="3620" y="1167"/>
                  </a:cubicBezTo>
                  <a:lnTo>
                    <a:pt x="2929" y="1596"/>
                  </a:lnTo>
                  <a:cubicBezTo>
                    <a:pt x="2858" y="1548"/>
                    <a:pt x="2739" y="1501"/>
                    <a:pt x="2620" y="1501"/>
                  </a:cubicBezTo>
                  <a:cubicBezTo>
                    <a:pt x="2501" y="1501"/>
                    <a:pt x="2382" y="1525"/>
                    <a:pt x="2286" y="1596"/>
                  </a:cubicBezTo>
                  <a:lnTo>
                    <a:pt x="286" y="262"/>
                  </a:lnTo>
                  <a:cubicBezTo>
                    <a:pt x="254" y="247"/>
                    <a:pt x="225" y="239"/>
                    <a:pt x="198" y="239"/>
                  </a:cubicBezTo>
                  <a:cubicBezTo>
                    <a:pt x="143" y="239"/>
                    <a:pt x="95" y="270"/>
                    <a:pt x="48" y="334"/>
                  </a:cubicBezTo>
                  <a:cubicBezTo>
                    <a:pt x="0" y="405"/>
                    <a:pt x="24" y="501"/>
                    <a:pt x="119" y="572"/>
                  </a:cubicBezTo>
                  <a:lnTo>
                    <a:pt x="2096" y="1882"/>
                  </a:lnTo>
                  <a:cubicBezTo>
                    <a:pt x="2096" y="1929"/>
                    <a:pt x="2072" y="1953"/>
                    <a:pt x="2072" y="2025"/>
                  </a:cubicBezTo>
                  <a:cubicBezTo>
                    <a:pt x="2072" y="2072"/>
                    <a:pt x="2072" y="2120"/>
                    <a:pt x="2096" y="2168"/>
                  </a:cubicBezTo>
                  <a:lnTo>
                    <a:pt x="119" y="3477"/>
                  </a:lnTo>
                  <a:cubicBezTo>
                    <a:pt x="24" y="3549"/>
                    <a:pt x="24" y="3620"/>
                    <a:pt x="48" y="3716"/>
                  </a:cubicBezTo>
                  <a:cubicBezTo>
                    <a:pt x="72" y="3787"/>
                    <a:pt x="143" y="3811"/>
                    <a:pt x="191" y="3811"/>
                  </a:cubicBezTo>
                  <a:cubicBezTo>
                    <a:pt x="238" y="3811"/>
                    <a:pt x="262" y="3811"/>
                    <a:pt x="286" y="3787"/>
                  </a:cubicBezTo>
                  <a:lnTo>
                    <a:pt x="2286" y="2430"/>
                  </a:lnTo>
                  <a:cubicBezTo>
                    <a:pt x="2382" y="2501"/>
                    <a:pt x="2501" y="2549"/>
                    <a:pt x="2620" y="2549"/>
                  </a:cubicBezTo>
                  <a:cubicBezTo>
                    <a:pt x="2739" y="2549"/>
                    <a:pt x="2858" y="2525"/>
                    <a:pt x="2929" y="2430"/>
                  </a:cubicBezTo>
                  <a:lnTo>
                    <a:pt x="3620" y="2882"/>
                  </a:lnTo>
                  <a:cubicBezTo>
                    <a:pt x="3596" y="2977"/>
                    <a:pt x="3572" y="3096"/>
                    <a:pt x="3572" y="3215"/>
                  </a:cubicBezTo>
                  <a:cubicBezTo>
                    <a:pt x="3572" y="3668"/>
                    <a:pt x="3930" y="4049"/>
                    <a:pt x="4406" y="4049"/>
                  </a:cubicBezTo>
                  <a:lnTo>
                    <a:pt x="4954" y="4049"/>
                  </a:lnTo>
                  <a:cubicBezTo>
                    <a:pt x="5406" y="4049"/>
                    <a:pt x="5787" y="3692"/>
                    <a:pt x="5787" y="3215"/>
                  </a:cubicBezTo>
                  <a:cubicBezTo>
                    <a:pt x="5787" y="2811"/>
                    <a:pt x="5430" y="2430"/>
                    <a:pt x="4954" y="2430"/>
                  </a:cubicBezTo>
                  <a:lnTo>
                    <a:pt x="4406" y="2430"/>
                  </a:lnTo>
                  <a:cubicBezTo>
                    <a:pt x="4192" y="2430"/>
                    <a:pt x="3977" y="2525"/>
                    <a:pt x="3834" y="2644"/>
                  </a:cubicBezTo>
                  <a:lnTo>
                    <a:pt x="3144" y="2191"/>
                  </a:lnTo>
                  <a:cubicBezTo>
                    <a:pt x="3144" y="2144"/>
                    <a:pt x="3167" y="2120"/>
                    <a:pt x="3167" y="2049"/>
                  </a:cubicBezTo>
                  <a:cubicBezTo>
                    <a:pt x="3167" y="2001"/>
                    <a:pt x="3167" y="1953"/>
                    <a:pt x="3144" y="1906"/>
                  </a:cubicBezTo>
                  <a:lnTo>
                    <a:pt x="3834" y="1453"/>
                  </a:lnTo>
                  <a:cubicBezTo>
                    <a:pt x="3977" y="1572"/>
                    <a:pt x="4168" y="1668"/>
                    <a:pt x="4406" y="1668"/>
                  </a:cubicBezTo>
                  <a:lnTo>
                    <a:pt x="4954" y="1668"/>
                  </a:lnTo>
                  <a:cubicBezTo>
                    <a:pt x="5406" y="1668"/>
                    <a:pt x="5787" y="1310"/>
                    <a:pt x="5787" y="834"/>
                  </a:cubicBezTo>
                  <a:cubicBezTo>
                    <a:pt x="5787" y="382"/>
                    <a:pt x="5430" y="1"/>
                    <a:pt x="4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40">
              <a:extLst>
                <a:ext uri="{FF2B5EF4-FFF2-40B4-BE49-F238E27FC236}">
                  <a16:creationId xmlns:a16="http://schemas.microsoft.com/office/drawing/2014/main" id="{F68D6092-4129-47DD-BD69-0A04D97F2EA6}"/>
                </a:ext>
              </a:extLst>
            </p:cNvPr>
            <p:cNvSpPr/>
            <p:nvPr/>
          </p:nvSpPr>
          <p:spPr>
            <a:xfrm>
              <a:off x="7454134" y="2413122"/>
              <a:ext cx="106820" cy="104846"/>
            </a:xfrm>
            <a:custGeom>
              <a:avLst/>
              <a:gdLst/>
              <a:ahLst/>
              <a:cxnLst/>
              <a:rect l="l" t="t" r="r" b="b"/>
              <a:pathLst>
                <a:path w="3192" h="3133" extrusionOk="0">
                  <a:moveTo>
                    <a:pt x="2986" y="1"/>
                  </a:moveTo>
                  <a:cubicBezTo>
                    <a:pt x="2942" y="1"/>
                    <a:pt x="2894" y="13"/>
                    <a:pt x="2858" y="37"/>
                  </a:cubicBezTo>
                  <a:lnTo>
                    <a:pt x="72" y="2847"/>
                  </a:lnTo>
                  <a:cubicBezTo>
                    <a:pt x="1" y="2894"/>
                    <a:pt x="1" y="3013"/>
                    <a:pt x="72" y="3085"/>
                  </a:cubicBezTo>
                  <a:cubicBezTo>
                    <a:pt x="96" y="3109"/>
                    <a:pt x="144" y="3132"/>
                    <a:pt x="191" y="3132"/>
                  </a:cubicBezTo>
                  <a:cubicBezTo>
                    <a:pt x="215" y="3132"/>
                    <a:pt x="263" y="3109"/>
                    <a:pt x="310" y="3085"/>
                  </a:cubicBezTo>
                  <a:lnTo>
                    <a:pt x="3097" y="275"/>
                  </a:lnTo>
                  <a:cubicBezTo>
                    <a:pt x="3192" y="227"/>
                    <a:pt x="3192" y="132"/>
                    <a:pt x="3097" y="37"/>
                  </a:cubicBezTo>
                  <a:cubicBezTo>
                    <a:pt x="3073" y="13"/>
                    <a:pt x="3031" y="1"/>
                    <a:pt x="2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40">
              <a:extLst>
                <a:ext uri="{FF2B5EF4-FFF2-40B4-BE49-F238E27FC236}">
                  <a16:creationId xmlns:a16="http://schemas.microsoft.com/office/drawing/2014/main" id="{55651868-01A2-B405-5DFC-4F34792A3315}"/>
                </a:ext>
              </a:extLst>
            </p:cNvPr>
            <p:cNvSpPr/>
            <p:nvPr/>
          </p:nvSpPr>
          <p:spPr>
            <a:xfrm>
              <a:off x="7450955" y="2410345"/>
              <a:ext cx="50231" cy="50231"/>
            </a:xfrm>
            <a:custGeom>
              <a:avLst/>
              <a:gdLst/>
              <a:ahLst/>
              <a:cxnLst/>
              <a:rect l="l" t="t" r="r" b="b"/>
              <a:pathLst>
                <a:path w="1501" h="1501" extrusionOk="0">
                  <a:moveTo>
                    <a:pt x="763" y="334"/>
                  </a:moveTo>
                  <a:cubicBezTo>
                    <a:pt x="953" y="334"/>
                    <a:pt x="1144" y="501"/>
                    <a:pt x="1144" y="715"/>
                  </a:cubicBezTo>
                  <a:cubicBezTo>
                    <a:pt x="1144" y="929"/>
                    <a:pt x="953" y="1120"/>
                    <a:pt x="763" y="1120"/>
                  </a:cubicBezTo>
                  <a:cubicBezTo>
                    <a:pt x="548" y="1120"/>
                    <a:pt x="358" y="929"/>
                    <a:pt x="358" y="715"/>
                  </a:cubicBezTo>
                  <a:cubicBezTo>
                    <a:pt x="358" y="524"/>
                    <a:pt x="548" y="334"/>
                    <a:pt x="763" y="334"/>
                  </a:cubicBezTo>
                  <a:close/>
                  <a:moveTo>
                    <a:pt x="763" y="1"/>
                  </a:moveTo>
                  <a:cubicBezTo>
                    <a:pt x="334" y="1"/>
                    <a:pt x="0" y="334"/>
                    <a:pt x="0" y="763"/>
                  </a:cubicBezTo>
                  <a:cubicBezTo>
                    <a:pt x="0" y="1167"/>
                    <a:pt x="334" y="1501"/>
                    <a:pt x="763" y="1501"/>
                  </a:cubicBezTo>
                  <a:cubicBezTo>
                    <a:pt x="1167" y="1501"/>
                    <a:pt x="1501" y="1167"/>
                    <a:pt x="1501" y="763"/>
                  </a:cubicBezTo>
                  <a:cubicBezTo>
                    <a:pt x="1501" y="334"/>
                    <a:pt x="1167" y="1"/>
                    <a:pt x="7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40">
              <a:extLst>
                <a:ext uri="{FF2B5EF4-FFF2-40B4-BE49-F238E27FC236}">
                  <a16:creationId xmlns:a16="http://schemas.microsoft.com/office/drawing/2014/main" id="{C6B64DAC-E2E2-377B-0F52-A9E3D492F964}"/>
                </a:ext>
              </a:extLst>
            </p:cNvPr>
            <p:cNvSpPr/>
            <p:nvPr/>
          </p:nvSpPr>
          <p:spPr>
            <a:xfrm>
              <a:off x="7513098" y="2472522"/>
              <a:ext cx="49461" cy="49428"/>
            </a:xfrm>
            <a:custGeom>
              <a:avLst/>
              <a:gdLst/>
              <a:ahLst/>
              <a:cxnLst/>
              <a:rect l="l" t="t" r="r" b="b"/>
              <a:pathLst>
                <a:path w="1478" h="1477" extrusionOk="0">
                  <a:moveTo>
                    <a:pt x="739" y="357"/>
                  </a:moveTo>
                  <a:cubicBezTo>
                    <a:pt x="954" y="357"/>
                    <a:pt x="1120" y="524"/>
                    <a:pt x="1120" y="738"/>
                  </a:cubicBezTo>
                  <a:cubicBezTo>
                    <a:pt x="1120" y="953"/>
                    <a:pt x="977" y="1119"/>
                    <a:pt x="739" y="1119"/>
                  </a:cubicBezTo>
                  <a:cubicBezTo>
                    <a:pt x="525" y="1119"/>
                    <a:pt x="358" y="953"/>
                    <a:pt x="358" y="738"/>
                  </a:cubicBezTo>
                  <a:cubicBezTo>
                    <a:pt x="358" y="524"/>
                    <a:pt x="525" y="357"/>
                    <a:pt x="739" y="357"/>
                  </a:cubicBezTo>
                  <a:close/>
                  <a:moveTo>
                    <a:pt x="739" y="0"/>
                  </a:moveTo>
                  <a:cubicBezTo>
                    <a:pt x="334" y="0"/>
                    <a:pt x="1" y="333"/>
                    <a:pt x="1" y="738"/>
                  </a:cubicBezTo>
                  <a:cubicBezTo>
                    <a:pt x="1" y="1143"/>
                    <a:pt x="334" y="1477"/>
                    <a:pt x="739" y="1477"/>
                  </a:cubicBezTo>
                  <a:cubicBezTo>
                    <a:pt x="1168" y="1477"/>
                    <a:pt x="1477" y="1143"/>
                    <a:pt x="1477" y="738"/>
                  </a:cubicBezTo>
                  <a:cubicBezTo>
                    <a:pt x="1477" y="333"/>
                    <a:pt x="1168" y="0"/>
                    <a:pt x="7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4" name="Google Shape;2734;p40">
            <a:extLst>
              <a:ext uri="{FF2B5EF4-FFF2-40B4-BE49-F238E27FC236}">
                <a16:creationId xmlns:a16="http://schemas.microsoft.com/office/drawing/2014/main" id="{E98D86EF-C210-AA82-C7EB-56F29EA5901D}"/>
              </a:ext>
            </a:extLst>
          </p:cNvPr>
          <p:cNvGrpSpPr/>
          <p:nvPr/>
        </p:nvGrpSpPr>
        <p:grpSpPr>
          <a:xfrm>
            <a:off x="2187657" y="3050881"/>
            <a:ext cx="485647" cy="384391"/>
            <a:chOff x="6705800" y="4250663"/>
            <a:chExt cx="398535" cy="315441"/>
          </a:xfrm>
        </p:grpSpPr>
        <p:sp>
          <p:nvSpPr>
            <p:cNvPr id="2735" name="Google Shape;2735;p40">
              <a:extLst>
                <a:ext uri="{FF2B5EF4-FFF2-40B4-BE49-F238E27FC236}">
                  <a16:creationId xmlns:a16="http://schemas.microsoft.com/office/drawing/2014/main" id="{C17F4259-3A22-BE50-B105-7D59B894C8AC}"/>
                </a:ext>
              </a:extLst>
            </p:cNvPr>
            <p:cNvSpPr/>
            <p:nvPr/>
          </p:nvSpPr>
          <p:spPr>
            <a:xfrm>
              <a:off x="6781530" y="4518246"/>
              <a:ext cx="23927" cy="23927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7" y="1"/>
                  </a:moveTo>
                  <a:cubicBezTo>
                    <a:pt x="167" y="1"/>
                    <a:pt x="0" y="167"/>
                    <a:pt x="0" y="358"/>
                  </a:cubicBezTo>
                  <a:cubicBezTo>
                    <a:pt x="0" y="572"/>
                    <a:pt x="167" y="715"/>
                    <a:pt x="357" y="715"/>
                  </a:cubicBezTo>
                  <a:cubicBezTo>
                    <a:pt x="572" y="715"/>
                    <a:pt x="715" y="572"/>
                    <a:pt x="715" y="358"/>
                  </a:cubicBezTo>
                  <a:cubicBezTo>
                    <a:pt x="715" y="167"/>
                    <a:pt x="572" y="1"/>
                    <a:pt x="3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40">
              <a:extLst>
                <a:ext uri="{FF2B5EF4-FFF2-40B4-BE49-F238E27FC236}">
                  <a16:creationId xmlns:a16="http://schemas.microsoft.com/office/drawing/2014/main" id="{79F552C7-6600-5AF8-97BD-D0C7927CAED3}"/>
                </a:ext>
              </a:extLst>
            </p:cNvPr>
            <p:cNvSpPr/>
            <p:nvPr/>
          </p:nvSpPr>
          <p:spPr>
            <a:xfrm>
              <a:off x="7030975" y="4518246"/>
              <a:ext cx="23927" cy="23927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7" y="1"/>
                  </a:moveTo>
                  <a:cubicBezTo>
                    <a:pt x="143" y="1"/>
                    <a:pt x="0" y="167"/>
                    <a:pt x="0" y="358"/>
                  </a:cubicBezTo>
                  <a:cubicBezTo>
                    <a:pt x="0" y="572"/>
                    <a:pt x="143" y="715"/>
                    <a:pt x="357" y="715"/>
                  </a:cubicBezTo>
                  <a:cubicBezTo>
                    <a:pt x="572" y="715"/>
                    <a:pt x="715" y="572"/>
                    <a:pt x="715" y="358"/>
                  </a:cubicBezTo>
                  <a:cubicBezTo>
                    <a:pt x="715" y="167"/>
                    <a:pt x="572" y="1"/>
                    <a:pt x="3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40">
              <a:extLst>
                <a:ext uri="{FF2B5EF4-FFF2-40B4-BE49-F238E27FC236}">
                  <a16:creationId xmlns:a16="http://schemas.microsoft.com/office/drawing/2014/main" id="{8F321CED-E510-EC7A-CFB2-21B4223A3934}"/>
                </a:ext>
              </a:extLst>
            </p:cNvPr>
            <p:cNvSpPr/>
            <p:nvPr/>
          </p:nvSpPr>
          <p:spPr>
            <a:xfrm>
              <a:off x="6705800" y="4250663"/>
              <a:ext cx="398535" cy="315441"/>
            </a:xfrm>
            <a:custGeom>
              <a:avLst/>
              <a:gdLst/>
              <a:ahLst/>
              <a:cxnLst/>
              <a:rect l="l" t="t" r="r" b="b"/>
              <a:pathLst>
                <a:path w="11909" h="9426" extrusionOk="0">
                  <a:moveTo>
                    <a:pt x="2382" y="328"/>
                  </a:moveTo>
                  <a:cubicBezTo>
                    <a:pt x="2549" y="328"/>
                    <a:pt x="2716" y="376"/>
                    <a:pt x="2811" y="543"/>
                  </a:cubicBezTo>
                  <a:cubicBezTo>
                    <a:pt x="2930" y="709"/>
                    <a:pt x="3073" y="1067"/>
                    <a:pt x="3216" y="1448"/>
                  </a:cubicBezTo>
                  <a:cubicBezTo>
                    <a:pt x="3144" y="1400"/>
                    <a:pt x="3049" y="1376"/>
                    <a:pt x="2954" y="1329"/>
                  </a:cubicBezTo>
                  <a:cubicBezTo>
                    <a:pt x="2836" y="1296"/>
                    <a:pt x="2708" y="1283"/>
                    <a:pt x="2581" y="1283"/>
                  </a:cubicBezTo>
                  <a:cubicBezTo>
                    <a:pt x="2427" y="1283"/>
                    <a:pt x="2275" y="1302"/>
                    <a:pt x="2144" y="1329"/>
                  </a:cubicBezTo>
                  <a:cubicBezTo>
                    <a:pt x="2073" y="1305"/>
                    <a:pt x="2001" y="1257"/>
                    <a:pt x="1977" y="1186"/>
                  </a:cubicBezTo>
                  <a:cubicBezTo>
                    <a:pt x="1787" y="947"/>
                    <a:pt x="1858" y="614"/>
                    <a:pt x="2073" y="447"/>
                  </a:cubicBezTo>
                  <a:cubicBezTo>
                    <a:pt x="2144" y="376"/>
                    <a:pt x="2263" y="328"/>
                    <a:pt x="2382" y="328"/>
                  </a:cubicBezTo>
                  <a:close/>
                  <a:moveTo>
                    <a:pt x="5097" y="352"/>
                  </a:moveTo>
                  <a:cubicBezTo>
                    <a:pt x="5216" y="352"/>
                    <a:pt x="5335" y="376"/>
                    <a:pt x="5431" y="471"/>
                  </a:cubicBezTo>
                  <a:cubicBezTo>
                    <a:pt x="5550" y="566"/>
                    <a:pt x="5597" y="686"/>
                    <a:pt x="5645" y="828"/>
                  </a:cubicBezTo>
                  <a:cubicBezTo>
                    <a:pt x="5669" y="971"/>
                    <a:pt x="5597" y="1090"/>
                    <a:pt x="5550" y="1209"/>
                  </a:cubicBezTo>
                  <a:cubicBezTo>
                    <a:pt x="5526" y="1281"/>
                    <a:pt x="5454" y="1329"/>
                    <a:pt x="5359" y="1400"/>
                  </a:cubicBezTo>
                  <a:cubicBezTo>
                    <a:pt x="5232" y="1362"/>
                    <a:pt x="5091" y="1337"/>
                    <a:pt x="4947" y="1337"/>
                  </a:cubicBezTo>
                  <a:cubicBezTo>
                    <a:pt x="4822" y="1337"/>
                    <a:pt x="4695" y="1356"/>
                    <a:pt x="4573" y="1400"/>
                  </a:cubicBezTo>
                  <a:cubicBezTo>
                    <a:pt x="4478" y="1424"/>
                    <a:pt x="4383" y="1495"/>
                    <a:pt x="4288" y="1519"/>
                  </a:cubicBezTo>
                  <a:cubicBezTo>
                    <a:pt x="4407" y="1090"/>
                    <a:pt x="4573" y="709"/>
                    <a:pt x="4692" y="566"/>
                  </a:cubicBezTo>
                  <a:cubicBezTo>
                    <a:pt x="4764" y="447"/>
                    <a:pt x="4883" y="376"/>
                    <a:pt x="5050" y="352"/>
                  </a:cubicBezTo>
                  <a:close/>
                  <a:moveTo>
                    <a:pt x="2549" y="1662"/>
                  </a:moveTo>
                  <a:cubicBezTo>
                    <a:pt x="2668" y="1662"/>
                    <a:pt x="2740" y="1662"/>
                    <a:pt x="2859" y="1686"/>
                  </a:cubicBezTo>
                  <a:cubicBezTo>
                    <a:pt x="3073" y="1757"/>
                    <a:pt x="3287" y="1924"/>
                    <a:pt x="3406" y="2210"/>
                  </a:cubicBezTo>
                  <a:cubicBezTo>
                    <a:pt x="3144" y="2019"/>
                    <a:pt x="2811" y="1852"/>
                    <a:pt x="2549" y="1662"/>
                  </a:cubicBezTo>
                  <a:close/>
                  <a:moveTo>
                    <a:pt x="4878" y="1652"/>
                  </a:moveTo>
                  <a:cubicBezTo>
                    <a:pt x="4910" y="1652"/>
                    <a:pt x="4943" y="1655"/>
                    <a:pt x="4978" y="1662"/>
                  </a:cubicBezTo>
                  <a:cubicBezTo>
                    <a:pt x="4716" y="1852"/>
                    <a:pt x="4383" y="2043"/>
                    <a:pt x="4121" y="2210"/>
                  </a:cubicBezTo>
                  <a:cubicBezTo>
                    <a:pt x="4240" y="1924"/>
                    <a:pt x="4407" y="1757"/>
                    <a:pt x="4645" y="1686"/>
                  </a:cubicBezTo>
                  <a:cubicBezTo>
                    <a:pt x="4729" y="1669"/>
                    <a:pt x="4801" y="1652"/>
                    <a:pt x="4878" y="1652"/>
                  </a:cubicBezTo>
                  <a:close/>
                  <a:moveTo>
                    <a:pt x="3216" y="2757"/>
                  </a:moveTo>
                  <a:lnTo>
                    <a:pt x="3216" y="3900"/>
                  </a:lnTo>
                  <a:lnTo>
                    <a:pt x="406" y="3900"/>
                  </a:lnTo>
                  <a:lnTo>
                    <a:pt x="406" y="2757"/>
                  </a:lnTo>
                  <a:close/>
                  <a:moveTo>
                    <a:pt x="7074" y="2757"/>
                  </a:moveTo>
                  <a:lnTo>
                    <a:pt x="7074" y="3900"/>
                  </a:lnTo>
                  <a:lnTo>
                    <a:pt x="4264" y="3900"/>
                  </a:lnTo>
                  <a:lnTo>
                    <a:pt x="4264" y="2757"/>
                  </a:lnTo>
                  <a:close/>
                  <a:moveTo>
                    <a:pt x="9050" y="3519"/>
                  </a:moveTo>
                  <a:cubicBezTo>
                    <a:pt x="9146" y="3519"/>
                    <a:pt x="9217" y="3567"/>
                    <a:pt x="9241" y="3639"/>
                  </a:cubicBezTo>
                  <a:lnTo>
                    <a:pt x="9336" y="3900"/>
                  </a:lnTo>
                  <a:lnTo>
                    <a:pt x="7431" y="3900"/>
                  </a:lnTo>
                  <a:lnTo>
                    <a:pt x="7431" y="3519"/>
                  </a:lnTo>
                  <a:close/>
                  <a:moveTo>
                    <a:pt x="8741" y="4258"/>
                  </a:moveTo>
                  <a:lnTo>
                    <a:pt x="9098" y="5210"/>
                  </a:lnTo>
                  <a:lnTo>
                    <a:pt x="7264" y="5210"/>
                  </a:lnTo>
                  <a:lnTo>
                    <a:pt x="7264" y="4258"/>
                  </a:lnTo>
                  <a:close/>
                  <a:moveTo>
                    <a:pt x="9479" y="4258"/>
                  </a:moveTo>
                  <a:lnTo>
                    <a:pt x="9836" y="5210"/>
                  </a:lnTo>
                  <a:lnTo>
                    <a:pt x="9455" y="5210"/>
                  </a:lnTo>
                  <a:lnTo>
                    <a:pt x="9098" y="4258"/>
                  </a:lnTo>
                  <a:close/>
                  <a:moveTo>
                    <a:pt x="3192" y="4258"/>
                  </a:moveTo>
                  <a:lnTo>
                    <a:pt x="3192" y="7044"/>
                  </a:lnTo>
                  <a:lnTo>
                    <a:pt x="572" y="7044"/>
                  </a:lnTo>
                  <a:lnTo>
                    <a:pt x="572" y="4258"/>
                  </a:lnTo>
                  <a:close/>
                  <a:moveTo>
                    <a:pt x="3930" y="2757"/>
                  </a:moveTo>
                  <a:lnTo>
                    <a:pt x="3930" y="7044"/>
                  </a:lnTo>
                  <a:lnTo>
                    <a:pt x="3549" y="7044"/>
                  </a:lnTo>
                  <a:lnTo>
                    <a:pt x="3549" y="2757"/>
                  </a:lnTo>
                  <a:close/>
                  <a:moveTo>
                    <a:pt x="6907" y="4258"/>
                  </a:moveTo>
                  <a:lnTo>
                    <a:pt x="6907" y="7044"/>
                  </a:lnTo>
                  <a:lnTo>
                    <a:pt x="4288" y="7044"/>
                  </a:lnTo>
                  <a:lnTo>
                    <a:pt x="4288" y="4258"/>
                  </a:lnTo>
                  <a:close/>
                  <a:moveTo>
                    <a:pt x="2073" y="7401"/>
                  </a:moveTo>
                  <a:cubicBezTo>
                    <a:pt x="1882" y="7496"/>
                    <a:pt x="1763" y="7639"/>
                    <a:pt x="1668" y="7806"/>
                  </a:cubicBezTo>
                  <a:lnTo>
                    <a:pt x="572" y="7806"/>
                  </a:lnTo>
                  <a:lnTo>
                    <a:pt x="572" y="7401"/>
                  </a:lnTo>
                  <a:close/>
                  <a:moveTo>
                    <a:pt x="6907" y="7401"/>
                  </a:moveTo>
                  <a:lnTo>
                    <a:pt x="6907" y="7806"/>
                  </a:lnTo>
                  <a:lnTo>
                    <a:pt x="3573" y="7806"/>
                  </a:lnTo>
                  <a:cubicBezTo>
                    <a:pt x="3502" y="7639"/>
                    <a:pt x="3335" y="7496"/>
                    <a:pt x="3192" y="7401"/>
                  </a:cubicBezTo>
                  <a:close/>
                  <a:moveTo>
                    <a:pt x="10003" y="5544"/>
                  </a:moveTo>
                  <a:lnTo>
                    <a:pt x="11408" y="6020"/>
                  </a:lnTo>
                  <a:cubicBezTo>
                    <a:pt x="11503" y="6044"/>
                    <a:pt x="11551" y="6091"/>
                    <a:pt x="11551" y="6187"/>
                  </a:cubicBezTo>
                  <a:lnTo>
                    <a:pt x="11551" y="6520"/>
                  </a:lnTo>
                  <a:lnTo>
                    <a:pt x="11360" y="6520"/>
                  </a:lnTo>
                  <a:cubicBezTo>
                    <a:pt x="11265" y="6520"/>
                    <a:pt x="11170" y="6615"/>
                    <a:pt x="11170" y="6687"/>
                  </a:cubicBezTo>
                  <a:cubicBezTo>
                    <a:pt x="11170" y="6782"/>
                    <a:pt x="11265" y="6877"/>
                    <a:pt x="11360" y="6877"/>
                  </a:cubicBezTo>
                  <a:lnTo>
                    <a:pt x="11551" y="6877"/>
                  </a:lnTo>
                  <a:lnTo>
                    <a:pt x="11551" y="7282"/>
                  </a:lnTo>
                  <a:cubicBezTo>
                    <a:pt x="11551" y="7449"/>
                    <a:pt x="11479" y="7568"/>
                    <a:pt x="11360" y="7639"/>
                  </a:cubicBezTo>
                  <a:lnTo>
                    <a:pt x="11003" y="7830"/>
                  </a:lnTo>
                  <a:cubicBezTo>
                    <a:pt x="10789" y="7496"/>
                    <a:pt x="10455" y="7282"/>
                    <a:pt x="10027" y="7282"/>
                  </a:cubicBezTo>
                  <a:cubicBezTo>
                    <a:pt x="9622" y="7282"/>
                    <a:pt x="9265" y="7520"/>
                    <a:pt x="9074" y="7854"/>
                  </a:cubicBezTo>
                  <a:lnTo>
                    <a:pt x="7240" y="7854"/>
                  </a:lnTo>
                  <a:lnTo>
                    <a:pt x="7240" y="6853"/>
                  </a:lnTo>
                  <a:lnTo>
                    <a:pt x="10598" y="6853"/>
                  </a:lnTo>
                  <a:cubicBezTo>
                    <a:pt x="10694" y="6853"/>
                    <a:pt x="10789" y="6758"/>
                    <a:pt x="10789" y="6663"/>
                  </a:cubicBezTo>
                  <a:cubicBezTo>
                    <a:pt x="10789" y="6568"/>
                    <a:pt x="10694" y="6472"/>
                    <a:pt x="10598" y="6472"/>
                  </a:cubicBezTo>
                  <a:lnTo>
                    <a:pt x="7240" y="6472"/>
                  </a:lnTo>
                  <a:lnTo>
                    <a:pt x="7240" y="5544"/>
                  </a:lnTo>
                  <a:close/>
                  <a:moveTo>
                    <a:pt x="2620" y="7616"/>
                  </a:moveTo>
                  <a:cubicBezTo>
                    <a:pt x="3049" y="7616"/>
                    <a:pt x="3383" y="7949"/>
                    <a:pt x="3383" y="8354"/>
                  </a:cubicBezTo>
                  <a:cubicBezTo>
                    <a:pt x="3383" y="8782"/>
                    <a:pt x="3049" y="9116"/>
                    <a:pt x="2620" y="9116"/>
                  </a:cubicBezTo>
                  <a:cubicBezTo>
                    <a:pt x="2216" y="9116"/>
                    <a:pt x="1882" y="8782"/>
                    <a:pt x="1882" y="8354"/>
                  </a:cubicBezTo>
                  <a:cubicBezTo>
                    <a:pt x="1882" y="7949"/>
                    <a:pt x="2216" y="7616"/>
                    <a:pt x="2620" y="7616"/>
                  </a:cubicBezTo>
                  <a:close/>
                  <a:moveTo>
                    <a:pt x="10074" y="7616"/>
                  </a:moveTo>
                  <a:cubicBezTo>
                    <a:pt x="10479" y="7616"/>
                    <a:pt x="10813" y="7949"/>
                    <a:pt x="10813" y="8354"/>
                  </a:cubicBezTo>
                  <a:cubicBezTo>
                    <a:pt x="10813" y="8782"/>
                    <a:pt x="10479" y="9116"/>
                    <a:pt x="10074" y="9116"/>
                  </a:cubicBezTo>
                  <a:cubicBezTo>
                    <a:pt x="9646" y="9116"/>
                    <a:pt x="9336" y="8782"/>
                    <a:pt x="9336" y="8354"/>
                  </a:cubicBezTo>
                  <a:cubicBezTo>
                    <a:pt x="9336" y="7949"/>
                    <a:pt x="9646" y="7616"/>
                    <a:pt x="10074" y="7616"/>
                  </a:cubicBezTo>
                  <a:close/>
                  <a:moveTo>
                    <a:pt x="2370" y="1"/>
                  </a:moveTo>
                  <a:cubicBezTo>
                    <a:pt x="2192" y="1"/>
                    <a:pt x="2013" y="60"/>
                    <a:pt x="1858" y="185"/>
                  </a:cubicBezTo>
                  <a:cubicBezTo>
                    <a:pt x="1454" y="471"/>
                    <a:pt x="1382" y="1019"/>
                    <a:pt x="1668" y="1400"/>
                  </a:cubicBezTo>
                  <a:lnTo>
                    <a:pt x="1763" y="1495"/>
                  </a:lnTo>
                  <a:cubicBezTo>
                    <a:pt x="1549" y="1567"/>
                    <a:pt x="1406" y="1686"/>
                    <a:pt x="1382" y="1686"/>
                  </a:cubicBezTo>
                  <a:cubicBezTo>
                    <a:pt x="1287" y="1757"/>
                    <a:pt x="1287" y="1876"/>
                    <a:pt x="1335" y="1924"/>
                  </a:cubicBezTo>
                  <a:cubicBezTo>
                    <a:pt x="1376" y="1980"/>
                    <a:pt x="1435" y="2003"/>
                    <a:pt x="1485" y="2003"/>
                  </a:cubicBezTo>
                  <a:cubicBezTo>
                    <a:pt x="1521" y="2003"/>
                    <a:pt x="1553" y="1991"/>
                    <a:pt x="1573" y="1972"/>
                  </a:cubicBezTo>
                  <a:cubicBezTo>
                    <a:pt x="1573" y="1972"/>
                    <a:pt x="1763" y="1805"/>
                    <a:pt x="2025" y="1733"/>
                  </a:cubicBezTo>
                  <a:cubicBezTo>
                    <a:pt x="2335" y="1972"/>
                    <a:pt x="2716" y="2210"/>
                    <a:pt x="3049" y="2376"/>
                  </a:cubicBezTo>
                  <a:lnTo>
                    <a:pt x="358" y="2376"/>
                  </a:lnTo>
                  <a:cubicBezTo>
                    <a:pt x="144" y="2376"/>
                    <a:pt x="1" y="2519"/>
                    <a:pt x="1" y="2734"/>
                  </a:cubicBezTo>
                  <a:lnTo>
                    <a:pt x="1" y="4043"/>
                  </a:lnTo>
                  <a:cubicBezTo>
                    <a:pt x="1" y="4139"/>
                    <a:pt x="96" y="4234"/>
                    <a:pt x="191" y="4234"/>
                  </a:cubicBezTo>
                  <a:lnTo>
                    <a:pt x="191" y="7758"/>
                  </a:lnTo>
                  <a:cubicBezTo>
                    <a:pt x="191" y="7973"/>
                    <a:pt x="334" y="8116"/>
                    <a:pt x="549" y="8116"/>
                  </a:cubicBezTo>
                  <a:lnTo>
                    <a:pt x="1501" y="8116"/>
                  </a:lnTo>
                  <a:cubicBezTo>
                    <a:pt x="1501" y="8187"/>
                    <a:pt x="1454" y="8235"/>
                    <a:pt x="1454" y="8330"/>
                  </a:cubicBezTo>
                  <a:cubicBezTo>
                    <a:pt x="1454" y="8925"/>
                    <a:pt x="1977" y="9425"/>
                    <a:pt x="2573" y="9425"/>
                  </a:cubicBezTo>
                  <a:cubicBezTo>
                    <a:pt x="3168" y="9425"/>
                    <a:pt x="3668" y="8925"/>
                    <a:pt x="3668" y="8330"/>
                  </a:cubicBezTo>
                  <a:cubicBezTo>
                    <a:pt x="3668" y="8258"/>
                    <a:pt x="3668" y="8211"/>
                    <a:pt x="3645" y="8116"/>
                  </a:cubicBezTo>
                  <a:lnTo>
                    <a:pt x="8979" y="8116"/>
                  </a:lnTo>
                  <a:cubicBezTo>
                    <a:pt x="8979" y="8187"/>
                    <a:pt x="8931" y="8235"/>
                    <a:pt x="8931" y="8330"/>
                  </a:cubicBezTo>
                  <a:cubicBezTo>
                    <a:pt x="8931" y="8925"/>
                    <a:pt x="9455" y="9425"/>
                    <a:pt x="10051" y="9425"/>
                  </a:cubicBezTo>
                  <a:cubicBezTo>
                    <a:pt x="10646" y="9425"/>
                    <a:pt x="11146" y="8925"/>
                    <a:pt x="11146" y="8330"/>
                  </a:cubicBezTo>
                  <a:cubicBezTo>
                    <a:pt x="11146" y="8235"/>
                    <a:pt x="11146" y="8139"/>
                    <a:pt x="11122" y="8092"/>
                  </a:cubicBezTo>
                  <a:lnTo>
                    <a:pt x="11479" y="7901"/>
                  </a:lnTo>
                  <a:cubicBezTo>
                    <a:pt x="11718" y="7782"/>
                    <a:pt x="11884" y="7520"/>
                    <a:pt x="11884" y="7258"/>
                  </a:cubicBezTo>
                  <a:lnTo>
                    <a:pt x="11884" y="6187"/>
                  </a:lnTo>
                  <a:cubicBezTo>
                    <a:pt x="11908" y="5972"/>
                    <a:pt x="11765" y="5782"/>
                    <a:pt x="11527" y="5687"/>
                  </a:cubicBezTo>
                  <a:lnTo>
                    <a:pt x="10193" y="5234"/>
                  </a:lnTo>
                  <a:lnTo>
                    <a:pt x="9574" y="3519"/>
                  </a:lnTo>
                  <a:cubicBezTo>
                    <a:pt x="9479" y="3305"/>
                    <a:pt x="9265" y="3162"/>
                    <a:pt x="9050" y="3162"/>
                  </a:cubicBezTo>
                  <a:lnTo>
                    <a:pt x="7455" y="3162"/>
                  </a:lnTo>
                  <a:lnTo>
                    <a:pt x="7455" y="2757"/>
                  </a:lnTo>
                  <a:cubicBezTo>
                    <a:pt x="7455" y="2567"/>
                    <a:pt x="7312" y="2400"/>
                    <a:pt x="7098" y="2400"/>
                  </a:cubicBezTo>
                  <a:lnTo>
                    <a:pt x="4407" y="2400"/>
                  </a:lnTo>
                  <a:cubicBezTo>
                    <a:pt x="4740" y="2233"/>
                    <a:pt x="5121" y="1972"/>
                    <a:pt x="5431" y="1757"/>
                  </a:cubicBezTo>
                  <a:cubicBezTo>
                    <a:pt x="5693" y="1852"/>
                    <a:pt x="5859" y="1995"/>
                    <a:pt x="5859" y="1995"/>
                  </a:cubicBezTo>
                  <a:cubicBezTo>
                    <a:pt x="5896" y="2014"/>
                    <a:pt x="5932" y="2021"/>
                    <a:pt x="5966" y="2021"/>
                  </a:cubicBezTo>
                  <a:cubicBezTo>
                    <a:pt x="6020" y="2021"/>
                    <a:pt x="6068" y="2001"/>
                    <a:pt x="6097" y="1972"/>
                  </a:cubicBezTo>
                  <a:cubicBezTo>
                    <a:pt x="6169" y="1876"/>
                    <a:pt x="6145" y="1781"/>
                    <a:pt x="6074" y="1733"/>
                  </a:cubicBezTo>
                  <a:cubicBezTo>
                    <a:pt x="6074" y="1733"/>
                    <a:pt x="5931" y="1614"/>
                    <a:pt x="5693" y="1519"/>
                  </a:cubicBezTo>
                  <a:lnTo>
                    <a:pt x="5788" y="1424"/>
                  </a:lnTo>
                  <a:cubicBezTo>
                    <a:pt x="6074" y="1043"/>
                    <a:pt x="5978" y="495"/>
                    <a:pt x="5597" y="209"/>
                  </a:cubicBezTo>
                  <a:cubicBezTo>
                    <a:pt x="5452" y="85"/>
                    <a:pt x="5252" y="14"/>
                    <a:pt x="5045" y="14"/>
                  </a:cubicBezTo>
                  <a:cubicBezTo>
                    <a:pt x="5015" y="14"/>
                    <a:pt x="4985" y="16"/>
                    <a:pt x="4954" y="19"/>
                  </a:cubicBezTo>
                  <a:cubicBezTo>
                    <a:pt x="4716" y="66"/>
                    <a:pt x="4502" y="185"/>
                    <a:pt x="4383" y="352"/>
                  </a:cubicBezTo>
                  <a:cubicBezTo>
                    <a:pt x="4145" y="662"/>
                    <a:pt x="3906" y="1424"/>
                    <a:pt x="3716" y="1972"/>
                  </a:cubicBezTo>
                  <a:cubicBezTo>
                    <a:pt x="3549" y="1424"/>
                    <a:pt x="3311" y="662"/>
                    <a:pt x="3073" y="352"/>
                  </a:cubicBezTo>
                  <a:cubicBezTo>
                    <a:pt x="2889" y="126"/>
                    <a:pt x="2630" y="1"/>
                    <a:pt x="23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8" name="Google Shape;2738;p40">
            <a:extLst>
              <a:ext uri="{FF2B5EF4-FFF2-40B4-BE49-F238E27FC236}">
                <a16:creationId xmlns:a16="http://schemas.microsoft.com/office/drawing/2014/main" id="{ADD7AD7B-9B5C-9514-8AAB-03B8AE2B8489}"/>
              </a:ext>
            </a:extLst>
          </p:cNvPr>
          <p:cNvGrpSpPr/>
          <p:nvPr/>
        </p:nvGrpSpPr>
        <p:grpSpPr>
          <a:xfrm>
            <a:off x="6359221" y="1069417"/>
            <a:ext cx="421060" cy="370544"/>
            <a:chOff x="4045086" y="3323189"/>
            <a:chExt cx="404664" cy="340743"/>
          </a:xfrm>
        </p:grpSpPr>
        <p:sp>
          <p:nvSpPr>
            <p:cNvPr id="2739" name="Google Shape;2739;p40">
              <a:extLst>
                <a:ext uri="{FF2B5EF4-FFF2-40B4-BE49-F238E27FC236}">
                  <a16:creationId xmlns:a16="http://schemas.microsoft.com/office/drawing/2014/main" id="{FEFC5DE9-F774-B446-991C-09391F13BCAE}"/>
                </a:ext>
              </a:extLst>
            </p:cNvPr>
            <p:cNvSpPr/>
            <p:nvPr/>
          </p:nvSpPr>
          <p:spPr>
            <a:xfrm>
              <a:off x="4071796" y="3348268"/>
              <a:ext cx="12166" cy="12200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67" y="1"/>
                  </a:moveTo>
                  <a:cubicBezTo>
                    <a:pt x="96" y="1"/>
                    <a:pt x="1" y="96"/>
                    <a:pt x="1" y="168"/>
                  </a:cubicBezTo>
                  <a:cubicBezTo>
                    <a:pt x="1" y="263"/>
                    <a:pt x="96" y="358"/>
                    <a:pt x="167" y="358"/>
                  </a:cubicBezTo>
                  <a:cubicBezTo>
                    <a:pt x="263" y="358"/>
                    <a:pt x="358" y="263"/>
                    <a:pt x="358" y="168"/>
                  </a:cubicBezTo>
                  <a:cubicBezTo>
                    <a:pt x="358" y="96"/>
                    <a:pt x="263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0">
              <a:extLst>
                <a:ext uri="{FF2B5EF4-FFF2-40B4-BE49-F238E27FC236}">
                  <a16:creationId xmlns:a16="http://schemas.microsoft.com/office/drawing/2014/main" id="{092FE43F-468C-40AE-C628-386311354FAA}"/>
                </a:ext>
              </a:extLst>
            </p:cNvPr>
            <p:cNvSpPr/>
            <p:nvPr/>
          </p:nvSpPr>
          <p:spPr>
            <a:xfrm>
              <a:off x="4109041" y="3348268"/>
              <a:ext cx="12166" cy="12200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91" y="1"/>
                  </a:moveTo>
                  <a:cubicBezTo>
                    <a:pt x="95" y="1"/>
                    <a:pt x="0" y="96"/>
                    <a:pt x="0" y="168"/>
                  </a:cubicBezTo>
                  <a:cubicBezTo>
                    <a:pt x="0" y="263"/>
                    <a:pt x="95" y="358"/>
                    <a:pt x="191" y="358"/>
                  </a:cubicBezTo>
                  <a:cubicBezTo>
                    <a:pt x="262" y="358"/>
                    <a:pt x="357" y="263"/>
                    <a:pt x="357" y="168"/>
                  </a:cubicBezTo>
                  <a:cubicBezTo>
                    <a:pt x="357" y="96"/>
                    <a:pt x="310" y="1"/>
                    <a:pt x="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0">
              <a:extLst>
                <a:ext uri="{FF2B5EF4-FFF2-40B4-BE49-F238E27FC236}">
                  <a16:creationId xmlns:a16="http://schemas.microsoft.com/office/drawing/2014/main" id="{0D4A6DC4-8AF7-5644-76A3-608AD952DE1F}"/>
                </a:ext>
              </a:extLst>
            </p:cNvPr>
            <p:cNvSpPr/>
            <p:nvPr/>
          </p:nvSpPr>
          <p:spPr>
            <a:xfrm>
              <a:off x="4091234" y="3348268"/>
              <a:ext cx="12166" cy="12200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67" y="1"/>
                  </a:moveTo>
                  <a:cubicBezTo>
                    <a:pt x="72" y="1"/>
                    <a:pt x="0" y="96"/>
                    <a:pt x="0" y="168"/>
                  </a:cubicBezTo>
                  <a:cubicBezTo>
                    <a:pt x="0" y="263"/>
                    <a:pt x="72" y="358"/>
                    <a:pt x="167" y="358"/>
                  </a:cubicBezTo>
                  <a:cubicBezTo>
                    <a:pt x="262" y="358"/>
                    <a:pt x="357" y="263"/>
                    <a:pt x="357" y="168"/>
                  </a:cubicBezTo>
                  <a:cubicBezTo>
                    <a:pt x="310" y="96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0">
              <a:extLst>
                <a:ext uri="{FF2B5EF4-FFF2-40B4-BE49-F238E27FC236}">
                  <a16:creationId xmlns:a16="http://schemas.microsoft.com/office/drawing/2014/main" id="{819CF3FB-4605-FF23-CA02-E85F5494E8F5}"/>
                </a:ext>
              </a:extLst>
            </p:cNvPr>
            <p:cNvSpPr/>
            <p:nvPr/>
          </p:nvSpPr>
          <p:spPr>
            <a:xfrm>
              <a:off x="4355856" y="3348268"/>
              <a:ext cx="68815" cy="12200"/>
            </a:xfrm>
            <a:custGeom>
              <a:avLst/>
              <a:gdLst/>
              <a:ahLst/>
              <a:cxnLst/>
              <a:rect l="l" t="t" r="r" b="b"/>
              <a:pathLst>
                <a:path w="2025" h="359" extrusionOk="0">
                  <a:moveTo>
                    <a:pt x="191" y="1"/>
                  </a:moveTo>
                  <a:cubicBezTo>
                    <a:pt x="96" y="1"/>
                    <a:pt x="0" y="96"/>
                    <a:pt x="0" y="168"/>
                  </a:cubicBezTo>
                  <a:cubicBezTo>
                    <a:pt x="0" y="263"/>
                    <a:pt x="96" y="358"/>
                    <a:pt x="191" y="358"/>
                  </a:cubicBezTo>
                  <a:lnTo>
                    <a:pt x="1858" y="358"/>
                  </a:lnTo>
                  <a:cubicBezTo>
                    <a:pt x="1929" y="358"/>
                    <a:pt x="2025" y="263"/>
                    <a:pt x="2025" y="168"/>
                  </a:cubicBezTo>
                  <a:cubicBezTo>
                    <a:pt x="2025" y="96"/>
                    <a:pt x="1929" y="1"/>
                    <a:pt x="18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40">
              <a:extLst>
                <a:ext uri="{FF2B5EF4-FFF2-40B4-BE49-F238E27FC236}">
                  <a16:creationId xmlns:a16="http://schemas.microsoft.com/office/drawing/2014/main" id="{A0691FF2-D7D3-8E70-DBA1-96DBA92867AC}"/>
                </a:ext>
              </a:extLst>
            </p:cNvPr>
            <p:cNvSpPr/>
            <p:nvPr/>
          </p:nvSpPr>
          <p:spPr>
            <a:xfrm>
              <a:off x="4134120" y="3348268"/>
              <a:ext cx="208822" cy="12200"/>
            </a:xfrm>
            <a:custGeom>
              <a:avLst/>
              <a:gdLst/>
              <a:ahLst/>
              <a:cxnLst/>
              <a:rect l="l" t="t" r="r" b="b"/>
              <a:pathLst>
                <a:path w="6145" h="359" extrusionOk="0">
                  <a:moveTo>
                    <a:pt x="191" y="1"/>
                  </a:moveTo>
                  <a:cubicBezTo>
                    <a:pt x="96" y="1"/>
                    <a:pt x="0" y="96"/>
                    <a:pt x="0" y="168"/>
                  </a:cubicBezTo>
                  <a:cubicBezTo>
                    <a:pt x="0" y="263"/>
                    <a:pt x="96" y="358"/>
                    <a:pt x="191" y="358"/>
                  </a:cubicBezTo>
                  <a:lnTo>
                    <a:pt x="5954" y="358"/>
                  </a:lnTo>
                  <a:cubicBezTo>
                    <a:pt x="6049" y="358"/>
                    <a:pt x="6144" y="263"/>
                    <a:pt x="6144" y="168"/>
                  </a:cubicBezTo>
                  <a:cubicBezTo>
                    <a:pt x="6144" y="96"/>
                    <a:pt x="6049" y="1"/>
                    <a:pt x="5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0">
              <a:extLst>
                <a:ext uri="{FF2B5EF4-FFF2-40B4-BE49-F238E27FC236}">
                  <a16:creationId xmlns:a16="http://schemas.microsoft.com/office/drawing/2014/main" id="{EFC076C8-1738-5F1E-8BDE-541C4C32BC9D}"/>
                </a:ext>
              </a:extLst>
            </p:cNvPr>
            <p:cNvSpPr/>
            <p:nvPr/>
          </p:nvSpPr>
          <p:spPr>
            <a:xfrm>
              <a:off x="4045086" y="3323189"/>
              <a:ext cx="404664" cy="340743"/>
            </a:xfrm>
            <a:custGeom>
              <a:avLst/>
              <a:gdLst/>
              <a:ahLst/>
              <a:cxnLst/>
              <a:rect l="l" t="t" r="r" b="b"/>
              <a:pathLst>
                <a:path w="11908" h="10027" extrusionOk="0">
                  <a:moveTo>
                    <a:pt x="11170" y="334"/>
                  </a:moveTo>
                  <a:cubicBezTo>
                    <a:pt x="11384" y="334"/>
                    <a:pt x="11551" y="525"/>
                    <a:pt x="11551" y="739"/>
                  </a:cubicBezTo>
                  <a:lnTo>
                    <a:pt x="11551" y="1477"/>
                  </a:lnTo>
                  <a:lnTo>
                    <a:pt x="11003" y="1477"/>
                  </a:lnTo>
                  <a:cubicBezTo>
                    <a:pt x="10908" y="1477"/>
                    <a:pt x="10813" y="1572"/>
                    <a:pt x="10813" y="1668"/>
                  </a:cubicBezTo>
                  <a:cubicBezTo>
                    <a:pt x="10813" y="1739"/>
                    <a:pt x="10908" y="1834"/>
                    <a:pt x="11003" y="1834"/>
                  </a:cubicBezTo>
                  <a:lnTo>
                    <a:pt x="11551" y="1834"/>
                  </a:lnTo>
                  <a:lnTo>
                    <a:pt x="11551" y="9288"/>
                  </a:lnTo>
                  <a:cubicBezTo>
                    <a:pt x="11551" y="9479"/>
                    <a:pt x="11384" y="9669"/>
                    <a:pt x="11170" y="9669"/>
                  </a:cubicBezTo>
                  <a:lnTo>
                    <a:pt x="763" y="9669"/>
                  </a:lnTo>
                  <a:cubicBezTo>
                    <a:pt x="548" y="9669"/>
                    <a:pt x="358" y="9479"/>
                    <a:pt x="358" y="9288"/>
                  </a:cubicBezTo>
                  <a:lnTo>
                    <a:pt x="358" y="1834"/>
                  </a:lnTo>
                  <a:lnTo>
                    <a:pt x="10217" y="1834"/>
                  </a:lnTo>
                  <a:cubicBezTo>
                    <a:pt x="10312" y="1834"/>
                    <a:pt x="10408" y="1739"/>
                    <a:pt x="10408" y="1668"/>
                  </a:cubicBezTo>
                  <a:cubicBezTo>
                    <a:pt x="10408" y="1572"/>
                    <a:pt x="10312" y="1477"/>
                    <a:pt x="10217" y="1477"/>
                  </a:cubicBezTo>
                  <a:lnTo>
                    <a:pt x="358" y="1477"/>
                  </a:lnTo>
                  <a:lnTo>
                    <a:pt x="358" y="739"/>
                  </a:lnTo>
                  <a:cubicBezTo>
                    <a:pt x="358" y="525"/>
                    <a:pt x="548" y="334"/>
                    <a:pt x="763" y="334"/>
                  </a:cubicBezTo>
                  <a:close/>
                  <a:moveTo>
                    <a:pt x="763" y="1"/>
                  </a:moveTo>
                  <a:cubicBezTo>
                    <a:pt x="334" y="1"/>
                    <a:pt x="1" y="310"/>
                    <a:pt x="1" y="739"/>
                  </a:cubicBezTo>
                  <a:lnTo>
                    <a:pt x="1" y="9288"/>
                  </a:lnTo>
                  <a:cubicBezTo>
                    <a:pt x="1" y="9693"/>
                    <a:pt x="334" y="10026"/>
                    <a:pt x="763" y="10026"/>
                  </a:cubicBezTo>
                  <a:lnTo>
                    <a:pt x="11170" y="10026"/>
                  </a:lnTo>
                  <a:cubicBezTo>
                    <a:pt x="11575" y="10026"/>
                    <a:pt x="11908" y="9693"/>
                    <a:pt x="11908" y="9288"/>
                  </a:cubicBezTo>
                  <a:lnTo>
                    <a:pt x="11908" y="739"/>
                  </a:lnTo>
                  <a:cubicBezTo>
                    <a:pt x="11908" y="310"/>
                    <a:pt x="11598" y="1"/>
                    <a:pt x="111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40">
              <a:extLst>
                <a:ext uri="{FF2B5EF4-FFF2-40B4-BE49-F238E27FC236}">
                  <a16:creationId xmlns:a16="http://schemas.microsoft.com/office/drawing/2014/main" id="{186A78CA-DFDF-2716-7720-E365D4860D08}"/>
                </a:ext>
              </a:extLst>
            </p:cNvPr>
            <p:cNvSpPr/>
            <p:nvPr/>
          </p:nvSpPr>
          <p:spPr>
            <a:xfrm>
              <a:off x="4148665" y="3417864"/>
              <a:ext cx="199953" cy="201550"/>
            </a:xfrm>
            <a:custGeom>
              <a:avLst/>
              <a:gdLst/>
              <a:ahLst/>
              <a:cxnLst/>
              <a:rect l="l" t="t" r="r" b="b"/>
              <a:pathLst>
                <a:path w="5884" h="5931" extrusionOk="0">
                  <a:moveTo>
                    <a:pt x="2933" y="346"/>
                  </a:moveTo>
                  <a:cubicBezTo>
                    <a:pt x="3264" y="346"/>
                    <a:pt x="3597" y="358"/>
                    <a:pt x="3930" y="382"/>
                  </a:cubicBezTo>
                  <a:cubicBezTo>
                    <a:pt x="3692" y="739"/>
                    <a:pt x="3359" y="1144"/>
                    <a:pt x="2954" y="1382"/>
                  </a:cubicBezTo>
                  <a:cubicBezTo>
                    <a:pt x="2525" y="1144"/>
                    <a:pt x="2192" y="739"/>
                    <a:pt x="1954" y="382"/>
                  </a:cubicBezTo>
                  <a:cubicBezTo>
                    <a:pt x="2275" y="358"/>
                    <a:pt x="2603" y="346"/>
                    <a:pt x="2933" y="346"/>
                  </a:cubicBezTo>
                  <a:close/>
                  <a:moveTo>
                    <a:pt x="4335" y="430"/>
                  </a:moveTo>
                  <a:cubicBezTo>
                    <a:pt x="4550" y="453"/>
                    <a:pt x="4788" y="477"/>
                    <a:pt x="5002" y="501"/>
                  </a:cubicBezTo>
                  <a:cubicBezTo>
                    <a:pt x="5145" y="549"/>
                    <a:pt x="5264" y="668"/>
                    <a:pt x="5335" y="811"/>
                  </a:cubicBezTo>
                  <a:lnTo>
                    <a:pt x="5502" y="1787"/>
                  </a:lnTo>
                  <a:lnTo>
                    <a:pt x="4764" y="2144"/>
                  </a:lnTo>
                  <a:lnTo>
                    <a:pt x="4764" y="1668"/>
                  </a:lnTo>
                  <a:cubicBezTo>
                    <a:pt x="4764" y="1573"/>
                    <a:pt x="4669" y="1501"/>
                    <a:pt x="4573" y="1501"/>
                  </a:cubicBezTo>
                  <a:cubicBezTo>
                    <a:pt x="4502" y="1501"/>
                    <a:pt x="4407" y="1573"/>
                    <a:pt x="4407" y="1668"/>
                  </a:cubicBezTo>
                  <a:lnTo>
                    <a:pt x="4407" y="5550"/>
                  </a:lnTo>
                  <a:lnTo>
                    <a:pt x="1430" y="5550"/>
                  </a:lnTo>
                  <a:lnTo>
                    <a:pt x="1430" y="1668"/>
                  </a:lnTo>
                  <a:cubicBezTo>
                    <a:pt x="1430" y="1573"/>
                    <a:pt x="1335" y="1501"/>
                    <a:pt x="1239" y="1501"/>
                  </a:cubicBezTo>
                  <a:cubicBezTo>
                    <a:pt x="1144" y="1501"/>
                    <a:pt x="1073" y="1573"/>
                    <a:pt x="1073" y="1668"/>
                  </a:cubicBezTo>
                  <a:lnTo>
                    <a:pt x="1073" y="2144"/>
                  </a:lnTo>
                  <a:lnTo>
                    <a:pt x="311" y="1787"/>
                  </a:lnTo>
                  <a:lnTo>
                    <a:pt x="549" y="811"/>
                  </a:lnTo>
                  <a:cubicBezTo>
                    <a:pt x="596" y="668"/>
                    <a:pt x="715" y="549"/>
                    <a:pt x="882" y="501"/>
                  </a:cubicBezTo>
                  <a:cubicBezTo>
                    <a:pt x="1096" y="477"/>
                    <a:pt x="1335" y="453"/>
                    <a:pt x="1549" y="430"/>
                  </a:cubicBezTo>
                  <a:cubicBezTo>
                    <a:pt x="1811" y="834"/>
                    <a:pt x="2192" y="1382"/>
                    <a:pt x="2763" y="1668"/>
                  </a:cubicBezTo>
                  <a:cubicBezTo>
                    <a:pt x="2835" y="1692"/>
                    <a:pt x="2883" y="1692"/>
                    <a:pt x="2954" y="1692"/>
                  </a:cubicBezTo>
                  <a:cubicBezTo>
                    <a:pt x="3002" y="1692"/>
                    <a:pt x="3073" y="1668"/>
                    <a:pt x="3121" y="1668"/>
                  </a:cubicBezTo>
                  <a:cubicBezTo>
                    <a:pt x="3692" y="1335"/>
                    <a:pt x="4073" y="834"/>
                    <a:pt x="4335" y="430"/>
                  </a:cubicBezTo>
                  <a:close/>
                  <a:moveTo>
                    <a:pt x="2960" y="1"/>
                  </a:moveTo>
                  <a:cubicBezTo>
                    <a:pt x="2263" y="1"/>
                    <a:pt x="1561" y="49"/>
                    <a:pt x="858" y="144"/>
                  </a:cubicBezTo>
                  <a:cubicBezTo>
                    <a:pt x="573" y="215"/>
                    <a:pt x="334" y="406"/>
                    <a:pt x="263" y="692"/>
                  </a:cubicBezTo>
                  <a:lnTo>
                    <a:pt x="25" y="1668"/>
                  </a:lnTo>
                  <a:cubicBezTo>
                    <a:pt x="1" y="1858"/>
                    <a:pt x="49" y="2001"/>
                    <a:pt x="215" y="2097"/>
                  </a:cubicBezTo>
                  <a:lnTo>
                    <a:pt x="1096" y="2525"/>
                  </a:lnTo>
                  <a:lnTo>
                    <a:pt x="1096" y="5573"/>
                  </a:lnTo>
                  <a:cubicBezTo>
                    <a:pt x="1096" y="5764"/>
                    <a:pt x="1239" y="5931"/>
                    <a:pt x="1454" y="5931"/>
                  </a:cubicBezTo>
                  <a:lnTo>
                    <a:pt x="4430" y="5931"/>
                  </a:lnTo>
                  <a:cubicBezTo>
                    <a:pt x="4645" y="5931"/>
                    <a:pt x="4788" y="5764"/>
                    <a:pt x="4788" y="5573"/>
                  </a:cubicBezTo>
                  <a:lnTo>
                    <a:pt x="4788" y="2525"/>
                  </a:lnTo>
                  <a:lnTo>
                    <a:pt x="5693" y="2097"/>
                  </a:lnTo>
                  <a:cubicBezTo>
                    <a:pt x="5812" y="2025"/>
                    <a:pt x="5883" y="1858"/>
                    <a:pt x="5859" y="1668"/>
                  </a:cubicBezTo>
                  <a:lnTo>
                    <a:pt x="5621" y="692"/>
                  </a:lnTo>
                  <a:cubicBezTo>
                    <a:pt x="5574" y="382"/>
                    <a:pt x="5335" y="191"/>
                    <a:pt x="5026" y="144"/>
                  </a:cubicBezTo>
                  <a:cubicBezTo>
                    <a:pt x="4347" y="49"/>
                    <a:pt x="3657" y="1"/>
                    <a:pt x="29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40">
              <a:extLst>
                <a:ext uri="{FF2B5EF4-FFF2-40B4-BE49-F238E27FC236}">
                  <a16:creationId xmlns:a16="http://schemas.microsoft.com/office/drawing/2014/main" id="{C3357F84-037A-D8B3-FFC8-90655812681A}"/>
                </a:ext>
              </a:extLst>
            </p:cNvPr>
            <p:cNvSpPr/>
            <p:nvPr/>
          </p:nvSpPr>
          <p:spPr>
            <a:xfrm>
              <a:off x="4084744" y="3481412"/>
              <a:ext cx="43735" cy="74082"/>
            </a:xfrm>
            <a:custGeom>
              <a:avLst/>
              <a:gdLst/>
              <a:ahLst/>
              <a:cxnLst/>
              <a:rect l="l" t="t" r="r" b="b"/>
              <a:pathLst>
                <a:path w="1287" h="2180" extrusionOk="0">
                  <a:moveTo>
                    <a:pt x="1105" y="0"/>
                  </a:moveTo>
                  <a:cubicBezTo>
                    <a:pt x="1060" y="0"/>
                    <a:pt x="1013" y="12"/>
                    <a:pt x="977" y="36"/>
                  </a:cubicBezTo>
                  <a:lnTo>
                    <a:pt x="48" y="965"/>
                  </a:lnTo>
                  <a:cubicBezTo>
                    <a:pt x="1" y="1012"/>
                    <a:pt x="1" y="1132"/>
                    <a:pt x="48" y="1203"/>
                  </a:cubicBezTo>
                  <a:lnTo>
                    <a:pt x="977" y="2132"/>
                  </a:lnTo>
                  <a:cubicBezTo>
                    <a:pt x="1025" y="2156"/>
                    <a:pt x="1072" y="2179"/>
                    <a:pt x="1096" y="2179"/>
                  </a:cubicBezTo>
                  <a:cubicBezTo>
                    <a:pt x="1144" y="2179"/>
                    <a:pt x="1191" y="2156"/>
                    <a:pt x="1215" y="2132"/>
                  </a:cubicBezTo>
                  <a:cubicBezTo>
                    <a:pt x="1287" y="2060"/>
                    <a:pt x="1287" y="1941"/>
                    <a:pt x="1215" y="1894"/>
                  </a:cubicBezTo>
                  <a:lnTo>
                    <a:pt x="429" y="1084"/>
                  </a:lnTo>
                  <a:lnTo>
                    <a:pt x="1215" y="274"/>
                  </a:lnTo>
                  <a:cubicBezTo>
                    <a:pt x="1287" y="227"/>
                    <a:pt x="1287" y="108"/>
                    <a:pt x="1215" y="36"/>
                  </a:cubicBezTo>
                  <a:cubicBezTo>
                    <a:pt x="1191" y="12"/>
                    <a:pt x="1150" y="0"/>
                    <a:pt x="11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40">
              <a:extLst>
                <a:ext uri="{FF2B5EF4-FFF2-40B4-BE49-F238E27FC236}">
                  <a16:creationId xmlns:a16="http://schemas.microsoft.com/office/drawing/2014/main" id="{F3A3E84A-2C08-F6E9-F6B2-007978C1F7F6}"/>
                </a:ext>
              </a:extLst>
            </p:cNvPr>
            <p:cNvSpPr/>
            <p:nvPr/>
          </p:nvSpPr>
          <p:spPr>
            <a:xfrm>
              <a:off x="4367988" y="3481412"/>
              <a:ext cx="44551" cy="74082"/>
            </a:xfrm>
            <a:custGeom>
              <a:avLst/>
              <a:gdLst/>
              <a:ahLst/>
              <a:cxnLst/>
              <a:rect l="l" t="t" r="r" b="b"/>
              <a:pathLst>
                <a:path w="1311" h="2180" extrusionOk="0">
                  <a:moveTo>
                    <a:pt x="206" y="0"/>
                  </a:moveTo>
                  <a:cubicBezTo>
                    <a:pt x="161" y="0"/>
                    <a:pt x="120" y="12"/>
                    <a:pt x="96" y="36"/>
                  </a:cubicBezTo>
                  <a:cubicBezTo>
                    <a:pt x="25" y="84"/>
                    <a:pt x="25" y="227"/>
                    <a:pt x="96" y="274"/>
                  </a:cubicBezTo>
                  <a:lnTo>
                    <a:pt x="882" y="1084"/>
                  </a:lnTo>
                  <a:lnTo>
                    <a:pt x="72" y="1894"/>
                  </a:lnTo>
                  <a:cubicBezTo>
                    <a:pt x="1" y="1941"/>
                    <a:pt x="1" y="2060"/>
                    <a:pt x="72" y="2132"/>
                  </a:cubicBezTo>
                  <a:cubicBezTo>
                    <a:pt x="96" y="2156"/>
                    <a:pt x="144" y="2179"/>
                    <a:pt x="191" y="2179"/>
                  </a:cubicBezTo>
                  <a:cubicBezTo>
                    <a:pt x="215" y="2179"/>
                    <a:pt x="263" y="2156"/>
                    <a:pt x="286" y="2132"/>
                  </a:cubicBezTo>
                  <a:lnTo>
                    <a:pt x="1215" y="1203"/>
                  </a:lnTo>
                  <a:cubicBezTo>
                    <a:pt x="1311" y="1132"/>
                    <a:pt x="1311" y="1012"/>
                    <a:pt x="1263" y="965"/>
                  </a:cubicBezTo>
                  <a:lnTo>
                    <a:pt x="334" y="36"/>
                  </a:lnTo>
                  <a:cubicBezTo>
                    <a:pt x="298" y="12"/>
                    <a:pt x="251" y="0"/>
                    <a:pt x="2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1" name="Google Shape;2761;p40">
            <a:extLst>
              <a:ext uri="{FF2B5EF4-FFF2-40B4-BE49-F238E27FC236}">
                <a16:creationId xmlns:a16="http://schemas.microsoft.com/office/drawing/2014/main" id="{50598469-D23B-76FC-7C3A-AC307118AC18}"/>
              </a:ext>
            </a:extLst>
          </p:cNvPr>
          <p:cNvGrpSpPr/>
          <p:nvPr/>
        </p:nvGrpSpPr>
        <p:grpSpPr>
          <a:xfrm>
            <a:off x="360659" y="150789"/>
            <a:ext cx="593164" cy="1161172"/>
            <a:chOff x="4921825" y="870250"/>
            <a:chExt cx="407925" cy="798550"/>
          </a:xfrm>
        </p:grpSpPr>
        <p:sp>
          <p:nvSpPr>
            <p:cNvPr id="2762" name="Google Shape;2762;p40">
              <a:extLst>
                <a:ext uri="{FF2B5EF4-FFF2-40B4-BE49-F238E27FC236}">
                  <a16:creationId xmlns:a16="http://schemas.microsoft.com/office/drawing/2014/main" id="{C20A415C-30EC-A7AF-DCFF-AF3304027500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40">
              <a:extLst>
                <a:ext uri="{FF2B5EF4-FFF2-40B4-BE49-F238E27FC236}">
                  <a16:creationId xmlns:a16="http://schemas.microsoft.com/office/drawing/2014/main" id="{5C17B8BA-5797-9866-5265-C9177E6E1C55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40">
              <a:extLst>
                <a:ext uri="{FF2B5EF4-FFF2-40B4-BE49-F238E27FC236}">
                  <a16:creationId xmlns:a16="http://schemas.microsoft.com/office/drawing/2014/main" id="{46DD45BC-6958-C298-6BC5-5DBAA42151CC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0">
              <a:extLst>
                <a:ext uri="{FF2B5EF4-FFF2-40B4-BE49-F238E27FC236}">
                  <a16:creationId xmlns:a16="http://schemas.microsoft.com/office/drawing/2014/main" id="{5E1F6FF2-6557-9BB9-CDAC-075AAA3E9DDC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0">
              <a:extLst>
                <a:ext uri="{FF2B5EF4-FFF2-40B4-BE49-F238E27FC236}">
                  <a16:creationId xmlns:a16="http://schemas.microsoft.com/office/drawing/2014/main" id="{F27508A8-E5BA-EF1F-4183-BE18421F9E1B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0">
              <a:extLst>
                <a:ext uri="{FF2B5EF4-FFF2-40B4-BE49-F238E27FC236}">
                  <a16:creationId xmlns:a16="http://schemas.microsoft.com/office/drawing/2014/main" id="{DB163D85-714A-9822-E4D3-BCD37A672899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0">
              <a:extLst>
                <a:ext uri="{FF2B5EF4-FFF2-40B4-BE49-F238E27FC236}">
                  <a16:creationId xmlns:a16="http://schemas.microsoft.com/office/drawing/2014/main" id="{1CC1E66C-381A-1EF2-71FC-C7253E6FD2F7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0">
              <a:extLst>
                <a:ext uri="{FF2B5EF4-FFF2-40B4-BE49-F238E27FC236}">
                  <a16:creationId xmlns:a16="http://schemas.microsoft.com/office/drawing/2014/main" id="{A7CFF178-8838-B3EE-C21E-37AA06FF4292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40">
              <a:extLst>
                <a:ext uri="{FF2B5EF4-FFF2-40B4-BE49-F238E27FC236}">
                  <a16:creationId xmlns:a16="http://schemas.microsoft.com/office/drawing/2014/main" id="{6AE157A9-A28A-4884-E651-6B6220BF6311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40">
              <a:extLst>
                <a:ext uri="{FF2B5EF4-FFF2-40B4-BE49-F238E27FC236}">
                  <a16:creationId xmlns:a16="http://schemas.microsoft.com/office/drawing/2014/main" id="{F25516F5-0466-670F-EA57-0DE3D34F83D8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40">
              <a:extLst>
                <a:ext uri="{FF2B5EF4-FFF2-40B4-BE49-F238E27FC236}">
                  <a16:creationId xmlns:a16="http://schemas.microsoft.com/office/drawing/2014/main" id="{4439B193-D1CC-4760-30DA-C85BBFFEDDFA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40">
              <a:extLst>
                <a:ext uri="{FF2B5EF4-FFF2-40B4-BE49-F238E27FC236}">
                  <a16:creationId xmlns:a16="http://schemas.microsoft.com/office/drawing/2014/main" id="{E53B17C4-B34E-BF43-FC8F-2F51E8921CA7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40">
              <a:extLst>
                <a:ext uri="{FF2B5EF4-FFF2-40B4-BE49-F238E27FC236}">
                  <a16:creationId xmlns:a16="http://schemas.microsoft.com/office/drawing/2014/main" id="{62D2F524-2EC7-ECA0-0FEB-1602EB70004E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40">
              <a:extLst>
                <a:ext uri="{FF2B5EF4-FFF2-40B4-BE49-F238E27FC236}">
                  <a16:creationId xmlns:a16="http://schemas.microsoft.com/office/drawing/2014/main" id="{615EB132-7ABF-E245-EC36-A1787BE8E503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40">
              <a:extLst>
                <a:ext uri="{FF2B5EF4-FFF2-40B4-BE49-F238E27FC236}">
                  <a16:creationId xmlns:a16="http://schemas.microsoft.com/office/drawing/2014/main" id="{07EAF1FE-66A8-855B-F364-AB814C501224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40">
              <a:extLst>
                <a:ext uri="{FF2B5EF4-FFF2-40B4-BE49-F238E27FC236}">
                  <a16:creationId xmlns:a16="http://schemas.microsoft.com/office/drawing/2014/main" id="{391993EE-1FBF-7E31-2018-62BDF2AD2AFE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40">
              <a:extLst>
                <a:ext uri="{FF2B5EF4-FFF2-40B4-BE49-F238E27FC236}">
                  <a16:creationId xmlns:a16="http://schemas.microsoft.com/office/drawing/2014/main" id="{6DBBBCDC-FA46-7C12-4D78-6A244AF20E4F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40">
              <a:extLst>
                <a:ext uri="{FF2B5EF4-FFF2-40B4-BE49-F238E27FC236}">
                  <a16:creationId xmlns:a16="http://schemas.microsoft.com/office/drawing/2014/main" id="{5F4E64B4-8292-3022-635B-B3C7C691E2D7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40">
              <a:extLst>
                <a:ext uri="{FF2B5EF4-FFF2-40B4-BE49-F238E27FC236}">
                  <a16:creationId xmlns:a16="http://schemas.microsoft.com/office/drawing/2014/main" id="{ABB3BEE5-484C-8A9E-5F85-A2AC92314161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40">
              <a:extLst>
                <a:ext uri="{FF2B5EF4-FFF2-40B4-BE49-F238E27FC236}">
                  <a16:creationId xmlns:a16="http://schemas.microsoft.com/office/drawing/2014/main" id="{72783048-B307-2C44-DB8E-7F2C652FFCD9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40">
              <a:extLst>
                <a:ext uri="{FF2B5EF4-FFF2-40B4-BE49-F238E27FC236}">
                  <a16:creationId xmlns:a16="http://schemas.microsoft.com/office/drawing/2014/main" id="{9DE2DF95-78F3-E01E-0EF4-218DB562BDCE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40">
              <a:extLst>
                <a:ext uri="{FF2B5EF4-FFF2-40B4-BE49-F238E27FC236}">
                  <a16:creationId xmlns:a16="http://schemas.microsoft.com/office/drawing/2014/main" id="{6B4B43B4-C970-553A-4290-AAA84AB3CBF0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40">
              <a:extLst>
                <a:ext uri="{FF2B5EF4-FFF2-40B4-BE49-F238E27FC236}">
                  <a16:creationId xmlns:a16="http://schemas.microsoft.com/office/drawing/2014/main" id="{CC248E46-D3DA-0B5D-7C3A-55B3709AEDA7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40">
              <a:extLst>
                <a:ext uri="{FF2B5EF4-FFF2-40B4-BE49-F238E27FC236}">
                  <a16:creationId xmlns:a16="http://schemas.microsoft.com/office/drawing/2014/main" id="{655D161B-E91E-60E2-1E77-77D93D0BB514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40">
              <a:extLst>
                <a:ext uri="{FF2B5EF4-FFF2-40B4-BE49-F238E27FC236}">
                  <a16:creationId xmlns:a16="http://schemas.microsoft.com/office/drawing/2014/main" id="{F2FEB957-4EA8-B840-EEBA-5486321DB951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40">
              <a:extLst>
                <a:ext uri="{FF2B5EF4-FFF2-40B4-BE49-F238E27FC236}">
                  <a16:creationId xmlns:a16="http://schemas.microsoft.com/office/drawing/2014/main" id="{55D4997A-4CB7-508C-B9BB-0D7CA4FB2245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40">
              <a:extLst>
                <a:ext uri="{FF2B5EF4-FFF2-40B4-BE49-F238E27FC236}">
                  <a16:creationId xmlns:a16="http://schemas.microsoft.com/office/drawing/2014/main" id="{9218EBD2-E2EE-9F63-9DC1-2CE902EB3E1F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40">
              <a:extLst>
                <a:ext uri="{FF2B5EF4-FFF2-40B4-BE49-F238E27FC236}">
                  <a16:creationId xmlns:a16="http://schemas.microsoft.com/office/drawing/2014/main" id="{B7C63202-50A3-53AD-327F-A3642F6AEDBC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40">
              <a:extLst>
                <a:ext uri="{FF2B5EF4-FFF2-40B4-BE49-F238E27FC236}">
                  <a16:creationId xmlns:a16="http://schemas.microsoft.com/office/drawing/2014/main" id="{6107A924-EFFF-7F03-7204-A4DF5A9FA73F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40">
              <a:extLst>
                <a:ext uri="{FF2B5EF4-FFF2-40B4-BE49-F238E27FC236}">
                  <a16:creationId xmlns:a16="http://schemas.microsoft.com/office/drawing/2014/main" id="{497526D3-9D1E-E9B4-AB13-D5489B062F5F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30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Diagonal Corners Rounded 65">
            <a:extLst>
              <a:ext uri="{FF2B5EF4-FFF2-40B4-BE49-F238E27FC236}">
                <a16:creationId xmlns:a16="http://schemas.microsoft.com/office/drawing/2014/main" id="{9CE5E87E-E1BA-1D03-1C87-FCDDD8473EE6}"/>
              </a:ext>
            </a:extLst>
          </p:cNvPr>
          <p:cNvSpPr/>
          <p:nvPr/>
        </p:nvSpPr>
        <p:spPr>
          <a:xfrm>
            <a:off x="4822306" y="3159293"/>
            <a:ext cx="4051801" cy="1818390"/>
          </a:xfrm>
          <a:prstGeom prst="round2Diag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B254153-D2C9-08CF-8703-8105182AE5F0}"/>
              </a:ext>
            </a:extLst>
          </p:cNvPr>
          <p:cNvSpPr/>
          <p:nvPr/>
        </p:nvSpPr>
        <p:spPr>
          <a:xfrm>
            <a:off x="1134360" y="153968"/>
            <a:ext cx="6875280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400" b="1">
                <a:solidFill>
                  <a:srgbClr val="7030A0"/>
                </a:solidFill>
              </a:rPr>
              <a:t>Data Product 1: Profitability Analysis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87A9E16-1DC9-5AE6-8B89-05746FDAE708}"/>
              </a:ext>
            </a:extLst>
          </p:cNvPr>
          <p:cNvSpPr/>
          <p:nvPr/>
        </p:nvSpPr>
        <p:spPr>
          <a:xfrm>
            <a:off x="6642571" y="487896"/>
            <a:ext cx="660267" cy="207169"/>
          </a:xfrm>
          <a:prstGeom prst="rect">
            <a:avLst/>
          </a:prstGeom>
          <a:noFill/>
          <a:ln/>
        </p:spPr>
        <p:txBody>
          <a:bodyPr wrap="none" lIns="136017" tIns="68072" rIns="136017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>
                <a:solidFill>
                  <a:srgbClr val="FFFFFF"/>
                </a:solidFill>
              </a:rPr>
              <a:t>Story 1.2</a:t>
            </a:r>
            <a:endParaRPr lang="en-US" sz="683"/>
          </a:p>
        </p:txBody>
      </p:sp>
      <p:sp>
        <p:nvSpPr>
          <p:cNvPr id="65" name="Rectangle: Diagonal Corners Rounded 64">
            <a:extLst>
              <a:ext uri="{FF2B5EF4-FFF2-40B4-BE49-F238E27FC236}">
                <a16:creationId xmlns:a16="http://schemas.microsoft.com/office/drawing/2014/main" id="{A216BB15-B20D-7C5B-AFA5-EFBF0B690E1B}"/>
              </a:ext>
            </a:extLst>
          </p:cNvPr>
          <p:cNvSpPr/>
          <p:nvPr/>
        </p:nvSpPr>
        <p:spPr>
          <a:xfrm>
            <a:off x="4810039" y="983479"/>
            <a:ext cx="4051801" cy="2002283"/>
          </a:xfrm>
          <a:prstGeom prst="round2Diag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47BC1E42-84B4-628E-9130-7DDE1D6B35FE}"/>
              </a:ext>
            </a:extLst>
          </p:cNvPr>
          <p:cNvSpPr/>
          <p:nvPr/>
        </p:nvSpPr>
        <p:spPr>
          <a:xfrm>
            <a:off x="5020598" y="988034"/>
            <a:ext cx="961802" cy="227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>
                <a:solidFill>
                  <a:srgbClr val="7030A0"/>
                </a:solidFill>
              </a:rPr>
              <a:t>Key Insights</a:t>
            </a:r>
            <a:r>
              <a:rPr lang="ar-AE" sz="1193" b="1">
                <a:solidFill>
                  <a:srgbClr val="7030A0"/>
                </a:solidFill>
              </a:rPr>
              <a:t>:</a:t>
            </a:r>
            <a:endParaRPr lang="en-US" sz="1193" b="1">
              <a:solidFill>
                <a:srgbClr val="7030A0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27B6719-EB51-D9E9-FC90-022CA119DE06}"/>
              </a:ext>
            </a:extLst>
          </p:cNvPr>
          <p:cNvSpPr/>
          <p:nvPr/>
        </p:nvSpPr>
        <p:spPr>
          <a:xfrm>
            <a:off x="4947040" y="1422820"/>
            <a:ext cx="735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>
                <a:solidFill>
                  <a:srgbClr val="FFFFFF"/>
                </a:solidFill>
              </a:rPr>
              <a:t>1</a:t>
            </a:r>
            <a:endParaRPr lang="en-US" sz="885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37B359A1-6766-0211-72E1-3B6867DD2710}"/>
              </a:ext>
            </a:extLst>
          </p:cNvPr>
          <p:cNvSpPr/>
          <p:nvPr/>
        </p:nvSpPr>
        <p:spPr>
          <a:xfrm>
            <a:off x="4911335" y="1219767"/>
            <a:ext cx="3851190" cy="1716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b="1">
                <a:solidFill>
                  <a:srgbClr val="7030A0"/>
                </a:solidFill>
                <a:latin typeface="Abadi" panose="020B0604020104020204" pitchFamily="34" charset="0"/>
              </a:rPr>
              <a:t>Technology:</a:t>
            </a:r>
            <a:r>
              <a:rPr lang="ar-AE" sz="1000" b="1">
                <a:solidFill>
                  <a:srgbClr val="7030A0"/>
                </a:solidFill>
                <a:latin typeface="Abadi" panose="020B0604020104020204" pitchFamily="34" charset="0"/>
              </a:rPr>
              <a:t> </a:t>
            </a:r>
            <a:r>
              <a:rPr lang="en-US" sz="1000">
                <a:solidFill>
                  <a:srgbClr val="2C3E50"/>
                </a:solidFill>
                <a:latin typeface="Abadi" panose="020B0604020104020204" pitchFamily="34" charset="0"/>
              </a:rPr>
              <a:t>Has the highest average profit per sale. This shows that customers are willing to pay more for these products.</a:t>
            </a:r>
            <a:endParaRPr lang="ar-AE" sz="1000">
              <a:solidFill>
                <a:srgbClr val="2C3E50"/>
              </a:solidFill>
              <a:latin typeface="Abadi" panose="020B0604020104020204" pitchFamily="34" charset="0"/>
            </a:endParaRPr>
          </a:p>
          <a:p>
            <a:pPr>
              <a:lnSpc>
                <a:spcPts val="1500"/>
              </a:lnSpc>
            </a:pPr>
            <a:endParaRPr lang="en-US" sz="1000">
              <a:solidFill>
                <a:srgbClr val="2C3E50"/>
              </a:solidFill>
              <a:latin typeface="Abadi" panose="020B0604020104020204" pitchFamily="34" charset="0"/>
            </a:endParaRPr>
          </a:p>
          <a:p>
            <a:pPr>
              <a:lnSpc>
                <a:spcPts val="1500"/>
              </a:lnSpc>
            </a:pPr>
            <a:r>
              <a:rPr lang="en-US" sz="1000" b="1">
                <a:solidFill>
                  <a:srgbClr val="7030A0"/>
                </a:solidFill>
                <a:latin typeface="Abadi" panose="020B0604020104020204" pitchFamily="34" charset="0"/>
              </a:rPr>
              <a:t>Furniture:</a:t>
            </a:r>
            <a:r>
              <a:rPr lang="ar-AE" sz="1000" b="1">
                <a:solidFill>
                  <a:srgbClr val="7030A0"/>
                </a:solidFill>
                <a:latin typeface="Abadi" panose="020B0604020104020204" pitchFamily="34" charset="0"/>
              </a:rPr>
              <a:t> </a:t>
            </a:r>
            <a:r>
              <a:rPr lang="en-US" sz="1000">
                <a:solidFill>
                  <a:srgbClr val="2C3E50"/>
                </a:solidFill>
                <a:latin typeface="Abadi" panose="020B0604020104020204" pitchFamily="34" charset="0"/>
              </a:rPr>
              <a:t>Shows moderate profit. There is a good opportunity to make more money here through better cost management and pricing.</a:t>
            </a:r>
            <a:endParaRPr lang="ar-AE" sz="1000">
              <a:solidFill>
                <a:srgbClr val="2C3E50"/>
              </a:solidFill>
              <a:latin typeface="Abadi" panose="020B0604020104020204" pitchFamily="34" charset="0"/>
            </a:endParaRPr>
          </a:p>
          <a:p>
            <a:pPr>
              <a:lnSpc>
                <a:spcPts val="1500"/>
              </a:lnSpc>
            </a:pPr>
            <a:endParaRPr lang="en-US" sz="1000">
              <a:solidFill>
                <a:srgbClr val="2C3E50"/>
              </a:solidFill>
              <a:latin typeface="Abadi" panose="020B0604020104020204" pitchFamily="34" charset="0"/>
            </a:endParaRPr>
          </a:p>
          <a:p>
            <a:pPr>
              <a:lnSpc>
                <a:spcPts val="1500"/>
              </a:lnSpc>
            </a:pPr>
            <a:r>
              <a:rPr lang="en-US" sz="1000" b="1">
                <a:solidFill>
                  <a:srgbClr val="7030A0"/>
                </a:solidFill>
                <a:latin typeface="Abadi" panose="020B0604020104020204" pitchFamily="34" charset="0"/>
              </a:rPr>
              <a:t>Office Supplies:</a:t>
            </a:r>
            <a:r>
              <a:rPr lang="ar-AE" sz="1000" b="1">
                <a:solidFill>
                  <a:srgbClr val="7030A0"/>
                </a:solidFill>
                <a:latin typeface="Abadi" panose="020B0604020104020204" pitchFamily="34" charset="0"/>
              </a:rPr>
              <a:t> </a:t>
            </a:r>
            <a:r>
              <a:rPr lang="en-US" sz="1000">
                <a:solidFill>
                  <a:srgbClr val="2C3E50"/>
                </a:solidFill>
                <a:latin typeface="Abadi" panose="020B0604020104020204" pitchFamily="34" charset="0"/>
              </a:rPr>
              <a:t>Has low average profit, even though it has the highest sales volume (60.3%). This reveals a major problem: selling a lot doesn't mean making a lot of profit.</a:t>
            </a:r>
            <a:endParaRPr lang="en-US" sz="1000">
              <a:latin typeface="Abadi" panose="020B0604020104020204" pitchFamily="34" charset="0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CD482C29-51A0-9D11-8AA9-7D5F94E943F0}"/>
              </a:ext>
            </a:extLst>
          </p:cNvPr>
          <p:cNvSpPr/>
          <p:nvPr/>
        </p:nvSpPr>
        <p:spPr>
          <a:xfrm flipH="1">
            <a:off x="4628722" y="1047921"/>
            <a:ext cx="74511" cy="3756059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221F0A97-A050-C4F0-4EC9-D05028A351F3}"/>
              </a:ext>
            </a:extLst>
          </p:cNvPr>
          <p:cNvSpPr/>
          <p:nvPr/>
        </p:nvSpPr>
        <p:spPr>
          <a:xfrm>
            <a:off x="335757" y="874476"/>
            <a:ext cx="6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09E6B93-C56D-4E26-A8B7-5868FEE28BA7}"/>
              </a:ext>
            </a:extLst>
          </p:cNvPr>
          <p:cNvSpPr/>
          <p:nvPr/>
        </p:nvSpPr>
        <p:spPr>
          <a:xfrm>
            <a:off x="335757" y="1116637"/>
            <a:ext cx="3857625" cy="129900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55FE4FBB-B395-793B-B796-82C241921587}"/>
              </a:ext>
            </a:extLst>
          </p:cNvPr>
          <p:cNvSpPr/>
          <p:nvPr/>
        </p:nvSpPr>
        <p:spPr>
          <a:xfrm>
            <a:off x="335757" y="1138795"/>
            <a:ext cx="45719" cy="1299009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6D69D3BA-0AB7-80C7-2C05-E4E8AD1BE213}"/>
              </a:ext>
            </a:extLst>
          </p:cNvPr>
          <p:cNvSpPr/>
          <p:nvPr/>
        </p:nvSpPr>
        <p:spPr>
          <a:xfrm>
            <a:off x="381476" y="1047921"/>
            <a:ext cx="3857625" cy="1280287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-- Finds highly profitable products that are not selling in high volumes.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SELECT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p.total_profit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FROM maryam_alali_workspace.top_100_profit_products p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LEFT JOIN maryam_alali_workspace.top_100_sales_products s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ON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WHERE 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IS NULL;</a:t>
            </a:r>
          </a:p>
        </p:txBody>
      </p:sp>
      <p:pic>
        <p:nvPicPr>
          <p:cNvPr id="52" name="Picture 51" descr="A screenshot of a graph&#10;&#10;AI-generated content may be incorrect.">
            <a:extLst>
              <a:ext uri="{FF2B5EF4-FFF2-40B4-BE49-F238E27FC236}">
                <a16:creationId xmlns:a16="http://schemas.microsoft.com/office/drawing/2014/main" id="{269B066B-E97E-BE65-6CBD-71B441CA3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5" y="2575853"/>
            <a:ext cx="4084663" cy="2228127"/>
          </a:xfrm>
          <a:prstGeom prst="rect">
            <a:avLst/>
          </a:prstGeom>
        </p:spPr>
      </p:pic>
      <p:sp>
        <p:nvSpPr>
          <p:cNvPr id="60" name="Text 22">
            <a:extLst>
              <a:ext uri="{FF2B5EF4-FFF2-40B4-BE49-F238E27FC236}">
                <a16:creationId xmlns:a16="http://schemas.microsoft.com/office/drawing/2014/main" id="{1FAD297C-5FC3-F45C-63B9-F7D42B3FBD38}"/>
              </a:ext>
            </a:extLst>
          </p:cNvPr>
          <p:cNvSpPr/>
          <p:nvPr/>
        </p:nvSpPr>
        <p:spPr>
          <a:xfrm>
            <a:off x="4983819" y="3231784"/>
            <a:ext cx="1267976" cy="227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>
                <a:solidFill>
                  <a:srgbClr val="7030A0"/>
                </a:solidFill>
              </a:rPr>
              <a:t>Business Impact</a:t>
            </a:r>
            <a:r>
              <a:rPr lang="ar-AE" sz="1193" b="1">
                <a:solidFill>
                  <a:srgbClr val="7030A0"/>
                </a:solidFill>
              </a:rPr>
              <a:t>:</a:t>
            </a:r>
            <a:endParaRPr lang="en-US" sz="1193" b="1">
              <a:solidFill>
                <a:srgbClr val="7030A0"/>
              </a:solidFill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F2ACD377-755C-E465-5D17-2EA9DB33F60B}"/>
              </a:ext>
            </a:extLst>
          </p:cNvPr>
          <p:cNvSpPr/>
          <p:nvPr/>
        </p:nvSpPr>
        <p:spPr>
          <a:xfrm>
            <a:off x="4947040" y="3700767"/>
            <a:ext cx="735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>
                <a:solidFill>
                  <a:srgbClr val="FFFFFF"/>
                </a:solidFill>
              </a:rPr>
              <a:t>1</a:t>
            </a:r>
            <a:endParaRPr lang="en-US" sz="885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F494A2A5-537B-31E3-094D-E83E48C1CA12}"/>
              </a:ext>
            </a:extLst>
          </p:cNvPr>
          <p:cNvSpPr/>
          <p:nvPr/>
        </p:nvSpPr>
        <p:spPr>
          <a:xfrm>
            <a:off x="4911335" y="3481085"/>
            <a:ext cx="3630306" cy="143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Ø"/>
            </a:pP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Focus </a:t>
            </a:r>
            <a:r>
              <a:rPr lang="en-US" sz="1100" b="1" i="0">
                <a:solidFill>
                  <a:srgbClr val="7030A0"/>
                </a:solidFill>
                <a:effectLst/>
                <a:latin typeface="ui-monospace"/>
              </a:rPr>
              <a:t>marketing on the Technology </a:t>
            </a: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category</a:t>
            </a:r>
            <a:r>
              <a:rPr lang="en-US" sz="1100" b="0" i="0">
                <a:solidFill>
                  <a:srgbClr val="34322D"/>
                </a:solidFill>
                <a:effectLst/>
                <a:latin typeface="-apple-system"/>
              </a:rPr>
              <a:t> to make more money.</a:t>
            </a:r>
          </a:p>
          <a:p>
            <a:pPr marL="171450" indent="-171450" algn="l"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Ø"/>
            </a:pP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Find out why selling a lot of </a:t>
            </a:r>
            <a:r>
              <a:rPr lang="en-US" sz="1100" b="1" i="0">
                <a:solidFill>
                  <a:srgbClr val="7030A0"/>
                </a:solidFill>
                <a:effectLst/>
                <a:latin typeface="ui-monospace"/>
              </a:rPr>
              <a:t>Office Supplies</a:t>
            </a:r>
            <a:r>
              <a:rPr lang="en-US" sz="1100" b="1" i="0">
                <a:solidFill>
                  <a:srgbClr val="7030A0"/>
                </a:solidFill>
                <a:effectLst/>
                <a:latin typeface="-apple-system"/>
              </a:rPr>
              <a:t> doesn't lead to high profit.</a:t>
            </a:r>
          </a:p>
          <a:p>
            <a:pPr marL="171450" indent="-171450" algn="l"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Ø"/>
            </a:pP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Consider </a:t>
            </a:r>
            <a:r>
              <a:rPr lang="en-US" sz="1100" b="1" i="0">
                <a:solidFill>
                  <a:srgbClr val="7030A0"/>
                </a:solidFill>
                <a:effectLst/>
                <a:latin typeface="ui-monospace"/>
              </a:rPr>
              <a:t>changing the prices</a:t>
            </a: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 for Office Supplies</a:t>
            </a:r>
            <a:r>
              <a:rPr lang="en-US" sz="1100" b="0" i="0">
                <a:solidFill>
                  <a:srgbClr val="34322D"/>
                </a:solidFill>
                <a:effectLst/>
                <a:latin typeface="-apple-system"/>
              </a:rPr>
              <a:t> to improve profit margins.</a:t>
            </a:r>
          </a:p>
          <a:p>
            <a:pPr marL="171450" indent="-171450" algn="l"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Ø"/>
            </a:pPr>
            <a:r>
              <a:rPr lang="en-US" sz="1100" b="1" i="0">
                <a:solidFill>
                  <a:srgbClr val="7030A0"/>
                </a:solidFill>
                <a:effectLst/>
                <a:latin typeface="ui-monospace"/>
              </a:rPr>
              <a:t>Move resources </a:t>
            </a:r>
            <a:r>
              <a:rPr lang="en-US" sz="1100" b="0" i="0">
                <a:solidFill>
                  <a:srgbClr val="34322D"/>
                </a:solidFill>
                <a:effectLst/>
                <a:latin typeface="ui-monospace"/>
              </a:rPr>
              <a:t>from low-profit to high-profit categories</a:t>
            </a:r>
            <a:r>
              <a:rPr lang="en-US" sz="1100" b="0" i="0">
                <a:solidFill>
                  <a:srgbClr val="34322D"/>
                </a:solidFill>
                <a:effectLst/>
                <a:latin typeface="-apple-system"/>
              </a:rPr>
              <a:t> for a better return on investment (ROI).</a:t>
            </a:r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350DB533-A7BB-5C5D-1A2B-98CBAF661325}"/>
              </a:ext>
            </a:extLst>
          </p:cNvPr>
          <p:cNvSpPr/>
          <p:nvPr/>
        </p:nvSpPr>
        <p:spPr>
          <a:xfrm>
            <a:off x="2693519" y="551885"/>
            <a:ext cx="3558276" cy="36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050" b="1">
                <a:solidFill>
                  <a:schemeClr val="tx2">
                    <a:lumMod val="75000"/>
                  </a:schemeClr>
                </a:solidFill>
              </a:rPr>
              <a:t>Story 1.1: Average Profit by Product Category</a:t>
            </a:r>
            <a:endParaRPr lang="ar-AE" sz="1050" b="1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lnSpc>
                <a:spcPts val="1500"/>
              </a:lnSpc>
              <a:buNone/>
            </a:pP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4127224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D51F-20F2-8E3F-9EED-5B0E1E50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B86A03-E029-2DAC-6534-1318040AB2C8}"/>
              </a:ext>
            </a:extLst>
          </p:cNvPr>
          <p:cNvSpPr/>
          <p:nvPr/>
        </p:nvSpPr>
        <p:spPr>
          <a:xfrm>
            <a:off x="1733263" y="193880"/>
            <a:ext cx="5402120" cy="3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400" b="1">
                <a:solidFill>
                  <a:srgbClr val="7030A0"/>
                </a:solidFill>
              </a:rPr>
              <a:t>Data Product 1: Profitability Analysis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9B25BBE-7C30-8D05-974D-FFB3AE6D105A}"/>
              </a:ext>
            </a:extLst>
          </p:cNvPr>
          <p:cNvSpPr/>
          <p:nvPr/>
        </p:nvSpPr>
        <p:spPr>
          <a:xfrm>
            <a:off x="6642571" y="487896"/>
            <a:ext cx="660267" cy="207169"/>
          </a:xfrm>
          <a:prstGeom prst="rect">
            <a:avLst/>
          </a:prstGeom>
          <a:noFill/>
          <a:ln/>
        </p:spPr>
        <p:txBody>
          <a:bodyPr wrap="none" lIns="136017" tIns="68072" rIns="136017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>
                <a:solidFill>
                  <a:srgbClr val="FFFFFF"/>
                </a:solidFill>
              </a:rPr>
              <a:t>Story 1.2</a:t>
            </a:r>
            <a:endParaRPr lang="en-US" sz="683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DAA2BE0B-DADF-1CFA-2657-1F8498B4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9" y="985394"/>
            <a:ext cx="128588" cy="171450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441DB70B-CB7B-7C7B-3008-2AB6EE237DBF}"/>
              </a:ext>
            </a:extLst>
          </p:cNvPr>
          <p:cNvSpPr/>
          <p:nvPr/>
        </p:nvSpPr>
        <p:spPr>
          <a:xfrm>
            <a:off x="5186364" y="953247"/>
            <a:ext cx="1928413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>
                <a:solidFill>
                  <a:srgbClr val="7030A0"/>
                </a:solidFill>
                <a:latin typeface="Abadi" panose="020B0604020104020204" pitchFamily="34" charset="0"/>
              </a:rPr>
              <a:t>Strategic Recommendations</a:t>
            </a:r>
            <a:endParaRPr lang="en-US" sz="1193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21CEC837-F894-0114-3EA5-73FE56F6727D}"/>
              </a:ext>
            </a:extLst>
          </p:cNvPr>
          <p:cNvSpPr/>
          <p:nvPr/>
        </p:nvSpPr>
        <p:spPr>
          <a:xfrm>
            <a:off x="4986339" y="1378301"/>
            <a:ext cx="285750" cy="28575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59BD785-8E32-7089-0E9E-BCF009560625}"/>
              </a:ext>
            </a:extLst>
          </p:cNvPr>
          <p:cNvSpPr/>
          <p:nvPr/>
        </p:nvSpPr>
        <p:spPr>
          <a:xfrm>
            <a:off x="5092435" y="1424735"/>
            <a:ext cx="43282" cy="1733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Abadi" panose="020B0604020104020204" pitchFamily="34" charset="0"/>
              </a:rPr>
              <a:t>1</a:t>
            </a:r>
            <a:endParaRPr lang="en-US" sz="885">
              <a:latin typeface="Abadi" panose="020B0604020104020204" pitchFamily="34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34B4307-FFA8-82B5-BF54-681B897A1DD5}"/>
              </a:ext>
            </a:extLst>
          </p:cNvPr>
          <p:cNvSpPr/>
          <p:nvPr/>
        </p:nvSpPr>
        <p:spPr>
          <a:xfrm>
            <a:off x="5379245" y="1339995"/>
            <a:ext cx="1756138" cy="180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>
                <a:solidFill>
                  <a:srgbClr val="7030A0"/>
                </a:solidFill>
                <a:latin typeface="Abadi" panose="020B0604020104020204" pitchFamily="34" charset="0"/>
              </a:rPr>
              <a:t>Review Pricing Strategy</a:t>
            </a:r>
            <a:endParaRPr lang="en-US" sz="110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7A6EC505-B3C6-7BFA-E80C-B4F6F708572D}"/>
              </a:ext>
            </a:extLst>
          </p:cNvPr>
          <p:cNvSpPr/>
          <p:nvPr/>
        </p:nvSpPr>
        <p:spPr>
          <a:xfrm>
            <a:off x="4986339" y="2462672"/>
            <a:ext cx="285750" cy="28575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06BC09B6-3F8E-CBC3-A487-D3E05095EC66}"/>
              </a:ext>
            </a:extLst>
          </p:cNvPr>
          <p:cNvSpPr/>
          <p:nvPr/>
        </p:nvSpPr>
        <p:spPr>
          <a:xfrm>
            <a:off x="5092435" y="2509106"/>
            <a:ext cx="72136" cy="1733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Abadi" panose="020B0604020104020204" pitchFamily="34" charset="0"/>
              </a:rPr>
              <a:t>2</a:t>
            </a:r>
            <a:endParaRPr lang="en-US" sz="885">
              <a:latin typeface="Abadi" panose="020B0604020104020204" pitchFamily="34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E0F5AF69-2706-BD31-9ACC-924A3DA83011}"/>
              </a:ext>
            </a:extLst>
          </p:cNvPr>
          <p:cNvSpPr/>
          <p:nvPr/>
        </p:nvSpPr>
        <p:spPr>
          <a:xfrm>
            <a:off x="5379245" y="2437804"/>
            <a:ext cx="1919295" cy="180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>
                <a:solidFill>
                  <a:srgbClr val="7030A0"/>
                </a:solidFill>
                <a:latin typeface="Abadi" panose="020B0604020104020204" pitchFamily="34" charset="0"/>
              </a:rPr>
              <a:t>Investigate Cost Structure</a:t>
            </a:r>
            <a:endParaRPr lang="en-US" sz="110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8013BDE8-6EDC-9BE0-C16F-3C878D402AB3}"/>
              </a:ext>
            </a:extLst>
          </p:cNvPr>
          <p:cNvSpPr/>
          <p:nvPr/>
        </p:nvSpPr>
        <p:spPr>
          <a:xfrm>
            <a:off x="5379245" y="2748557"/>
            <a:ext cx="3752820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C3E50"/>
                </a:solidFill>
                <a:latin typeface="Abadi" panose="020B0604020104020204" pitchFamily="34" charset="0"/>
              </a:rPr>
              <a:t>Examine the supply chain costs, shipping expenses, and vendor pricing. Look for opportunities to reduce costs or renegotiate with suppliers.</a:t>
            </a: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BE3ED32-F264-8CF8-2859-409FE047BB8A}"/>
              </a:ext>
            </a:extLst>
          </p:cNvPr>
          <p:cNvSpPr/>
          <p:nvPr/>
        </p:nvSpPr>
        <p:spPr>
          <a:xfrm>
            <a:off x="4986339" y="3547043"/>
            <a:ext cx="285750" cy="28575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44CA1608-6C36-0B67-5295-2925C523256B}"/>
              </a:ext>
            </a:extLst>
          </p:cNvPr>
          <p:cNvSpPr/>
          <p:nvPr/>
        </p:nvSpPr>
        <p:spPr>
          <a:xfrm>
            <a:off x="5092435" y="3593477"/>
            <a:ext cx="72136" cy="17338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Abadi" panose="020B0604020104020204" pitchFamily="34" charset="0"/>
              </a:rPr>
              <a:t>3</a:t>
            </a:r>
            <a:endParaRPr lang="en-US" sz="885">
              <a:latin typeface="Abadi" panose="020B0604020104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D786F4C1-46FD-AB2C-BCE1-E1B4C1DBBA38}"/>
              </a:ext>
            </a:extLst>
          </p:cNvPr>
          <p:cNvSpPr/>
          <p:nvPr/>
        </p:nvSpPr>
        <p:spPr>
          <a:xfrm>
            <a:off x="5379245" y="3535613"/>
            <a:ext cx="2350874" cy="180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>
                <a:solidFill>
                  <a:srgbClr val="7030A0"/>
                </a:solidFill>
                <a:latin typeface="Abadi" panose="020B0604020104020204" pitchFamily="34" charset="0"/>
              </a:rPr>
              <a:t>Consider Product Restructuring</a:t>
            </a:r>
            <a:endParaRPr lang="en-US" sz="110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5C8F81C-64A8-BD71-95B6-6347CC1F7839}"/>
              </a:ext>
            </a:extLst>
          </p:cNvPr>
          <p:cNvSpPr/>
          <p:nvPr/>
        </p:nvSpPr>
        <p:spPr>
          <a:xfrm>
            <a:off x="5379245" y="3846366"/>
            <a:ext cx="3752820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C3E50"/>
                </a:solidFill>
                <a:latin typeface="Abadi" panose="020B0604020104020204" pitchFamily="34" charset="0"/>
              </a:rPr>
              <a:t>Evaluate discontinuing products that consistently lose money, or replace them with higher-margin alternatives. Focus resources on profitable product lines.</a:t>
            </a:r>
          </a:p>
        </p:txBody>
      </p:sp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B43B24-F6B5-69C0-8A01-36B7D59C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69" y="2545816"/>
            <a:ext cx="4440647" cy="2397641"/>
          </a:xfrm>
          <a:prstGeom prst="rect">
            <a:avLst/>
          </a:prstGeom>
        </p:spPr>
      </p:pic>
      <p:sp>
        <p:nvSpPr>
          <p:cNvPr id="46" name="Shape 17">
            <a:extLst>
              <a:ext uri="{FF2B5EF4-FFF2-40B4-BE49-F238E27FC236}">
                <a16:creationId xmlns:a16="http://schemas.microsoft.com/office/drawing/2014/main" id="{B301C942-A0FC-F413-C73C-C6BAEB7C4CB2}"/>
              </a:ext>
            </a:extLst>
          </p:cNvPr>
          <p:cNvSpPr/>
          <p:nvPr/>
        </p:nvSpPr>
        <p:spPr>
          <a:xfrm>
            <a:off x="4848831" y="1047921"/>
            <a:ext cx="56070" cy="3381922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 sz="1800">
              <a:solidFill>
                <a:schemeClr val="accent2">
                  <a:lumMod val="5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FDA9FAEE-7400-BF47-C102-56F13A3BE822}"/>
              </a:ext>
            </a:extLst>
          </p:cNvPr>
          <p:cNvSpPr/>
          <p:nvPr/>
        </p:nvSpPr>
        <p:spPr>
          <a:xfrm>
            <a:off x="335757" y="874476"/>
            <a:ext cx="6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6092CC67-09BA-27E9-E6C4-AFDE25CC9EE7}"/>
              </a:ext>
            </a:extLst>
          </p:cNvPr>
          <p:cNvSpPr/>
          <p:nvPr/>
        </p:nvSpPr>
        <p:spPr>
          <a:xfrm>
            <a:off x="335757" y="1116637"/>
            <a:ext cx="3857625" cy="129900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1D420709-F1A2-553F-4B5D-37A010B742C0}"/>
              </a:ext>
            </a:extLst>
          </p:cNvPr>
          <p:cNvSpPr/>
          <p:nvPr/>
        </p:nvSpPr>
        <p:spPr>
          <a:xfrm>
            <a:off x="335757" y="1138795"/>
            <a:ext cx="45719" cy="1299009"/>
          </a:xfrm>
          <a:prstGeom prst="rect">
            <a:avLst/>
          </a:prstGeom>
          <a:solidFill>
            <a:srgbClr val="1A5490"/>
          </a:solidFill>
          <a:ln/>
        </p:spPr>
        <p:txBody>
          <a:bodyPr/>
          <a:lstStyle/>
          <a:p>
            <a:endParaRPr lang="en-US" sz="180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0E9621DB-C73C-4F5B-ECB4-3B232F01E2D6}"/>
              </a:ext>
            </a:extLst>
          </p:cNvPr>
          <p:cNvSpPr/>
          <p:nvPr/>
        </p:nvSpPr>
        <p:spPr>
          <a:xfrm>
            <a:off x="381476" y="1047921"/>
            <a:ext cx="3857625" cy="1280287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-- Finds highly profitable products that are not selling in high volumes.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SELECT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p.total_profit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FROM maryam_alali_workspace.top_100_profit_products p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LEFT JOIN maryam_alali_workspace.top_100_sales_products s</a:t>
            </a: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   ON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p.product_name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=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endParaRPr lang="en-US" sz="900" b="1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WHERE  </a:t>
            </a:r>
            <a:r>
              <a:rPr lang="en-US" sz="900" b="1" err="1">
                <a:solidFill>
                  <a:schemeClr val="tx2">
                    <a:lumMod val="50000"/>
                  </a:schemeClr>
                </a:solidFill>
              </a:rPr>
              <a:t>s.product_name</a:t>
            </a:r>
            <a:r>
              <a:rPr lang="en-US" sz="900" b="1">
                <a:solidFill>
                  <a:schemeClr val="tx2">
                    <a:lumMod val="50000"/>
                  </a:schemeClr>
                </a:solidFill>
              </a:rPr>
              <a:t> IS NULL;</a:t>
            </a:r>
          </a:p>
        </p:txBody>
      </p:sp>
      <p:sp>
        <p:nvSpPr>
          <p:cNvPr id="2" name="Text 30">
            <a:extLst>
              <a:ext uri="{FF2B5EF4-FFF2-40B4-BE49-F238E27FC236}">
                <a16:creationId xmlns:a16="http://schemas.microsoft.com/office/drawing/2014/main" id="{2CEB6046-A99D-F117-6650-4D5E8025FD8B}"/>
              </a:ext>
            </a:extLst>
          </p:cNvPr>
          <p:cNvSpPr/>
          <p:nvPr/>
        </p:nvSpPr>
        <p:spPr>
          <a:xfrm>
            <a:off x="5391180" y="1579311"/>
            <a:ext cx="3752820" cy="529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>
                <a:solidFill>
                  <a:srgbClr val="2C3E50"/>
                </a:solidFill>
                <a:latin typeface="Abadi" panose="020B0604020104020204" pitchFamily="34" charset="0"/>
              </a:rPr>
              <a:t>Analyze the pricing and discount rules for these loss-making items. Consider adjusting prices to improve profit margins while staying competitive.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F54C16-EE99-1DCE-FC9F-C3FD3F44F7E4}"/>
              </a:ext>
            </a:extLst>
          </p:cNvPr>
          <p:cNvSpPr/>
          <p:nvPr/>
        </p:nvSpPr>
        <p:spPr>
          <a:xfrm>
            <a:off x="2693519" y="551885"/>
            <a:ext cx="3558276" cy="559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050" b="1">
                <a:solidFill>
                  <a:schemeClr val="tx2">
                    <a:lumMod val="75000"/>
                  </a:schemeClr>
                </a:solidFill>
              </a:rPr>
              <a:t>1.2: Average Profit by Product Category</a:t>
            </a:r>
            <a:endParaRPr lang="en-US" sz="105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lnSpc>
                <a:spcPts val="1500"/>
              </a:lnSpc>
            </a:pPr>
            <a:endParaRPr lang="ar-AE" sz="1050" b="1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lnSpc>
                <a:spcPts val="1500"/>
              </a:lnSpc>
              <a:buNone/>
            </a:pP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9046283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8EDE-B75D-3599-DF11-2269B6D1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90C732-D9F0-1633-3578-4CB65F4B0D9B}"/>
              </a:ext>
            </a:extLst>
          </p:cNvPr>
          <p:cNvSpPr/>
          <p:nvPr/>
        </p:nvSpPr>
        <p:spPr>
          <a:xfrm>
            <a:off x="1553545" y="213462"/>
            <a:ext cx="6036909" cy="3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>
                <a:solidFill>
                  <a:srgbClr val="7030A0"/>
                </a:solidFill>
              </a:rPr>
              <a:t>Data Product 2: Geographic Performance</a:t>
            </a:r>
          </a:p>
        </p:txBody>
      </p:sp>
      <p:pic>
        <p:nvPicPr>
          <p:cNvPr id="4" name="Picture 3" descr="A colorful pie chart with text&#10;&#10;AI-generated content may be incorrect.">
            <a:extLst>
              <a:ext uri="{FF2B5EF4-FFF2-40B4-BE49-F238E27FC236}">
                <a16:creationId xmlns:a16="http://schemas.microsoft.com/office/drawing/2014/main" id="{21756E12-994E-2705-3948-BA2F6933F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71" t="5298" r="26143"/>
          <a:stretch>
            <a:fillRect/>
          </a:stretch>
        </p:blipFill>
        <p:spPr>
          <a:xfrm>
            <a:off x="5383364" y="928657"/>
            <a:ext cx="2716567" cy="2823100"/>
          </a:xfrm>
          <a:prstGeom prst="rect">
            <a:avLst/>
          </a:prstGeom>
        </p:spPr>
      </p:pic>
      <p:sp>
        <p:nvSpPr>
          <p:cNvPr id="20" name="Google Shape;3286;p47">
            <a:extLst>
              <a:ext uri="{FF2B5EF4-FFF2-40B4-BE49-F238E27FC236}">
                <a16:creationId xmlns:a16="http://schemas.microsoft.com/office/drawing/2014/main" id="{66E9EA24-E3DC-6F2E-3C07-1D7E63800120}"/>
              </a:ext>
            </a:extLst>
          </p:cNvPr>
          <p:cNvSpPr/>
          <p:nvPr/>
        </p:nvSpPr>
        <p:spPr>
          <a:xfrm rot="10800000" flipH="1">
            <a:off x="1622326" y="2937874"/>
            <a:ext cx="2021761" cy="1107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287;p47">
            <a:extLst>
              <a:ext uri="{FF2B5EF4-FFF2-40B4-BE49-F238E27FC236}">
                <a16:creationId xmlns:a16="http://schemas.microsoft.com/office/drawing/2014/main" id="{1422BC6B-A44A-3588-FB19-B1A339A1B3BA}"/>
              </a:ext>
            </a:extLst>
          </p:cNvPr>
          <p:cNvSpPr/>
          <p:nvPr/>
        </p:nvSpPr>
        <p:spPr>
          <a:xfrm rot="10800000" flipH="1">
            <a:off x="1581302" y="3853768"/>
            <a:ext cx="1860086" cy="765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288;p47">
            <a:extLst>
              <a:ext uri="{FF2B5EF4-FFF2-40B4-BE49-F238E27FC236}">
                <a16:creationId xmlns:a16="http://schemas.microsoft.com/office/drawing/2014/main" id="{0DDC105E-08E4-A2D2-D8EE-C970CC7C3969}"/>
              </a:ext>
            </a:extLst>
          </p:cNvPr>
          <p:cNvSpPr/>
          <p:nvPr/>
        </p:nvSpPr>
        <p:spPr>
          <a:xfrm rot="10800000" flipH="1">
            <a:off x="1652827" y="2057859"/>
            <a:ext cx="1946215" cy="982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289;p47">
            <a:extLst>
              <a:ext uri="{FF2B5EF4-FFF2-40B4-BE49-F238E27FC236}">
                <a16:creationId xmlns:a16="http://schemas.microsoft.com/office/drawing/2014/main" id="{3D0019FD-962C-5734-8D2C-23234BA9C47A}"/>
              </a:ext>
            </a:extLst>
          </p:cNvPr>
          <p:cNvSpPr/>
          <p:nvPr/>
        </p:nvSpPr>
        <p:spPr>
          <a:xfrm rot="10800000" flipH="1">
            <a:off x="1652865" y="1152300"/>
            <a:ext cx="1718488" cy="92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290;p47">
            <a:extLst>
              <a:ext uri="{FF2B5EF4-FFF2-40B4-BE49-F238E27FC236}">
                <a16:creationId xmlns:a16="http://schemas.microsoft.com/office/drawing/2014/main" id="{5B3111ED-7A64-82ED-6A48-EBAF4ABBA55A}"/>
              </a:ext>
            </a:extLst>
          </p:cNvPr>
          <p:cNvSpPr txBox="1">
            <a:spLocks/>
          </p:cNvSpPr>
          <p:nvPr/>
        </p:nvSpPr>
        <p:spPr>
          <a:xfrm>
            <a:off x="1553545" y="998747"/>
            <a:ext cx="23316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</a:pPr>
            <a:r>
              <a:rPr lang="en-US" b="1"/>
              <a:t>Resource Allocation</a:t>
            </a:r>
            <a:r>
              <a:rPr lang="en-US"/>
              <a:t> </a:t>
            </a:r>
          </a:p>
        </p:txBody>
      </p:sp>
      <p:sp>
        <p:nvSpPr>
          <p:cNvPr id="26" name="Google Shape;3292;p47">
            <a:extLst>
              <a:ext uri="{FF2B5EF4-FFF2-40B4-BE49-F238E27FC236}">
                <a16:creationId xmlns:a16="http://schemas.microsoft.com/office/drawing/2014/main" id="{677B2008-48BC-1936-D3F9-A64416D03C80}"/>
              </a:ext>
            </a:extLst>
          </p:cNvPr>
          <p:cNvSpPr txBox="1">
            <a:spLocks/>
          </p:cNvSpPr>
          <p:nvPr/>
        </p:nvSpPr>
        <p:spPr>
          <a:xfrm>
            <a:off x="1564591" y="1929316"/>
            <a:ext cx="23316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b="1"/>
              <a:t>Growth Opportunities:</a:t>
            </a:r>
          </a:p>
        </p:txBody>
      </p:sp>
      <p:sp>
        <p:nvSpPr>
          <p:cNvPr id="32" name="Google Shape;3293;p47">
            <a:extLst>
              <a:ext uri="{FF2B5EF4-FFF2-40B4-BE49-F238E27FC236}">
                <a16:creationId xmlns:a16="http://schemas.microsoft.com/office/drawing/2014/main" id="{B0119BB2-6D97-73E3-3C29-B052B32C2DFA}"/>
              </a:ext>
            </a:extLst>
          </p:cNvPr>
          <p:cNvSpPr txBox="1">
            <a:spLocks/>
          </p:cNvSpPr>
          <p:nvPr/>
        </p:nvSpPr>
        <p:spPr>
          <a:xfrm>
            <a:off x="1499616" y="2228834"/>
            <a:ext cx="23316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/>
              <a:t> Run targeted campaigns in the Central and South regions.</a:t>
            </a:r>
            <a:endParaRPr lang="en-US"/>
          </a:p>
        </p:txBody>
      </p:sp>
      <p:sp>
        <p:nvSpPr>
          <p:cNvPr id="42" name="Google Shape;3294;p47">
            <a:extLst>
              <a:ext uri="{FF2B5EF4-FFF2-40B4-BE49-F238E27FC236}">
                <a16:creationId xmlns:a16="http://schemas.microsoft.com/office/drawing/2014/main" id="{8C6B9B68-381F-FBC1-D7D0-B1CAE1061D37}"/>
              </a:ext>
            </a:extLst>
          </p:cNvPr>
          <p:cNvSpPr txBox="1">
            <a:spLocks/>
          </p:cNvSpPr>
          <p:nvPr/>
        </p:nvSpPr>
        <p:spPr>
          <a:xfrm>
            <a:off x="1546767" y="2814125"/>
            <a:ext cx="23316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b="1"/>
              <a:t>Regional Optimization:</a:t>
            </a:r>
          </a:p>
        </p:txBody>
      </p:sp>
      <p:sp>
        <p:nvSpPr>
          <p:cNvPr id="43" name="Google Shape;3295;p47">
            <a:extLst>
              <a:ext uri="{FF2B5EF4-FFF2-40B4-BE49-F238E27FC236}">
                <a16:creationId xmlns:a16="http://schemas.microsoft.com/office/drawing/2014/main" id="{6D0E4C81-6D12-37B9-33F7-3215C0D41E72}"/>
              </a:ext>
            </a:extLst>
          </p:cNvPr>
          <p:cNvSpPr txBox="1">
            <a:spLocks/>
          </p:cNvSpPr>
          <p:nvPr/>
        </p:nvSpPr>
        <p:spPr>
          <a:xfrm>
            <a:off x="1499616" y="3205547"/>
            <a:ext cx="23316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GB"/>
              <a:t> Learn from the West's success and apply it to other regions.</a:t>
            </a:r>
            <a:endParaRPr lang="en-US"/>
          </a:p>
        </p:txBody>
      </p:sp>
      <p:sp>
        <p:nvSpPr>
          <p:cNvPr id="44" name="Google Shape;3296;p47">
            <a:extLst>
              <a:ext uri="{FF2B5EF4-FFF2-40B4-BE49-F238E27FC236}">
                <a16:creationId xmlns:a16="http://schemas.microsoft.com/office/drawing/2014/main" id="{88EECBAA-F113-795C-84D9-11BF13D16890}"/>
              </a:ext>
            </a:extLst>
          </p:cNvPr>
          <p:cNvSpPr txBox="1">
            <a:spLocks/>
          </p:cNvSpPr>
          <p:nvPr/>
        </p:nvSpPr>
        <p:spPr>
          <a:xfrm>
            <a:off x="1499616" y="3683249"/>
            <a:ext cx="23316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b="1"/>
              <a:t>Competitive Analysis:</a:t>
            </a:r>
          </a:p>
        </p:txBody>
      </p:sp>
      <p:sp>
        <p:nvSpPr>
          <p:cNvPr id="45" name="Google Shape;3297;p47">
            <a:extLst>
              <a:ext uri="{FF2B5EF4-FFF2-40B4-BE49-F238E27FC236}">
                <a16:creationId xmlns:a16="http://schemas.microsoft.com/office/drawing/2014/main" id="{9CF5A649-9776-8C7F-449A-3E5F76ACB319}"/>
              </a:ext>
            </a:extLst>
          </p:cNvPr>
          <p:cNvSpPr txBox="1">
            <a:spLocks/>
          </p:cNvSpPr>
          <p:nvPr/>
        </p:nvSpPr>
        <p:spPr>
          <a:xfrm>
            <a:off x="1499616" y="4151175"/>
            <a:ext cx="23316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-GB"/>
              <a:t> </a:t>
            </a:r>
            <a:r>
              <a:rPr lang="en-GB" err="1"/>
              <a:t>Analyze</a:t>
            </a:r>
            <a:r>
              <a:rPr lang="en-GB"/>
              <a:t> competitors in each region to find growth advantages.</a:t>
            </a:r>
            <a:endParaRPr lang="en-US"/>
          </a:p>
        </p:txBody>
      </p:sp>
      <p:grpSp>
        <p:nvGrpSpPr>
          <p:cNvPr id="51" name="Google Shape;3299;p47">
            <a:extLst>
              <a:ext uri="{FF2B5EF4-FFF2-40B4-BE49-F238E27FC236}">
                <a16:creationId xmlns:a16="http://schemas.microsoft.com/office/drawing/2014/main" id="{2D77BF69-6529-A3D3-8EC1-9500C94AEDB1}"/>
              </a:ext>
            </a:extLst>
          </p:cNvPr>
          <p:cNvGrpSpPr/>
          <p:nvPr/>
        </p:nvGrpSpPr>
        <p:grpSpPr>
          <a:xfrm>
            <a:off x="801669" y="1108331"/>
            <a:ext cx="522310" cy="861282"/>
            <a:chOff x="1390388" y="3178875"/>
            <a:chExt cx="683920" cy="1188467"/>
          </a:xfrm>
        </p:grpSpPr>
        <p:sp>
          <p:nvSpPr>
            <p:cNvPr id="52" name="Google Shape;3300;p47">
              <a:extLst>
                <a:ext uri="{FF2B5EF4-FFF2-40B4-BE49-F238E27FC236}">
                  <a16:creationId xmlns:a16="http://schemas.microsoft.com/office/drawing/2014/main" id="{7BB1B220-2707-8F1A-6A7D-001940312931}"/>
                </a:ext>
              </a:extLst>
            </p:cNvPr>
            <p:cNvSpPr/>
            <p:nvPr/>
          </p:nvSpPr>
          <p:spPr>
            <a:xfrm flipH="1">
              <a:off x="1390388" y="3178875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01;p47">
              <a:extLst>
                <a:ext uri="{FF2B5EF4-FFF2-40B4-BE49-F238E27FC236}">
                  <a16:creationId xmlns:a16="http://schemas.microsoft.com/office/drawing/2014/main" id="{3C30B4FC-AB33-9B1F-BF45-02C0B1953102}"/>
                </a:ext>
              </a:extLst>
            </p:cNvPr>
            <p:cNvSpPr/>
            <p:nvPr/>
          </p:nvSpPr>
          <p:spPr>
            <a:xfrm flipH="1">
              <a:off x="1435938" y="3200300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02;p47">
              <a:extLst>
                <a:ext uri="{FF2B5EF4-FFF2-40B4-BE49-F238E27FC236}">
                  <a16:creationId xmlns:a16="http://schemas.microsoft.com/office/drawing/2014/main" id="{B318ACDD-36E5-D774-2F69-FF961AE4F975}"/>
                </a:ext>
              </a:extLst>
            </p:cNvPr>
            <p:cNvSpPr/>
            <p:nvPr/>
          </p:nvSpPr>
          <p:spPr>
            <a:xfrm>
              <a:off x="1624100" y="3460300"/>
              <a:ext cx="233253" cy="632437"/>
            </a:xfrm>
            <a:custGeom>
              <a:avLst/>
              <a:gdLst/>
              <a:ahLst/>
              <a:cxnLst/>
              <a:rect l="l" t="t" r="r" b="b"/>
              <a:pathLst>
                <a:path w="22542" h="61105" extrusionOk="0">
                  <a:moveTo>
                    <a:pt x="21578" y="0"/>
                  </a:moveTo>
                  <a:cubicBezTo>
                    <a:pt x="21243" y="0"/>
                    <a:pt x="20817" y="156"/>
                    <a:pt x="20291" y="463"/>
                  </a:cubicBezTo>
                  <a:lnTo>
                    <a:pt x="2219" y="10901"/>
                  </a:lnTo>
                  <a:cubicBezTo>
                    <a:pt x="686" y="11782"/>
                    <a:pt x="1" y="13022"/>
                    <a:pt x="1" y="14914"/>
                  </a:cubicBezTo>
                  <a:lnTo>
                    <a:pt x="1" y="24145"/>
                  </a:lnTo>
                  <a:cubicBezTo>
                    <a:pt x="1" y="25426"/>
                    <a:pt x="304" y="26027"/>
                    <a:pt x="959" y="26027"/>
                  </a:cubicBezTo>
                  <a:cubicBezTo>
                    <a:pt x="1288" y="26027"/>
                    <a:pt x="1706" y="25875"/>
                    <a:pt x="2219" y="25580"/>
                  </a:cubicBezTo>
                  <a:lnTo>
                    <a:pt x="7993" y="22253"/>
                  </a:lnTo>
                  <a:lnTo>
                    <a:pt x="7993" y="59375"/>
                  </a:lnTo>
                  <a:cubicBezTo>
                    <a:pt x="7993" y="60390"/>
                    <a:pt x="8801" y="61104"/>
                    <a:pt x="9690" y="61104"/>
                  </a:cubicBezTo>
                  <a:cubicBezTo>
                    <a:pt x="9972" y="61104"/>
                    <a:pt x="10262" y="61032"/>
                    <a:pt x="10537" y="60875"/>
                  </a:cubicBezTo>
                  <a:lnTo>
                    <a:pt x="20649" y="55036"/>
                  </a:lnTo>
                  <a:cubicBezTo>
                    <a:pt x="21856" y="54351"/>
                    <a:pt x="22541" y="53144"/>
                    <a:pt x="22541" y="51774"/>
                  </a:cubicBezTo>
                  <a:lnTo>
                    <a:pt x="22541" y="1866"/>
                  </a:lnTo>
                  <a:cubicBezTo>
                    <a:pt x="22541" y="609"/>
                    <a:pt x="22239" y="0"/>
                    <a:pt x="215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3303;p47">
            <a:extLst>
              <a:ext uri="{FF2B5EF4-FFF2-40B4-BE49-F238E27FC236}">
                <a16:creationId xmlns:a16="http://schemas.microsoft.com/office/drawing/2014/main" id="{BB986870-5455-5F5B-D079-11F11EE39438}"/>
              </a:ext>
            </a:extLst>
          </p:cNvPr>
          <p:cNvGrpSpPr/>
          <p:nvPr/>
        </p:nvGrpSpPr>
        <p:grpSpPr>
          <a:xfrm>
            <a:off x="804701" y="1999403"/>
            <a:ext cx="516190" cy="861282"/>
            <a:chOff x="4215263" y="3178875"/>
            <a:chExt cx="675907" cy="1188467"/>
          </a:xfrm>
        </p:grpSpPr>
        <p:sp>
          <p:nvSpPr>
            <p:cNvPr id="56" name="Google Shape;3304;p47">
              <a:extLst>
                <a:ext uri="{FF2B5EF4-FFF2-40B4-BE49-F238E27FC236}">
                  <a16:creationId xmlns:a16="http://schemas.microsoft.com/office/drawing/2014/main" id="{604B12B6-FFD4-6073-A36F-ADDE200FF091}"/>
                </a:ext>
              </a:extLst>
            </p:cNvPr>
            <p:cNvSpPr/>
            <p:nvPr/>
          </p:nvSpPr>
          <p:spPr>
            <a:xfrm flipH="1">
              <a:off x="4215263" y="3178875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05;p47">
              <a:extLst>
                <a:ext uri="{FF2B5EF4-FFF2-40B4-BE49-F238E27FC236}">
                  <a16:creationId xmlns:a16="http://schemas.microsoft.com/office/drawing/2014/main" id="{9C96ED7E-05E4-ACC4-FD8C-682D3DD26154}"/>
                </a:ext>
              </a:extLst>
            </p:cNvPr>
            <p:cNvSpPr/>
            <p:nvPr/>
          </p:nvSpPr>
          <p:spPr>
            <a:xfrm flipH="1">
              <a:off x="4252800" y="3200300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06;p47">
              <a:extLst>
                <a:ext uri="{FF2B5EF4-FFF2-40B4-BE49-F238E27FC236}">
                  <a16:creationId xmlns:a16="http://schemas.microsoft.com/office/drawing/2014/main" id="{710D732C-74EE-9FEB-B8F5-5F6A07779DC8}"/>
                </a:ext>
              </a:extLst>
            </p:cNvPr>
            <p:cNvSpPr/>
            <p:nvPr/>
          </p:nvSpPr>
          <p:spPr>
            <a:xfrm>
              <a:off x="4398730" y="3451413"/>
              <a:ext cx="346760" cy="702915"/>
            </a:xfrm>
            <a:custGeom>
              <a:avLst/>
              <a:gdLst/>
              <a:ahLst/>
              <a:cxnLst/>
              <a:rect l="l" t="t" r="r" b="b"/>
              <a:pathLst>
                <a:path w="31740" h="64340" extrusionOk="0">
                  <a:moveTo>
                    <a:pt x="26896" y="0"/>
                  </a:moveTo>
                  <a:cubicBezTo>
                    <a:pt x="25394" y="0"/>
                    <a:pt x="23544" y="620"/>
                    <a:pt x="21366" y="1865"/>
                  </a:cubicBezTo>
                  <a:lnTo>
                    <a:pt x="4274" y="11749"/>
                  </a:lnTo>
                  <a:cubicBezTo>
                    <a:pt x="2871" y="12597"/>
                    <a:pt x="2219" y="13738"/>
                    <a:pt x="2219" y="15500"/>
                  </a:cubicBezTo>
                  <a:lnTo>
                    <a:pt x="2219" y="23753"/>
                  </a:lnTo>
                  <a:cubicBezTo>
                    <a:pt x="2219" y="24932"/>
                    <a:pt x="2482" y="25526"/>
                    <a:pt x="3096" y="25526"/>
                  </a:cubicBezTo>
                  <a:cubicBezTo>
                    <a:pt x="3399" y="25526"/>
                    <a:pt x="3788" y="25381"/>
                    <a:pt x="4274" y="25090"/>
                  </a:cubicBezTo>
                  <a:lnTo>
                    <a:pt x="16865" y="17848"/>
                  </a:lnTo>
                  <a:cubicBezTo>
                    <a:pt x="17279" y="17612"/>
                    <a:pt x="17595" y="17482"/>
                    <a:pt x="17829" y="17482"/>
                  </a:cubicBezTo>
                  <a:cubicBezTo>
                    <a:pt x="18239" y="17482"/>
                    <a:pt x="18398" y="17880"/>
                    <a:pt x="18398" y="18794"/>
                  </a:cubicBezTo>
                  <a:cubicBezTo>
                    <a:pt x="18398" y="20360"/>
                    <a:pt x="18072" y="21110"/>
                    <a:pt x="16865" y="22252"/>
                  </a:cubicBezTo>
                  <a:lnTo>
                    <a:pt x="9101" y="29722"/>
                  </a:lnTo>
                  <a:cubicBezTo>
                    <a:pt x="3752" y="34778"/>
                    <a:pt x="0" y="39443"/>
                    <a:pt x="0" y="50436"/>
                  </a:cubicBezTo>
                  <a:lnTo>
                    <a:pt x="0" y="62570"/>
                  </a:lnTo>
                  <a:cubicBezTo>
                    <a:pt x="0" y="63760"/>
                    <a:pt x="283" y="64339"/>
                    <a:pt x="918" y="64339"/>
                  </a:cubicBezTo>
                  <a:cubicBezTo>
                    <a:pt x="1224" y="64339"/>
                    <a:pt x="1611" y="64205"/>
                    <a:pt x="2088" y="63940"/>
                  </a:cubicBezTo>
                  <a:lnTo>
                    <a:pt x="29652" y="47989"/>
                  </a:lnTo>
                  <a:cubicBezTo>
                    <a:pt x="31087" y="47109"/>
                    <a:pt x="31740" y="45999"/>
                    <a:pt x="31740" y="44238"/>
                  </a:cubicBezTo>
                  <a:lnTo>
                    <a:pt x="31740" y="35953"/>
                  </a:lnTo>
                  <a:cubicBezTo>
                    <a:pt x="31740" y="34773"/>
                    <a:pt x="31462" y="34208"/>
                    <a:pt x="30838" y="34208"/>
                  </a:cubicBezTo>
                  <a:cubicBezTo>
                    <a:pt x="30529" y="34208"/>
                    <a:pt x="30137" y="34346"/>
                    <a:pt x="29652" y="34615"/>
                  </a:cubicBezTo>
                  <a:lnTo>
                    <a:pt x="13146" y="44140"/>
                  </a:lnTo>
                  <a:lnTo>
                    <a:pt x="13146" y="42672"/>
                  </a:lnTo>
                  <a:cubicBezTo>
                    <a:pt x="13146" y="41139"/>
                    <a:pt x="13505" y="40813"/>
                    <a:pt x="14647" y="39704"/>
                  </a:cubicBezTo>
                  <a:lnTo>
                    <a:pt x="22508" y="32071"/>
                  </a:lnTo>
                  <a:cubicBezTo>
                    <a:pt x="28151" y="26688"/>
                    <a:pt x="31576" y="21469"/>
                    <a:pt x="31576" y="14358"/>
                  </a:cubicBezTo>
                  <a:lnTo>
                    <a:pt x="31576" y="7704"/>
                  </a:lnTo>
                  <a:cubicBezTo>
                    <a:pt x="31576" y="2581"/>
                    <a:pt x="29960" y="0"/>
                    <a:pt x="268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3307;p47">
            <a:extLst>
              <a:ext uri="{FF2B5EF4-FFF2-40B4-BE49-F238E27FC236}">
                <a16:creationId xmlns:a16="http://schemas.microsoft.com/office/drawing/2014/main" id="{46574D14-BCB1-D6C9-670A-38FFD98BA35F}"/>
              </a:ext>
            </a:extLst>
          </p:cNvPr>
          <p:cNvGrpSpPr/>
          <p:nvPr/>
        </p:nvGrpSpPr>
        <p:grpSpPr>
          <a:xfrm>
            <a:off x="803106" y="2890475"/>
            <a:ext cx="519407" cy="861282"/>
            <a:chOff x="7027913" y="3178875"/>
            <a:chExt cx="680120" cy="1188467"/>
          </a:xfrm>
        </p:grpSpPr>
        <p:sp>
          <p:nvSpPr>
            <p:cNvPr id="60" name="Google Shape;3308;p47">
              <a:extLst>
                <a:ext uri="{FF2B5EF4-FFF2-40B4-BE49-F238E27FC236}">
                  <a16:creationId xmlns:a16="http://schemas.microsoft.com/office/drawing/2014/main" id="{4AA01D13-B819-2A17-15F0-06D1F885FB54}"/>
                </a:ext>
              </a:extLst>
            </p:cNvPr>
            <p:cNvSpPr/>
            <p:nvPr/>
          </p:nvSpPr>
          <p:spPr>
            <a:xfrm flipH="1">
              <a:off x="7027913" y="3178875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09;p47">
              <a:extLst>
                <a:ext uri="{FF2B5EF4-FFF2-40B4-BE49-F238E27FC236}">
                  <a16:creationId xmlns:a16="http://schemas.microsoft.com/office/drawing/2014/main" id="{0FE71FAB-C618-FD3E-F6B8-A5674FFD1685}"/>
                </a:ext>
              </a:extLst>
            </p:cNvPr>
            <p:cNvSpPr/>
            <p:nvPr/>
          </p:nvSpPr>
          <p:spPr>
            <a:xfrm flipH="1">
              <a:off x="7069663" y="3200300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10;p47">
              <a:extLst>
                <a:ext uri="{FF2B5EF4-FFF2-40B4-BE49-F238E27FC236}">
                  <a16:creationId xmlns:a16="http://schemas.microsoft.com/office/drawing/2014/main" id="{DD4BAF8C-A707-F3EE-543A-639420FB94AB}"/>
                </a:ext>
              </a:extLst>
            </p:cNvPr>
            <p:cNvSpPr/>
            <p:nvPr/>
          </p:nvSpPr>
          <p:spPr>
            <a:xfrm>
              <a:off x="7211543" y="3452255"/>
              <a:ext cx="354857" cy="701234"/>
            </a:xfrm>
            <a:custGeom>
              <a:avLst/>
              <a:gdLst/>
              <a:ahLst/>
              <a:cxnLst/>
              <a:rect l="l" t="t" r="r" b="b"/>
              <a:pathLst>
                <a:path w="33273" h="65751" extrusionOk="0">
                  <a:moveTo>
                    <a:pt x="24820" y="1"/>
                  </a:moveTo>
                  <a:cubicBezTo>
                    <a:pt x="23338" y="1"/>
                    <a:pt x="21473" y="620"/>
                    <a:pt x="19213" y="1930"/>
                  </a:cubicBezTo>
                  <a:lnTo>
                    <a:pt x="2186" y="11716"/>
                  </a:lnTo>
                  <a:cubicBezTo>
                    <a:pt x="653" y="12630"/>
                    <a:pt x="0" y="13804"/>
                    <a:pt x="0" y="15696"/>
                  </a:cubicBezTo>
                  <a:lnTo>
                    <a:pt x="0" y="24438"/>
                  </a:lnTo>
                  <a:cubicBezTo>
                    <a:pt x="0" y="25704"/>
                    <a:pt x="307" y="26328"/>
                    <a:pt x="960" y="26328"/>
                  </a:cubicBezTo>
                  <a:cubicBezTo>
                    <a:pt x="1282" y="26328"/>
                    <a:pt x="1689" y="26175"/>
                    <a:pt x="2186" y="25873"/>
                  </a:cubicBezTo>
                  <a:lnTo>
                    <a:pt x="13537" y="19349"/>
                  </a:lnTo>
                  <a:cubicBezTo>
                    <a:pt x="14187" y="18970"/>
                    <a:pt x="14661" y="18811"/>
                    <a:pt x="15004" y="18811"/>
                  </a:cubicBezTo>
                  <a:cubicBezTo>
                    <a:pt x="15693" y="18811"/>
                    <a:pt x="15853" y="19457"/>
                    <a:pt x="15853" y="20263"/>
                  </a:cubicBezTo>
                  <a:lnTo>
                    <a:pt x="15853" y="21339"/>
                  </a:lnTo>
                  <a:cubicBezTo>
                    <a:pt x="15853" y="22579"/>
                    <a:pt x="15495" y="23786"/>
                    <a:pt x="13537" y="24927"/>
                  </a:cubicBezTo>
                  <a:lnTo>
                    <a:pt x="7144" y="28646"/>
                  </a:lnTo>
                  <a:cubicBezTo>
                    <a:pt x="5578" y="29559"/>
                    <a:pt x="4926" y="30734"/>
                    <a:pt x="4926" y="32593"/>
                  </a:cubicBezTo>
                  <a:lnTo>
                    <a:pt x="4926" y="40552"/>
                  </a:lnTo>
                  <a:cubicBezTo>
                    <a:pt x="4926" y="41819"/>
                    <a:pt x="5233" y="42427"/>
                    <a:pt x="5895" y="42427"/>
                  </a:cubicBezTo>
                  <a:cubicBezTo>
                    <a:pt x="6223" y="42427"/>
                    <a:pt x="6637" y="42279"/>
                    <a:pt x="7144" y="41988"/>
                  </a:cubicBezTo>
                  <a:lnTo>
                    <a:pt x="17484" y="35986"/>
                  </a:lnTo>
                  <a:cubicBezTo>
                    <a:pt x="18157" y="35593"/>
                    <a:pt x="18641" y="35428"/>
                    <a:pt x="18986" y="35428"/>
                  </a:cubicBezTo>
                  <a:cubicBezTo>
                    <a:pt x="19646" y="35428"/>
                    <a:pt x="19800" y="36030"/>
                    <a:pt x="19800" y="36801"/>
                  </a:cubicBezTo>
                  <a:lnTo>
                    <a:pt x="19800" y="38791"/>
                  </a:lnTo>
                  <a:cubicBezTo>
                    <a:pt x="19800" y="40030"/>
                    <a:pt x="19442" y="41237"/>
                    <a:pt x="17484" y="42379"/>
                  </a:cubicBezTo>
                  <a:lnTo>
                    <a:pt x="2186" y="51252"/>
                  </a:lnTo>
                  <a:cubicBezTo>
                    <a:pt x="653" y="52132"/>
                    <a:pt x="0" y="53307"/>
                    <a:pt x="0" y="55199"/>
                  </a:cubicBezTo>
                  <a:lnTo>
                    <a:pt x="0" y="63876"/>
                  </a:lnTo>
                  <a:cubicBezTo>
                    <a:pt x="0" y="65142"/>
                    <a:pt x="307" y="65751"/>
                    <a:pt x="960" y="65751"/>
                  </a:cubicBezTo>
                  <a:cubicBezTo>
                    <a:pt x="1283" y="65751"/>
                    <a:pt x="1690" y="65602"/>
                    <a:pt x="2186" y="65311"/>
                  </a:cubicBezTo>
                  <a:lnTo>
                    <a:pt x="21431" y="54187"/>
                  </a:lnTo>
                  <a:cubicBezTo>
                    <a:pt x="29228" y="49686"/>
                    <a:pt x="33272" y="42673"/>
                    <a:pt x="33272" y="35007"/>
                  </a:cubicBezTo>
                  <a:lnTo>
                    <a:pt x="33272" y="27602"/>
                  </a:lnTo>
                  <a:cubicBezTo>
                    <a:pt x="33272" y="22766"/>
                    <a:pt x="32253" y="20232"/>
                    <a:pt x="29428" y="20232"/>
                  </a:cubicBezTo>
                  <a:cubicBezTo>
                    <a:pt x="28404" y="20232"/>
                    <a:pt x="27143" y="20565"/>
                    <a:pt x="25607" y="21241"/>
                  </a:cubicBezTo>
                  <a:cubicBezTo>
                    <a:pt x="28282" y="18240"/>
                    <a:pt x="29195" y="14913"/>
                    <a:pt x="29195" y="11129"/>
                  </a:cubicBezTo>
                  <a:lnTo>
                    <a:pt x="29195" y="6791"/>
                  </a:lnTo>
                  <a:cubicBezTo>
                    <a:pt x="29195" y="2450"/>
                    <a:pt x="27765" y="1"/>
                    <a:pt x="24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311;p47">
            <a:extLst>
              <a:ext uri="{FF2B5EF4-FFF2-40B4-BE49-F238E27FC236}">
                <a16:creationId xmlns:a16="http://schemas.microsoft.com/office/drawing/2014/main" id="{B5126C81-4995-E4CC-53A1-8344905CD0EA}"/>
              </a:ext>
            </a:extLst>
          </p:cNvPr>
          <p:cNvGrpSpPr/>
          <p:nvPr/>
        </p:nvGrpSpPr>
        <p:grpSpPr>
          <a:xfrm>
            <a:off x="798582" y="3781547"/>
            <a:ext cx="522310" cy="861282"/>
            <a:chOff x="1390388" y="3178875"/>
            <a:chExt cx="683920" cy="1188467"/>
          </a:xfrm>
        </p:grpSpPr>
        <p:sp>
          <p:nvSpPr>
            <p:cNvPr id="64" name="Google Shape;3312;p47">
              <a:extLst>
                <a:ext uri="{FF2B5EF4-FFF2-40B4-BE49-F238E27FC236}">
                  <a16:creationId xmlns:a16="http://schemas.microsoft.com/office/drawing/2014/main" id="{8C797831-2C17-1546-F8B5-9B8A501371B7}"/>
                </a:ext>
              </a:extLst>
            </p:cNvPr>
            <p:cNvSpPr/>
            <p:nvPr/>
          </p:nvSpPr>
          <p:spPr>
            <a:xfrm flipH="1">
              <a:off x="1390388" y="3178875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313;p47">
              <a:extLst>
                <a:ext uri="{FF2B5EF4-FFF2-40B4-BE49-F238E27FC236}">
                  <a16:creationId xmlns:a16="http://schemas.microsoft.com/office/drawing/2014/main" id="{C021FD0B-F4C9-168E-C169-5FEA88E3853F}"/>
                </a:ext>
              </a:extLst>
            </p:cNvPr>
            <p:cNvSpPr/>
            <p:nvPr/>
          </p:nvSpPr>
          <p:spPr>
            <a:xfrm flipH="1">
              <a:off x="1435938" y="3200300"/>
              <a:ext cx="638370" cy="1167042"/>
            </a:xfrm>
            <a:custGeom>
              <a:avLst/>
              <a:gdLst/>
              <a:ahLst/>
              <a:cxnLst/>
              <a:rect l="l" t="t" r="r" b="b"/>
              <a:pathLst>
                <a:path w="19424" h="32022" extrusionOk="0">
                  <a:moveTo>
                    <a:pt x="1029" y="0"/>
                  </a:moveTo>
                  <a:cubicBezTo>
                    <a:pt x="422" y="0"/>
                    <a:pt x="1" y="567"/>
                    <a:pt x="1" y="1500"/>
                  </a:cubicBezTo>
                  <a:lnTo>
                    <a:pt x="1" y="19332"/>
                  </a:lnTo>
                  <a:cubicBezTo>
                    <a:pt x="1" y="20586"/>
                    <a:pt x="763" y="22054"/>
                    <a:pt x="1715" y="22603"/>
                  </a:cubicBezTo>
                  <a:lnTo>
                    <a:pt x="17710" y="31821"/>
                  </a:lnTo>
                  <a:cubicBezTo>
                    <a:pt x="17951" y="31957"/>
                    <a:pt x="18180" y="32022"/>
                    <a:pt x="18387" y="32022"/>
                  </a:cubicBezTo>
                  <a:cubicBezTo>
                    <a:pt x="18999" y="32022"/>
                    <a:pt x="19424" y="31462"/>
                    <a:pt x="19424" y="30533"/>
                  </a:cubicBezTo>
                  <a:lnTo>
                    <a:pt x="19424" y="12701"/>
                  </a:lnTo>
                  <a:cubicBezTo>
                    <a:pt x="19424" y="11446"/>
                    <a:pt x="18662" y="9968"/>
                    <a:pt x="17710" y="9430"/>
                  </a:cubicBezTo>
                  <a:lnTo>
                    <a:pt x="1715" y="212"/>
                  </a:lnTo>
                  <a:cubicBezTo>
                    <a:pt x="1470" y="68"/>
                    <a:pt x="1238" y="0"/>
                    <a:pt x="10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314;p47">
              <a:extLst>
                <a:ext uri="{FF2B5EF4-FFF2-40B4-BE49-F238E27FC236}">
                  <a16:creationId xmlns:a16="http://schemas.microsoft.com/office/drawing/2014/main" id="{649B49BF-F555-F673-760B-85E179F3FB23}"/>
                </a:ext>
              </a:extLst>
            </p:cNvPr>
            <p:cNvSpPr/>
            <p:nvPr/>
          </p:nvSpPr>
          <p:spPr>
            <a:xfrm>
              <a:off x="1561363" y="3384099"/>
              <a:ext cx="387765" cy="660469"/>
            </a:xfrm>
            <a:custGeom>
              <a:avLst/>
              <a:gdLst/>
              <a:ahLst/>
              <a:cxnLst/>
              <a:rect l="l" t="t" r="r" b="b"/>
              <a:pathLst>
                <a:path w="33306" h="56717" extrusionOk="0">
                  <a:moveTo>
                    <a:pt x="32373" y="0"/>
                  </a:moveTo>
                  <a:cubicBezTo>
                    <a:pt x="32068" y="0"/>
                    <a:pt x="31684" y="134"/>
                    <a:pt x="31218" y="399"/>
                  </a:cubicBezTo>
                  <a:lnTo>
                    <a:pt x="22346" y="5553"/>
                  </a:lnTo>
                  <a:cubicBezTo>
                    <a:pt x="20910" y="6401"/>
                    <a:pt x="20258" y="7543"/>
                    <a:pt x="20258" y="9304"/>
                  </a:cubicBezTo>
                  <a:lnTo>
                    <a:pt x="20258" y="30996"/>
                  </a:lnTo>
                  <a:lnTo>
                    <a:pt x="14876" y="34095"/>
                  </a:lnTo>
                  <a:cubicBezTo>
                    <a:pt x="14559" y="34282"/>
                    <a:pt x="14276" y="34372"/>
                    <a:pt x="14035" y="34372"/>
                  </a:cubicBezTo>
                  <a:cubicBezTo>
                    <a:pt x="13431" y="34372"/>
                    <a:pt x="13081" y="33806"/>
                    <a:pt x="13081" y="32758"/>
                  </a:cubicBezTo>
                  <a:lnTo>
                    <a:pt x="13081" y="13414"/>
                  </a:lnTo>
                  <a:cubicBezTo>
                    <a:pt x="13081" y="12235"/>
                    <a:pt x="12789" y="11670"/>
                    <a:pt x="12165" y="11670"/>
                  </a:cubicBezTo>
                  <a:cubicBezTo>
                    <a:pt x="11857" y="11670"/>
                    <a:pt x="11468" y="11807"/>
                    <a:pt x="10994" y="12077"/>
                  </a:cubicBezTo>
                  <a:lnTo>
                    <a:pt x="2056" y="17263"/>
                  </a:lnTo>
                  <a:cubicBezTo>
                    <a:pt x="653" y="18112"/>
                    <a:pt x="1" y="19253"/>
                    <a:pt x="1" y="20982"/>
                  </a:cubicBezTo>
                  <a:lnTo>
                    <a:pt x="1" y="45741"/>
                  </a:lnTo>
                  <a:cubicBezTo>
                    <a:pt x="1" y="50982"/>
                    <a:pt x="1281" y="53621"/>
                    <a:pt x="4260" y="53621"/>
                  </a:cubicBezTo>
                  <a:cubicBezTo>
                    <a:pt x="5842" y="53621"/>
                    <a:pt x="7903" y="52877"/>
                    <a:pt x="10505" y="51384"/>
                  </a:cubicBezTo>
                  <a:lnTo>
                    <a:pt x="20258" y="45741"/>
                  </a:lnTo>
                  <a:lnTo>
                    <a:pt x="20258" y="54972"/>
                  </a:lnTo>
                  <a:cubicBezTo>
                    <a:pt x="20258" y="56151"/>
                    <a:pt x="20550" y="56717"/>
                    <a:pt x="21174" y="56717"/>
                  </a:cubicBezTo>
                  <a:cubicBezTo>
                    <a:pt x="21482" y="56717"/>
                    <a:pt x="21871" y="56579"/>
                    <a:pt x="22346" y="56309"/>
                  </a:cubicBezTo>
                  <a:lnTo>
                    <a:pt x="31218" y="51188"/>
                  </a:lnTo>
                  <a:cubicBezTo>
                    <a:pt x="32653" y="50307"/>
                    <a:pt x="33306" y="49166"/>
                    <a:pt x="33306" y="47437"/>
                  </a:cubicBezTo>
                  <a:lnTo>
                    <a:pt x="33306" y="1769"/>
                  </a:lnTo>
                  <a:cubicBezTo>
                    <a:pt x="33306" y="580"/>
                    <a:pt x="33008" y="0"/>
                    <a:pt x="32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3293;p47">
            <a:extLst>
              <a:ext uri="{FF2B5EF4-FFF2-40B4-BE49-F238E27FC236}">
                <a16:creationId xmlns:a16="http://schemas.microsoft.com/office/drawing/2014/main" id="{D6106618-9535-9D32-A5D6-9C58C7AB009C}"/>
              </a:ext>
            </a:extLst>
          </p:cNvPr>
          <p:cNvSpPr txBox="1">
            <a:spLocks/>
          </p:cNvSpPr>
          <p:nvPr/>
        </p:nvSpPr>
        <p:spPr>
          <a:xfrm>
            <a:off x="1531371" y="1333634"/>
            <a:ext cx="23316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Focus resources on the West. Keep investing in the leader.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A1C621-9BCD-F15C-B361-F2E40F49BDEB}"/>
              </a:ext>
            </a:extLst>
          </p:cNvPr>
          <p:cNvSpPr txBox="1"/>
          <p:nvPr/>
        </p:nvSpPr>
        <p:spPr>
          <a:xfrm>
            <a:off x="5383365" y="3591581"/>
            <a:ext cx="2716566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"/>
              </a:spcAft>
              <a:buNone/>
            </a:pPr>
            <a:br>
              <a:rPr lang="en-US" b="1" i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</a:rPr>
            </a:br>
            <a:r>
              <a:rPr lang="en-US" b="1" i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</a:rPr>
              <a:t>Key Observation</a:t>
            </a:r>
          </a:p>
          <a:p>
            <a:pPr algn="l">
              <a:spcBef>
                <a:spcPts val="75"/>
              </a:spcBef>
              <a:spcAft>
                <a:spcPts val="75"/>
              </a:spcAft>
              <a:buNone/>
            </a:pPr>
            <a:r>
              <a:rPr lang="en-US" b="0" i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</a:rPr>
              <a:t>West region is the leader. Central region is a growth opportunity.</a:t>
            </a: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0903242E-2E5F-7A94-C5C8-72850C3D2942}"/>
              </a:ext>
            </a:extLst>
          </p:cNvPr>
          <p:cNvSpPr/>
          <p:nvPr/>
        </p:nvSpPr>
        <p:spPr>
          <a:xfrm>
            <a:off x="2979783" y="582714"/>
            <a:ext cx="2828022" cy="1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>
                <a:solidFill>
                  <a:srgbClr val="E74C3C"/>
                </a:solidFill>
              </a:rPr>
              <a:t>Story 2.1: Total Sales Revenue by Region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31286427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A34D-6766-2956-3238-A5CE5506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1552B42-0761-5C4C-A5DB-F4A1310583DB}"/>
              </a:ext>
            </a:extLst>
          </p:cNvPr>
          <p:cNvSpPr/>
          <p:nvPr/>
        </p:nvSpPr>
        <p:spPr>
          <a:xfrm>
            <a:off x="1553545" y="213462"/>
            <a:ext cx="6036909" cy="3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>
                <a:solidFill>
                  <a:srgbClr val="7030A0"/>
                </a:solidFill>
              </a:rPr>
              <a:t>Data Product 2: Geographic Performance</a:t>
            </a:r>
          </a:p>
        </p:txBody>
      </p:sp>
      <p:sp>
        <p:nvSpPr>
          <p:cNvPr id="20" name="Google Shape;3286;p47">
            <a:extLst>
              <a:ext uri="{FF2B5EF4-FFF2-40B4-BE49-F238E27FC236}">
                <a16:creationId xmlns:a16="http://schemas.microsoft.com/office/drawing/2014/main" id="{4BCB3FEA-AFDD-EEB1-1E09-7B4B584269DE}"/>
              </a:ext>
            </a:extLst>
          </p:cNvPr>
          <p:cNvSpPr/>
          <p:nvPr/>
        </p:nvSpPr>
        <p:spPr>
          <a:xfrm rot="10800000" flipH="1">
            <a:off x="6259699" y="3078336"/>
            <a:ext cx="2240645" cy="1037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288;p47">
            <a:extLst>
              <a:ext uri="{FF2B5EF4-FFF2-40B4-BE49-F238E27FC236}">
                <a16:creationId xmlns:a16="http://schemas.microsoft.com/office/drawing/2014/main" id="{EB40D0D4-8AF8-2D50-468D-1AE60B242150}"/>
              </a:ext>
            </a:extLst>
          </p:cNvPr>
          <p:cNvSpPr/>
          <p:nvPr/>
        </p:nvSpPr>
        <p:spPr>
          <a:xfrm rot="10800000" flipH="1">
            <a:off x="6290200" y="2173845"/>
            <a:ext cx="2178389" cy="1227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289;p47">
            <a:extLst>
              <a:ext uri="{FF2B5EF4-FFF2-40B4-BE49-F238E27FC236}">
                <a16:creationId xmlns:a16="http://schemas.microsoft.com/office/drawing/2014/main" id="{9D452AAB-6FAF-DC62-D05D-7BDD9012FD79}"/>
              </a:ext>
            </a:extLst>
          </p:cNvPr>
          <p:cNvSpPr/>
          <p:nvPr/>
        </p:nvSpPr>
        <p:spPr>
          <a:xfrm rot="10800000" flipH="1">
            <a:off x="6290238" y="1289354"/>
            <a:ext cx="2063720" cy="963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290;p47">
            <a:extLst>
              <a:ext uri="{FF2B5EF4-FFF2-40B4-BE49-F238E27FC236}">
                <a16:creationId xmlns:a16="http://schemas.microsoft.com/office/drawing/2014/main" id="{3CFFC7E4-772B-A5D3-841B-5D91F324E6A7}"/>
              </a:ext>
            </a:extLst>
          </p:cNvPr>
          <p:cNvSpPr txBox="1">
            <a:spLocks/>
          </p:cNvSpPr>
          <p:nvPr/>
        </p:nvSpPr>
        <p:spPr>
          <a:xfrm>
            <a:off x="6168744" y="1139209"/>
            <a:ext cx="2331600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</a:pPr>
            <a:r>
              <a:rPr lang="en-US" b="1"/>
              <a:t>1.Study Success Factors</a:t>
            </a:r>
            <a:endParaRPr lang="en-US"/>
          </a:p>
        </p:txBody>
      </p:sp>
      <p:sp>
        <p:nvSpPr>
          <p:cNvPr id="26" name="Google Shape;3292;p47">
            <a:extLst>
              <a:ext uri="{FF2B5EF4-FFF2-40B4-BE49-F238E27FC236}">
                <a16:creationId xmlns:a16="http://schemas.microsoft.com/office/drawing/2014/main" id="{C801DB6F-071A-D47E-0BCB-668840EA8891}"/>
              </a:ext>
            </a:extLst>
          </p:cNvPr>
          <p:cNvSpPr txBox="1">
            <a:spLocks/>
          </p:cNvSpPr>
          <p:nvPr/>
        </p:nvSpPr>
        <p:spPr>
          <a:xfrm>
            <a:off x="6168744" y="2059387"/>
            <a:ext cx="2656743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b="1"/>
              <a:t>2. Replicate Best Practices</a:t>
            </a:r>
          </a:p>
        </p:txBody>
      </p:sp>
      <p:sp>
        <p:nvSpPr>
          <p:cNvPr id="32" name="Google Shape;3293;p47">
            <a:extLst>
              <a:ext uri="{FF2B5EF4-FFF2-40B4-BE49-F238E27FC236}">
                <a16:creationId xmlns:a16="http://schemas.microsoft.com/office/drawing/2014/main" id="{40AF7511-0238-4E0E-9243-FEF8CB4AD4BE}"/>
              </a:ext>
            </a:extLst>
          </p:cNvPr>
          <p:cNvSpPr txBox="1">
            <a:spLocks/>
          </p:cNvSpPr>
          <p:nvPr/>
        </p:nvSpPr>
        <p:spPr>
          <a:xfrm>
            <a:off x="6168744" y="2368841"/>
            <a:ext cx="2553469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/>
              <a:t>Apply the successful strategies from top states to underperforming regions.</a:t>
            </a:r>
            <a:endParaRPr lang="en-US"/>
          </a:p>
        </p:txBody>
      </p:sp>
      <p:sp>
        <p:nvSpPr>
          <p:cNvPr id="42" name="Google Shape;3294;p47">
            <a:extLst>
              <a:ext uri="{FF2B5EF4-FFF2-40B4-BE49-F238E27FC236}">
                <a16:creationId xmlns:a16="http://schemas.microsoft.com/office/drawing/2014/main" id="{035DA8F9-2D93-8419-B25F-12AEB81B39E3}"/>
              </a:ext>
            </a:extLst>
          </p:cNvPr>
          <p:cNvSpPr txBox="1">
            <a:spLocks/>
          </p:cNvSpPr>
          <p:nvPr/>
        </p:nvSpPr>
        <p:spPr>
          <a:xfrm>
            <a:off x="6168743" y="2944861"/>
            <a:ext cx="2656743" cy="3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b="1"/>
              <a:t>3.Targeted Regional Plans</a:t>
            </a:r>
          </a:p>
        </p:txBody>
      </p:sp>
      <p:sp>
        <p:nvSpPr>
          <p:cNvPr id="43" name="Google Shape;3295;p47">
            <a:extLst>
              <a:ext uri="{FF2B5EF4-FFF2-40B4-BE49-F238E27FC236}">
                <a16:creationId xmlns:a16="http://schemas.microsoft.com/office/drawing/2014/main" id="{949542FC-AEB5-3E11-E88F-29D7842E3BEA}"/>
              </a:ext>
            </a:extLst>
          </p:cNvPr>
          <p:cNvSpPr txBox="1">
            <a:spLocks/>
          </p:cNvSpPr>
          <p:nvPr/>
        </p:nvSpPr>
        <p:spPr>
          <a:xfrm>
            <a:off x="6136989" y="3346009"/>
            <a:ext cx="2553468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GB"/>
              <a:t>Create custom growth plans for states with untapped potential.</a:t>
            </a:r>
            <a:endParaRPr lang="en-US"/>
          </a:p>
        </p:txBody>
      </p:sp>
      <p:sp>
        <p:nvSpPr>
          <p:cNvPr id="67" name="Google Shape;3293;p47">
            <a:extLst>
              <a:ext uri="{FF2B5EF4-FFF2-40B4-BE49-F238E27FC236}">
                <a16:creationId xmlns:a16="http://schemas.microsoft.com/office/drawing/2014/main" id="{29AE1599-F0FF-8C89-F4A2-6449EEAE1A00}"/>
              </a:ext>
            </a:extLst>
          </p:cNvPr>
          <p:cNvSpPr txBox="1">
            <a:spLocks/>
          </p:cNvSpPr>
          <p:nvPr/>
        </p:nvSpPr>
        <p:spPr>
          <a:xfrm>
            <a:off x="6168744" y="1474096"/>
            <a:ext cx="23316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err="1"/>
              <a:t>Analyze</a:t>
            </a:r>
            <a:r>
              <a:rPr lang="en-GB"/>
              <a:t> why California and New York are so profitable. Then, copy their strategies.</a:t>
            </a:r>
            <a:endParaRPr lang="en-US"/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258BFBAD-5227-BD22-2BE4-EE92FE73E9BC}"/>
              </a:ext>
            </a:extLst>
          </p:cNvPr>
          <p:cNvSpPr/>
          <p:nvPr/>
        </p:nvSpPr>
        <p:spPr>
          <a:xfrm>
            <a:off x="2979783" y="582714"/>
            <a:ext cx="2828022" cy="1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>
                <a:solidFill>
                  <a:srgbClr val="E74C3C"/>
                </a:solidFill>
              </a:rPr>
              <a:t>Story 2.1: Total Sales Revenue by Region</a:t>
            </a:r>
            <a:endParaRPr lang="en-US" sz="10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7B4EB-7D33-44C1-6128-8469D75C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5" y="1139209"/>
            <a:ext cx="4411298" cy="2097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75615B-4771-92D9-F3EB-EA880ABFEE36}"/>
              </a:ext>
            </a:extLst>
          </p:cNvPr>
          <p:cNvSpPr txBox="1"/>
          <p:nvPr/>
        </p:nvSpPr>
        <p:spPr>
          <a:xfrm>
            <a:off x="560895" y="3346009"/>
            <a:ext cx="4708194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"/>
              </a:spcAft>
              <a:buNone/>
            </a:pPr>
            <a:r>
              <a:rPr lang="en-US" b="1" i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</a:rPr>
              <a:t>Key Observation</a:t>
            </a:r>
          </a:p>
          <a:p>
            <a:pPr>
              <a:spcBef>
                <a:spcPts val="75"/>
              </a:spcBef>
              <a:spcAft>
                <a:spcPts val="75"/>
              </a:spcAft>
            </a:pPr>
            <a:r>
              <a:rPr lang="en-GB"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</a:rPr>
              <a:t>California and New York have a combined profit of over $150K.</a:t>
            </a:r>
          </a:p>
          <a:p>
            <a:pPr>
              <a:spcBef>
                <a:spcPts val="75"/>
              </a:spcBef>
              <a:spcAft>
                <a:spcPts val="75"/>
              </a:spcAft>
            </a:pPr>
            <a:r>
              <a:rPr lang="en-GB"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</a:rPr>
              <a:t>High profit does not always mean high sales in every state.</a:t>
            </a:r>
          </a:p>
          <a:p>
            <a:pPr>
              <a:spcBef>
                <a:spcPts val="75"/>
              </a:spcBef>
              <a:spcAft>
                <a:spcPts val="75"/>
              </a:spcAft>
            </a:pPr>
            <a:r>
              <a:rPr lang="en-GB"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</a:rPr>
              <a:t>There is a big opportunity to improve profits in lower-performing states.</a:t>
            </a:r>
            <a:endParaRPr lang="en-US" b="0" i="0">
              <a:solidFill>
                <a:schemeClr val="tx2">
                  <a:lumMod val="50000"/>
                </a:schemeClr>
              </a:solidFill>
              <a:effectLst/>
              <a:latin typeface="Abadi" panose="020B06040201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DA596-C06F-A25A-9E38-66A8E4F6A2DC}"/>
              </a:ext>
            </a:extLst>
          </p:cNvPr>
          <p:cNvSpPr/>
          <p:nvPr/>
        </p:nvSpPr>
        <p:spPr>
          <a:xfrm>
            <a:off x="5947258" y="1139209"/>
            <a:ext cx="117043" cy="26720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10744104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>
          <a:extLst>
            <a:ext uri="{FF2B5EF4-FFF2-40B4-BE49-F238E27FC236}">
              <a16:creationId xmlns:a16="http://schemas.microsoft.com/office/drawing/2014/main" id="{1AF54AF6-9B8C-0806-3AAD-B461F035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>
            <a:extLst>
              <a:ext uri="{FF2B5EF4-FFF2-40B4-BE49-F238E27FC236}">
                <a16:creationId xmlns:a16="http://schemas.microsoft.com/office/drawing/2014/main" id="{00186C70-9F15-EBCC-CC0C-31651D2F259D}"/>
              </a:ext>
            </a:extLst>
          </p:cNvPr>
          <p:cNvSpPr/>
          <p:nvPr/>
        </p:nvSpPr>
        <p:spPr>
          <a:xfrm>
            <a:off x="1437170" y="668731"/>
            <a:ext cx="6200788" cy="18362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>
            <a:extLst>
              <a:ext uri="{FF2B5EF4-FFF2-40B4-BE49-F238E27FC236}">
                <a16:creationId xmlns:a16="http://schemas.microsoft.com/office/drawing/2014/main" id="{24096DBB-3410-FDBC-AB1F-222E183F6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204" y="422987"/>
            <a:ext cx="8061143" cy="5113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US" sz="2800" b="1">
                <a:solidFill>
                  <a:schemeClr val="tx1"/>
                </a:solidFill>
              </a:rPr>
              <a:t>Customer Sentiment Analysis </a:t>
            </a:r>
            <a:endParaRPr lang="en-US" sz="1200" b="1">
              <a:solidFill>
                <a:schemeClr val="tx1"/>
              </a:solidFill>
              <a:latin typeface="Abel"/>
              <a:sym typeface="Abel"/>
            </a:endParaRPr>
          </a:p>
        </p:txBody>
      </p:sp>
      <p:sp>
        <p:nvSpPr>
          <p:cNvPr id="2208" name="Google Shape;2208;p28">
            <a:extLst>
              <a:ext uri="{FF2B5EF4-FFF2-40B4-BE49-F238E27FC236}">
                <a16:creationId xmlns:a16="http://schemas.microsoft.com/office/drawing/2014/main" id="{44012760-F725-8221-9CE0-54F754256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5504" y="1086112"/>
            <a:ext cx="4528896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sz="1800" b="1">
                <a:solidFill>
                  <a:schemeClr val="tx2">
                    <a:lumMod val="25000"/>
                  </a:schemeClr>
                </a:solidFill>
              </a:rPr>
              <a:t>Objective</a:t>
            </a:r>
          </a:p>
          <a:p>
            <a:r>
              <a:rPr lang="en-GB" err="1"/>
              <a:t>Analyze</a:t>
            </a:r>
            <a:r>
              <a:rPr lang="en-GB"/>
              <a:t> customer opinions using </a:t>
            </a:r>
            <a:r>
              <a:rPr lang="en-GB" b="1">
                <a:solidFill>
                  <a:schemeClr val="tx1"/>
                </a:solidFill>
              </a:rPr>
              <a:t>review</a:t>
            </a:r>
            <a:r>
              <a:rPr lang="en-GB"/>
              <a:t> and </a:t>
            </a:r>
            <a:r>
              <a:rPr lang="en-GB" b="1" err="1">
                <a:solidFill>
                  <a:schemeClr val="tx1"/>
                </a:solidFill>
              </a:rPr>
              <a:t>product_id</a:t>
            </a:r>
            <a:r>
              <a:rPr lang="en-GB">
                <a:solidFill>
                  <a:schemeClr val="tx1"/>
                </a:solidFill>
              </a:rPr>
              <a:t> </a:t>
            </a:r>
            <a:r>
              <a:rPr lang="en-GB"/>
              <a:t>columns from the dataset through MongoDB NoSQL database.</a:t>
            </a:r>
          </a:p>
          <a:p>
            <a:pPr marL="139700" indent="0">
              <a:buNone/>
            </a:pPr>
            <a:r>
              <a:rPr lang="en-GB" sz="1800" b="1">
                <a:solidFill>
                  <a:schemeClr val="tx2">
                    <a:lumMod val="25000"/>
                  </a:schemeClr>
                </a:solidFill>
              </a:rPr>
              <a:t>Process</a:t>
            </a:r>
          </a:p>
          <a:p>
            <a:r>
              <a:rPr lang="en-GB"/>
              <a:t> Selected specific products with reviews</a:t>
            </a:r>
          </a:p>
          <a:p>
            <a:r>
              <a:rPr lang="en-GB"/>
              <a:t> Created MongoDB NoSQL database</a:t>
            </a:r>
          </a:p>
          <a:p>
            <a:r>
              <a:rPr lang="en-GB"/>
              <a:t> Categorized reviews as positive/negative</a:t>
            </a:r>
          </a:p>
          <a:p>
            <a:r>
              <a:rPr lang="en-GB"/>
              <a:t> Counted sentiment distribution</a:t>
            </a:r>
          </a:p>
          <a:p>
            <a:pPr marL="139700" indent="0">
              <a:buNone/>
            </a:pPr>
            <a:r>
              <a:rPr lang="en-GB" sz="1800" b="1">
                <a:solidFill>
                  <a:schemeClr val="tx2">
                    <a:lumMod val="25000"/>
                  </a:schemeClr>
                </a:solidFill>
              </a:rPr>
              <a:t>Sample Result</a:t>
            </a:r>
          </a:p>
        </p:txBody>
      </p:sp>
      <p:grpSp>
        <p:nvGrpSpPr>
          <p:cNvPr id="2212" name="Google Shape;2212;p28">
            <a:extLst>
              <a:ext uri="{FF2B5EF4-FFF2-40B4-BE49-F238E27FC236}">
                <a16:creationId xmlns:a16="http://schemas.microsoft.com/office/drawing/2014/main" id="{09110106-0D80-5C90-C080-C1B56DD4DD60}"/>
              </a:ext>
            </a:extLst>
          </p:cNvPr>
          <p:cNvGrpSpPr/>
          <p:nvPr/>
        </p:nvGrpSpPr>
        <p:grpSpPr>
          <a:xfrm>
            <a:off x="4111315" y="4008665"/>
            <a:ext cx="579735" cy="1134804"/>
            <a:chOff x="4921825" y="870250"/>
            <a:chExt cx="407925" cy="798550"/>
          </a:xfrm>
        </p:grpSpPr>
        <p:sp>
          <p:nvSpPr>
            <p:cNvPr id="2213" name="Google Shape;2213;p28">
              <a:extLst>
                <a:ext uri="{FF2B5EF4-FFF2-40B4-BE49-F238E27FC236}">
                  <a16:creationId xmlns:a16="http://schemas.microsoft.com/office/drawing/2014/main" id="{2E8FC488-226A-53EF-C4B7-BAF15F996FF0}"/>
                </a:ext>
              </a:extLst>
            </p:cNvPr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>
              <a:extLst>
                <a:ext uri="{FF2B5EF4-FFF2-40B4-BE49-F238E27FC236}">
                  <a16:creationId xmlns:a16="http://schemas.microsoft.com/office/drawing/2014/main" id="{ECDBBB9E-4BB1-806E-9089-AB14534F657E}"/>
                </a:ext>
              </a:extLst>
            </p:cNvPr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>
              <a:extLst>
                <a:ext uri="{FF2B5EF4-FFF2-40B4-BE49-F238E27FC236}">
                  <a16:creationId xmlns:a16="http://schemas.microsoft.com/office/drawing/2014/main" id="{A3EB3FCA-07FF-C7EF-C7FB-FB066283B120}"/>
                </a:ext>
              </a:extLst>
            </p:cNvPr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>
              <a:extLst>
                <a:ext uri="{FF2B5EF4-FFF2-40B4-BE49-F238E27FC236}">
                  <a16:creationId xmlns:a16="http://schemas.microsoft.com/office/drawing/2014/main" id="{1CCC1C04-3E89-6519-1174-6B592F52D21C}"/>
                </a:ext>
              </a:extLst>
            </p:cNvPr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>
              <a:extLst>
                <a:ext uri="{FF2B5EF4-FFF2-40B4-BE49-F238E27FC236}">
                  <a16:creationId xmlns:a16="http://schemas.microsoft.com/office/drawing/2014/main" id="{2A26506D-E437-13B6-E910-7B5E63373511}"/>
                </a:ext>
              </a:extLst>
            </p:cNvPr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>
              <a:extLst>
                <a:ext uri="{FF2B5EF4-FFF2-40B4-BE49-F238E27FC236}">
                  <a16:creationId xmlns:a16="http://schemas.microsoft.com/office/drawing/2014/main" id="{436DD4AD-702B-CEC5-83B7-1ADF5E779E1D}"/>
                </a:ext>
              </a:extLst>
            </p:cNvPr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>
              <a:extLst>
                <a:ext uri="{FF2B5EF4-FFF2-40B4-BE49-F238E27FC236}">
                  <a16:creationId xmlns:a16="http://schemas.microsoft.com/office/drawing/2014/main" id="{240AEFB7-0071-4B6D-E8BC-D40AF5770DA9}"/>
                </a:ext>
              </a:extLst>
            </p:cNvPr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>
              <a:extLst>
                <a:ext uri="{FF2B5EF4-FFF2-40B4-BE49-F238E27FC236}">
                  <a16:creationId xmlns:a16="http://schemas.microsoft.com/office/drawing/2014/main" id="{94402506-2658-ABEE-2FDA-22C12B102DB4}"/>
                </a:ext>
              </a:extLst>
            </p:cNvPr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>
              <a:extLst>
                <a:ext uri="{FF2B5EF4-FFF2-40B4-BE49-F238E27FC236}">
                  <a16:creationId xmlns:a16="http://schemas.microsoft.com/office/drawing/2014/main" id="{73BD7B8D-1B38-33C6-0AE1-0537CBF6AB9E}"/>
                </a:ext>
              </a:extLst>
            </p:cNvPr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>
              <a:extLst>
                <a:ext uri="{FF2B5EF4-FFF2-40B4-BE49-F238E27FC236}">
                  <a16:creationId xmlns:a16="http://schemas.microsoft.com/office/drawing/2014/main" id="{783A36A2-F0C6-5381-A1D9-3A9F7CAD4CCE}"/>
                </a:ext>
              </a:extLst>
            </p:cNvPr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>
              <a:extLst>
                <a:ext uri="{FF2B5EF4-FFF2-40B4-BE49-F238E27FC236}">
                  <a16:creationId xmlns:a16="http://schemas.microsoft.com/office/drawing/2014/main" id="{285EE5BC-FF47-C48B-38D7-10962846E753}"/>
                </a:ext>
              </a:extLst>
            </p:cNvPr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>
              <a:extLst>
                <a:ext uri="{FF2B5EF4-FFF2-40B4-BE49-F238E27FC236}">
                  <a16:creationId xmlns:a16="http://schemas.microsoft.com/office/drawing/2014/main" id="{64B1EC86-A3E5-3C4E-88A4-CB81E95D3430}"/>
                </a:ext>
              </a:extLst>
            </p:cNvPr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>
              <a:extLst>
                <a:ext uri="{FF2B5EF4-FFF2-40B4-BE49-F238E27FC236}">
                  <a16:creationId xmlns:a16="http://schemas.microsoft.com/office/drawing/2014/main" id="{E55F2FFE-7B54-BBE5-B1B7-5CACC72C6917}"/>
                </a:ext>
              </a:extLst>
            </p:cNvPr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>
              <a:extLst>
                <a:ext uri="{FF2B5EF4-FFF2-40B4-BE49-F238E27FC236}">
                  <a16:creationId xmlns:a16="http://schemas.microsoft.com/office/drawing/2014/main" id="{16817225-09EE-7FAB-E67C-6F0B411E11C8}"/>
                </a:ext>
              </a:extLst>
            </p:cNvPr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>
              <a:extLst>
                <a:ext uri="{FF2B5EF4-FFF2-40B4-BE49-F238E27FC236}">
                  <a16:creationId xmlns:a16="http://schemas.microsoft.com/office/drawing/2014/main" id="{2BD4D2E2-0237-0988-1A65-A5381CD3D37D}"/>
                </a:ext>
              </a:extLst>
            </p:cNvPr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>
              <a:extLst>
                <a:ext uri="{FF2B5EF4-FFF2-40B4-BE49-F238E27FC236}">
                  <a16:creationId xmlns:a16="http://schemas.microsoft.com/office/drawing/2014/main" id="{68BBA304-6EA2-3429-6B3B-4214C8A111C5}"/>
                </a:ext>
              </a:extLst>
            </p:cNvPr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>
              <a:extLst>
                <a:ext uri="{FF2B5EF4-FFF2-40B4-BE49-F238E27FC236}">
                  <a16:creationId xmlns:a16="http://schemas.microsoft.com/office/drawing/2014/main" id="{DF5B9490-D896-8F2E-4E1A-DD5515C33DD1}"/>
                </a:ext>
              </a:extLst>
            </p:cNvPr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>
              <a:extLst>
                <a:ext uri="{FF2B5EF4-FFF2-40B4-BE49-F238E27FC236}">
                  <a16:creationId xmlns:a16="http://schemas.microsoft.com/office/drawing/2014/main" id="{22EB0902-2FCF-11FB-0E4C-FA2F31071929}"/>
                </a:ext>
              </a:extLst>
            </p:cNvPr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>
              <a:extLst>
                <a:ext uri="{FF2B5EF4-FFF2-40B4-BE49-F238E27FC236}">
                  <a16:creationId xmlns:a16="http://schemas.microsoft.com/office/drawing/2014/main" id="{D8403534-E8B1-AD97-C376-3511470A0C07}"/>
                </a:ext>
              </a:extLst>
            </p:cNvPr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>
              <a:extLst>
                <a:ext uri="{FF2B5EF4-FFF2-40B4-BE49-F238E27FC236}">
                  <a16:creationId xmlns:a16="http://schemas.microsoft.com/office/drawing/2014/main" id="{89DBD032-86C4-A240-3C82-394F3DB8542B}"/>
                </a:ext>
              </a:extLst>
            </p:cNvPr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>
              <a:extLst>
                <a:ext uri="{FF2B5EF4-FFF2-40B4-BE49-F238E27FC236}">
                  <a16:creationId xmlns:a16="http://schemas.microsoft.com/office/drawing/2014/main" id="{198C9EE2-3D53-2A35-09A3-81C8B1C562FD}"/>
                </a:ext>
              </a:extLst>
            </p:cNvPr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>
              <a:extLst>
                <a:ext uri="{FF2B5EF4-FFF2-40B4-BE49-F238E27FC236}">
                  <a16:creationId xmlns:a16="http://schemas.microsoft.com/office/drawing/2014/main" id="{17098245-AC49-1699-D4C3-7059B4D14789}"/>
                </a:ext>
              </a:extLst>
            </p:cNvPr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>
              <a:extLst>
                <a:ext uri="{FF2B5EF4-FFF2-40B4-BE49-F238E27FC236}">
                  <a16:creationId xmlns:a16="http://schemas.microsoft.com/office/drawing/2014/main" id="{52B71BFF-AFDC-8762-E54F-2371E018DEDC}"/>
                </a:ext>
              </a:extLst>
            </p:cNvPr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>
              <a:extLst>
                <a:ext uri="{FF2B5EF4-FFF2-40B4-BE49-F238E27FC236}">
                  <a16:creationId xmlns:a16="http://schemas.microsoft.com/office/drawing/2014/main" id="{05932AC1-CEEB-77AB-DF79-19E7684F6197}"/>
                </a:ext>
              </a:extLst>
            </p:cNvPr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>
              <a:extLst>
                <a:ext uri="{FF2B5EF4-FFF2-40B4-BE49-F238E27FC236}">
                  <a16:creationId xmlns:a16="http://schemas.microsoft.com/office/drawing/2014/main" id="{44956BE1-0261-C947-EE6B-1C3A31EC304E}"/>
                </a:ext>
              </a:extLst>
            </p:cNvPr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>
              <a:extLst>
                <a:ext uri="{FF2B5EF4-FFF2-40B4-BE49-F238E27FC236}">
                  <a16:creationId xmlns:a16="http://schemas.microsoft.com/office/drawing/2014/main" id="{88ADDD87-F539-1B4A-7527-668496B8AA75}"/>
                </a:ext>
              </a:extLst>
            </p:cNvPr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>
              <a:extLst>
                <a:ext uri="{FF2B5EF4-FFF2-40B4-BE49-F238E27FC236}">
                  <a16:creationId xmlns:a16="http://schemas.microsoft.com/office/drawing/2014/main" id="{6C2310C4-A474-5621-E399-083F885F91AD}"/>
                </a:ext>
              </a:extLst>
            </p:cNvPr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>
              <a:extLst>
                <a:ext uri="{FF2B5EF4-FFF2-40B4-BE49-F238E27FC236}">
                  <a16:creationId xmlns:a16="http://schemas.microsoft.com/office/drawing/2014/main" id="{4089FF2C-D783-261B-BACA-D9ADE209328E}"/>
                </a:ext>
              </a:extLst>
            </p:cNvPr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>
              <a:extLst>
                <a:ext uri="{FF2B5EF4-FFF2-40B4-BE49-F238E27FC236}">
                  <a16:creationId xmlns:a16="http://schemas.microsoft.com/office/drawing/2014/main" id="{A184AEDF-B09F-29A0-7805-2C48EC600BAA}"/>
                </a:ext>
              </a:extLst>
            </p:cNvPr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>
              <a:extLst>
                <a:ext uri="{FF2B5EF4-FFF2-40B4-BE49-F238E27FC236}">
                  <a16:creationId xmlns:a16="http://schemas.microsoft.com/office/drawing/2014/main" id="{2CA49BF7-7016-B834-4810-47209B061ED8}"/>
                </a:ext>
              </a:extLst>
            </p:cNvPr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AutoShape 2" descr="Big Data Architecture Diagram">
            <a:extLst>
              <a:ext uri="{FF2B5EF4-FFF2-40B4-BE49-F238E27FC236}">
                <a16:creationId xmlns:a16="http://schemas.microsoft.com/office/drawing/2014/main" id="{C6D7737F-1BF8-2A3D-5B93-3445469B47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8" name="Google Shape;2208;p28">
            <a:extLst>
              <a:ext uri="{FF2B5EF4-FFF2-40B4-BE49-F238E27FC236}">
                <a16:creationId xmlns:a16="http://schemas.microsoft.com/office/drawing/2014/main" id="{C9110B22-7FD5-FB3F-4D25-08C7C9E25977}"/>
              </a:ext>
            </a:extLst>
          </p:cNvPr>
          <p:cNvSpPr txBox="1">
            <a:spLocks/>
          </p:cNvSpPr>
          <p:nvPr/>
        </p:nvSpPr>
        <p:spPr>
          <a:xfrm>
            <a:off x="4537564" y="1130402"/>
            <a:ext cx="4528896" cy="1593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139700" indent="0">
              <a:buNone/>
            </a:pPr>
            <a:endParaRPr lang="en-GB"/>
          </a:p>
        </p:txBody>
      </p:sp>
      <p:graphicFrame>
        <p:nvGraphicFramePr>
          <p:cNvPr id="2" name="Google Shape;2209;p28">
            <a:extLst>
              <a:ext uri="{FF2B5EF4-FFF2-40B4-BE49-F238E27FC236}">
                <a16:creationId xmlns:a16="http://schemas.microsoft.com/office/drawing/2014/main" id="{7D1DE299-8B90-96A2-1CE0-9B46171021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044891"/>
              </p:ext>
            </p:extLst>
          </p:nvPr>
        </p:nvGraphicFramePr>
        <p:xfrm>
          <a:off x="549559" y="3922673"/>
          <a:ext cx="2347658" cy="826304"/>
        </p:xfrm>
        <a:graphic>
          <a:graphicData uri="http://schemas.openxmlformats.org/drawingml/2006/table">
            <a:tbl>
              <a:tblPr>
                <a:noFill/>
                <a:tableStyleId>{9097B9AB-1872-4A28-808A-46CC7F8F2F22}</a:tableStyleId>
              </a:tblPr>
              <a:tblGrid>
                <a:gridCol w="107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A</a:t>
                      </a:r>
                      <a:endParaRPr lang="en-US" sz="1050" b="1" i="0" u="none" strike="noStrike" cap="non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/>
                        <a:ea typeface="Questrial"/>
                        <a:cs typeface="A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85% positive</a:t>
                      </a:r>
                      <a:endParaRPr lang="en-US" sz="1050" b="1" i="0" u="none" strike="noStrike" cap="non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2">
                              <a:lumMod val="25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B</a:t>
                      </a:r>
                      <a:endParaRPr lang="en-US" sz="1050" b="1" i="0" u="none" strike="noStrike" cap="none">
                        <a:solidFill>
                          <a:schemeClr val="tx2">
                            <a:lumMod val="25000"/>
                          </a:schemeClr>
                        </a:solidFill>
                        <a:effectLst/>
                        <a:latin typeface="Arial"/>
                        <a:ea typeface="Questrial"/>
                        <a:cs typeface="Arial"/>
                        <a:sym typeface="Questrial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60% positive</a:t>
                      </a:r>
                      <a:endParaRPr lang="en-AE" sz="1050" b="1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FE4C8">
                        <a:alpha val="28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94">
                <a:tc>
                  <a:txBody>
                    <a:bodyPr/>
                    <a:lstStyle/>
                    <a:p>
                      <a:r>
                        <a:rPr lang="en-US" sz="1400" b="1" i="0" u="none" strike="noStrike" cap="non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C</a:t>
                      </a: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45% positive</a:t>
                      </a:r>
                      <a:endParaRPr lang="en-AE" sz="1050" b="1" i="0" u="none" strike="noStrike" cap="non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/>
                        <a:ea typeface="Abel"/>
                        <a:cs typeface="Arial"/>
                        <a:sym typeface="Abel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alpha val="7077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848D5D-747B-B385-B868-0062F01BDFFE}"/>
              </a:ext>
            </a:extLst>
          </p:cNvPr>
          <p:cNvSpPr/>
          <p:nvPr/>
        </p:nvSpPr>
        <p:spPr>
          <a:xfrm>
            <a:off x="3496413" y="3919530"/>
            <a:ext cx="1521294" cy="82630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chemeClr val="tx1"/>
                </a:solidFill>
              </a:rPr>
              <a:t> Insight: Customer satisfaction varies significantly by product</a:t>
            </a:r>
            <a:endParaRPr lang="en-AE" sz="110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FA1580-3EA3-065C-621E-6CC00C49938D}"/>
              </a:ext>
            </a:extLst>
          </p:cNvPr>
          <p:cNvCxnSpPr/>
          <p:nvPr/>
        </p:nvCxnSpPr>
        <p:spPr>
          <a:xfrm>
            <a:off x="2994338" y="4277030"/>
            <a:ext cx="4507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7482E60-6BE1-047A-C20F-886071CCA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58" y="1462779"/>
            <a:ext cx="3959948" cy="22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16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0"/>
          <p:cNvSpPr/>
          <p:nvPr/>
        </p:nvSpPr>
        <p:spPr>
          <a:xfrm rot="10800000" flipH="1">
            <a:off x="4220416" y="686419"/>
            <a:ext cx="1014000" cy="11250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8" name="Google Shape;2278;p30"/>
          <p:cNvSpPr/>
          <p:nvPr/>
        </p:nvSpPr>
        <p:spPr>
          <a:xfrm rot="10800000" flipH="1">
            <a:off x="4231865" y="3786004"/>
            <a:ext cx="1033112" cy="130644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p30"/>
          <p:cNvSpPr txBox="1">
            <a:spLocks noGrp="1"/>
          </p:cNvSpPr>
          <p:nvPr>
            <p:ph type="subTitle" idx="1"/>
          </p:nvPr>
        </p:nvSpPr>
        <p:spPr>
          <a:xfrm>
            <a:off x="1055077" y="224434"/>
            <a:ext cx="7033846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/>
              <a:t>Customer Sentiment Analysis</a:t>
            </a:r>
            <a:br>
              <a:rPr lang="en-US"/>
            </a:br>
            <a:endParaRPr lang="en-AE" sz="1800"/>
          </a:p>
        </p:txBody>
      </p:sp>
      <p:sp>
        <p:nvSpPr>
          <p:cNvPr id="2281" name="Google Shape;2281;p30"/>
          <p:cNvSpPr txBox="1">
            <a:spLocks noGrp="1"/>
          </p:cNvSpPr>
          <p:nvPr>
            <p:ph type="subTitle" idx="2"/>
          </p:nvPr>
        </p:nvSpPr>
        <p:spPr>
          <a:xfrm>
            <a:off x="3145815" y="3742948"/>
            <a:ext cx="3271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/>
              <a:t>Conclusion</a:t>
            </a:r>
          </a:p>
        </p:txBody>
      </p:sp>
      <p:sp>
        <p:nvSpPr>
          <p:cNvPr id="2282" name="Google Shape;2282;p30"/>
          <p:cNvSpPr txBox="1">
            <a:spLocks noGrp="1"/>
          </p:cNvSpPr>
          <p:nvPr>
            <p:ph type="subTitle" idx="3"/>
          </p:nvPr>
        </p:nvSpPr>
        <p:spPr>
          <a:xfrm>
            <a:off x="3994206" y="677651"/>
            <a:ext cx="5149794" cy="2798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l"/>
            <a:br>
              <a:rPr lang="en-US" b="1"/>
            </a:br>
            <a:r>
              <a:rPr lang="en-US" b="1"/>
              <a:t>Our 3-Step Process</a:t>
            </a:r>
          </a:p>
          <a:p>
            <a:pPr marL="139700" indent="0" algn="l"/>
            <a:r>
              <a:rPr lang="en-US" b="1"/>
              <a:t>1. Setup Database (MongoDB)</a:t>
            </a:r>
            <a:endParaRPr lang="en-US"/>
          </a:p>
          <a:p>
            <a:pPr marL="139700" indent="0" algn="l"/>
            <a:r>
              <a:rPr lang="en-US"/>
              <a:t>Connected to the MongoDB server.</a:t>
            </a:r>
          </a:p>
          <a:p>
            <a:pPr marL="139700" indent="0" algn="l"/>
            <a:r>
              <a:rPr lang="en-US"/>
              <a:t>Created a new database: </a:t>
            </a:r>
            <a:r>
              <a:rPr lang="en-US" err="1"/>
              <a:t>customer_reviews_db</a:t>
            </a:r>
            <a:r>
              <a:rPr lang="en-US"/>
              <a:t>.</a:t>
            </a:r>
          </a:p>
          <a:p>
            <a:pPr marL="139700" indent="0" algn="l"/>
            <a:r>
              <a:rPr lang="en-US" b="1"/>
              <a:t>2. Insert Data</a:t>
            </a:r>
            <a:endParaRPr lang="en-US"/>
          </a:p>
          <a:p>
            <a:pPr marL="139700" indent="0" algn="l"/>
            <a:r>
              <a:rPr lang="en-US"/>
              <a:t>Loaded customer reviews into a reviews collection.</a:t>
            </a:r>
          </a:p>
          <a:p>
            <a:pPr marL="139700" indent="0" algn="l"/>
            <a:r>
              <a:rPr lang="en-US"/>
              <a:t>Each review document contains: Product ID, Review Text, and Sentiment.</a:t>
            </a:r>
          </a:p>
          <a:p>
            <a:pPr marL="139700" indent="0" algn="l"/>
            <a:r>
              <a:rPr lang="en-US" b="1"/>
              <a:t>3. Analyze Sentiments</a:t>
            </a:r>
            <a:endParaRPr lang="en-US"/>
          </a:p>
          <a:p>
            <a:pPr marL="139700" indent="0" algn="l"/>
            <a:r>
              <a:rPr lang="en-US"/>
              <a:t>Used queries to count "Positive" and "Negative" reviews.</a:t>
            </a:r>
          </a:p>
          <a:p>
            <a:pPr marL="139700" indent="0" algn="l"/>
            <a:r>
              <a:rPr lang="en-US"/>
              <a:t>Used the </a:t>
            </a:r>
            <a:r>
              <a:rPr lang="en-US" b="1"/>
              <a:t>Aggregation Pipeline</a:t>
            </a:r>
            <a:r>
              <a:rPr lang="en-US"/>
              <a:t> to group and count all sentiments efficiently.</a:t>
            </a:r>
          </a:p>
        </p:txBody>
      </p:sp>
      <p:sp>
        <p:nvSpPr>
          <p:cNvPr id="2283" name="Google Shape;2283;p30"/>
          <p:cNvSpPr txBox="1">
            <a:spLocks noGrp="1"/>
          </p:cNvSpPr>
          <p:nvPr>
            <p:ph type="subTitle" idx="4"/>
          </p:nvPr>
        </p:nvSpPr>
        <p:spPr>
          <a:xfrm>
            <a:off x="4137688" y="4090348"/>
            <a:ext cx="3333478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GB">
                <a:solidFill>
                  <a:schemeClr val="tx1"/>
                </a:solidFill>
              </a:rPr>
              <a:t>MongoDB is highly effective for </a:t>
            </a:r>
            <a:r>
              <a:rPr lang="en-GB" err="1">
                <a:solidFill>
                  <a:schemeClr val="tx1"/>
                </a:solidFill>
              </a:rPr>
              <a:t>analyzing</a:t>
            </a:r>
            <a:r>
              <a:rPr lang="en-GB">
                <a:solidFill>
                  <a:schemeClr val="tx1"/>
                </a:solidFill>
              </a:rPr>
              <a:t> unstructured customer feedback, allowing us to quickly understand customer opinions.</a:t>
            </a:r>
            <a:endParaRPr lang="en-AE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819A12-6692-5ACD-23E3-CD8ED1647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65" y="1490314"/>
            <a:ext cx="3691760" cy="398232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A048AC6-27A5-148A-BB0F-B865D6E69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65" y="603887"/>
            <a:ext cx="3691760" cy="63903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6EFFD8-76CF-06C1-4D8A-6BDC6C845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65" y="2135934"/>
            <a:ext cx="3691760" cy="24457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8" name="Google Shape;3558;p50"/>
          <p:cNvGrpSpPr/>
          <p:nvPr/>
        </p:nvGrpSpPr>
        <p:grpSpPr>
          <a:xfrm>
            <a:off x="5112565" y="1024735"/>
            <a:ext cx="629196" cy="623027"/>
            <a:chOff x="3501675" y="1201012"/>
            <a:chExt cx="629196" cy="623027"/>
          </a:xfrm>
          <a:solidFill>
            <a:schemeClr val="tx2"/>
          </a:solidFill>
        </p:grpSpPr>
        <p:sp>
          <p:nvSpPr>
            <p:cNvPr id="3559" name="Google Shape;3559;p50"/>
            <p:cNvSpPr/>
            <p:nvPr/>
          </p:nvSpPr>
          <p:spPr>
            <a:xfrm>
              <a:off x="3501675" y="1201012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50"/>
            <p:cNvSpPr/>
            <p:nvPr/>
          </p:nvSpPr>
          <p:spPr>
            <a:xfrm>
              <a:off x="3523971" y="1218639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1" name="Google Shape;3561;p50"/>
          <p:cNvGrpSpPr/>
          <p:nvPr/>
        </p:nvGrpSpPr>
        <p:grpSpPr>
          <a:xfrm>
            <a:off x="1138701" y="2915025"/>
            <a:ext cx="629196" cy="623027"/>
            <a:chOff x="3501675" y="1201012"/>
            <a:chExt cx="629196" cy="623027"/>
          </a:xfrm>
          <a:solidFill>
            <a:schemeClr val="tx2"/>
          </a:solidFill>
        </p:grpSpPr>
        <p:sp>
          <p:nvSpPr>
            <p:cNvPr id="3562" name="Google Shape;3562;p50"/>
            <p:cNvSpPr/>
            <p:nvPr/>
          </p:nvSpPr>
          <p:spPr>
            <a:xfrm>
              <a:off x="3501675" y="1201012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0"/>
            <p:cNvSpPr/>
            <p:nvPr/>
          </p:nvSpPr>
          <p:spPr>
            <a:xfrm>
              <a:off x="3523971" y="1218639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4" name="Google Shape;3564;p50"/>
          <p:cNvGrpSpPr/>
          <p:nvPr/>
        </p:nvGrpSpPr>
        <p:grpSpPr>
          <a:xfrm>
            <a:off x="5088831" y="2867875"/>
            <a:ext cx="629196" cy="623027"/>
            <a:chOff x="3501675" y="1201012"/>
            <a:chExt cx="629196" cy="623027"/>
          </a:xfrm>
          <a:solidFill>
            <a:schemeClr val="tx2"/>
          </a:solidFill>
        </p:grpSpPr>
        <p:sp>
          <p:nvSpPr>
            <p:cNvPr id="3565" name="Google Shape;3565;p50"/>
            <p:cNvSpPr/>
            <p:nvPr/>
          </p:nvSpPr>
          <p:spPr>
            <a:xfrm>
              <a:off x="3501675" y="1201012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0"/>
            <p:cNvSpPr/>
            <p:nvPr/>
          </p:nvSpPr>
          <p:spPr>
            <a:xfrm>
              <a:off x="3523971" y="1218639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7" name="Google Shape;3567;p50"/>
          <p:cNvGrpSpPr/>
          <p:nvPr/>
        </p:nvGrpSpPr>
        <p:grpSpPr>
          <a:xfrm>
            <a:off x="1120760" y="1049964"/>
            <a:ext cx="629196" cy="623027"/>
            <a:chOff x="3501675" y="1201012"/>
            <a:chExt cx="629196" cy="623027"/>
          </a:xfrm>
          <a:solidFill>
            <a:schemeClr val="tx2"/>
          </a:solidFill>
        </p:grpSpPr>
        <p:sp>
          <p:nvSpPr>
            <p:cNvPr id="3568" name="Google Shape;3568;p50"/>
            <p:cNvSpPr/>
            <p:nvPr/>
          </p:nvSpPr>
          <p:spPr>
            <a:xfrm>
              <a:off x="3501675" y="1201012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0"/>
            <p:cNvSpPr/>
            <p:nvPr/>
          </p:nvSpPr>
          <p:spPr>
            <a:xfrm>
              <a:off x="3523971" y="1218639"/>
              <a:ext cx="606900" cy="6054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9" name="Google Shape;3579;p50"/>
          <p:cNvSpPr/>
          <p:nvPr/>
        </p:nvSpPr>
        <p:spPr>
          <a:xfrm>
            <a:off x="3386373" y="347747"/>
            <a:ext cx="2072100" cy="22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0" name="Google Shape;3580;p50"/>
          <p:cNvSpPr txBox="1">
            <a:spLocks noGrp="1"/>
          </p:cNvSpPr>
          <p:nvPr>
            <p:ph type="title"/>
          </p:nvPr>
        </p:nvSpPr>
        <p:spPr>
          <a:xfrm>
            <a:off x="2218035" y="159636"/>
            <a:ext cx="442283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/>
              <a:t>A 4-Step Plan for Growth</a:t>
            </a:r>
            <a:endParaRPr lang="en-GB"/>
          </a:p>
        </p:txBody>
      </p:sp>
      <p:sp>
        <p:nvSpPr>
          <p:cNvPr id="3590" name="Google Shape;3590;p50"/>
          <p:cNvSpPr txBox="1">
            <a:spLocks noGrp="1"/>
          </p:cNvSpPr>
          <p:nvPr>
            <p:ph type="ctrTitle" idx="4294967295"/>
          </p:nvPr>
        </p:nvSpPr>
        <p:spPr>
          <a:xfrm>
            <a:off x="1917730" y="1051339"/>
            <a:ext cx="2318100" cy="5596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/>
              <a:t>Fix the Discount Strategy</a:t>
            </a:r>
            <a:endParaRPr lang="en-GB" sz="1800"/>
          </a:p>
        </p:txBody>
      </p:sp>
      <p:sp>
        <p:nvSpPr>
          <p:cNvPr id="3591" name="Google Shape;3591;p50"/>
          <p:cNvSpPr txBox="1">
            <a:spLocks noGrp="1"/>
          </p:cNvSpPr>
          <p:nvPr>
            <p:ph type="subTitle" idx="4294967295"/>
          </p:nvPr>
        </p:nvSpPr>
        <p:spPr>
          <a:xfrm>
            <a:off x="1579846" y="1469237"/>
            <a:ext cx="2993867" cy="15673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Stop high discounts. Keep them at 10-15% to protect profits.</a:t>
            </a:r>
          </a:p>
          <a:p>
            <a:r>
              <a:rPr lang="en-US">
                <a:solidFill>
                  <a:schemeClr val="tx1"/>
                </a:solidFill>
              </a:rPr>
              <a:t>Use big discounts only to clear out old stock.</a:t>
            </a:r>
          </a:p>
          <a:p>
            <a:r>
              <a:rPr lang="en-US">
                <a:solidFill>
                  <a:schemeClr val="tx1"/>
                </a:solidFill>
              </a:rPr>
              <a:t>Change prices based on demand (Dynamic Pricing).</a:t>
            </a:r>
          </a:p>
        </p:txBody>
      </p:sp>
      <p:sp>
        <p:nvSpPr>
          <p:cNvPr id="3592" name="Google Shape;3592;p50"/>
          <p:cNvSpPr txBox="1">
            <a:spLocks noGrp="1"/>
          </p:cNvSpPr>
          <p:nvPr>
            <p:ph type="ctrTitle" idx="4294967295"/>
          </p:nvPr>
        </p:nvSpPr>
        <p:spPr>
          <a:xfrm>
            <a:off x="5897575" y="1089375"/>
            <a:ext cx="2318100" cy="6204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/>
              <a:t>Improve the Product Mix</a:t>
            </a:r>
            <a:endParaRPr lang="en-US" sz="1800"/>
          </a:p>
        </p:txBody>
      </p:sp>
      <p:sp>
        <p:nvSpPr>
          <p:cNvPr id="3604" name="Google Shape;3604;p50"/>
          <p:cNvSpPr/>
          <p:nvPr/>
        </p:nvSpPr>
        <p:spPr>
          <a:xfrm flipH="1">
            <a:off x="-120" y="3648559"/>
            <a:ext cx="2629014" cy="1494930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3605" name="Google Shape;3605;p50"/>
          <p:cNvSpPr/>
          <p:nvPr/>
        </p:nvSpPr>
        <p:spPr>
          <a:xfrm rot="10800000">
            <a:off x="11" y="57"/>
            <a:ext cx="2713539" cy="1542993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pSp>
        <p:nvGrpSpPr>
          <p:cNvPr id="3606" name="Google Shape;3606;p50"/>
          <p:cNvGrpSpPr/>
          <p:nvPr/>
        </p:nvGrpSpPr>
        <p:grpSpPr>
          <a:xfrm>
            <a:off x="7830841" y="-802"/>
            <a:ext cx="593164" cy="1161172"/>
            <a:chOff x="4921825" y="870250"/>
            <a:chExt cx="407925" cy="798550"/>
          </a:xfrm>
        </p:grpSpPr>
        <p:sp>
          <p:nvSpPr>
            <p:cNvPr id="3607" name="Google Shape;3607;p50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50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50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50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50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50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50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50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50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50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50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50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50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50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50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50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50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50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50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50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50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50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50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50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50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50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50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50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50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50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7" name="Google Shape;3637;p50"/>
          <p:cNvSpPr txBox="1">
            <a:spLocks noGrp="1"/>
          </p:cNvSpPr>
          <p:nvPr>
            <p:ph type="title" idx="4294967295"/>
          </p:nvPr>
        </p:nvSpPr>
        <p:spPr>
          <a:xfrm>
            <a:off x="1120808" y="1162278"/>
            <a:ext cx="629100" cy="3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638" name="Google Shape;3638;p50"/>
          <p:cNvSpPr txBox="1">
            <a:spLocks noGrp="1"/>
          </p:cNvSpPr>
          <p:nvPr>
            <p:ph type="title" idx="4294967295"/>
          </p:nvPr>
        </p:nvSpPr>
        <p:spPr>
          <a:xfrm>
            <a:off x="5123761" y="1100205"/>
            <a:ext cx="629100" cy="3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39" name="Google Shape;3639;p50"/>
          <p:cNvSpPr txBox="1">
            <a:spLocks noGrp="1"/>
          </p:cNvSpPr>
          <p:nvPr>
            <p:ph type="title" idx="4294967295"/>
          </p:nvPr>
        </p:nvSpPr>
        <p:spPr>
          <a:xfrm>
            <a:off x="1126843" y="3022104"/>
            <a:ext cx="629100" cy="3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40" name="Google Shape;3640;p50"/>
          <p:cNvSpPr txBox="1">
            <a:spLocks noGrp="1"/>
          </p:cNvSpPr>
          <p:nvPr>
            <p:ph type="title" idx="4294967295"/>
          </p:nvPr>
        </p:nvSpPr>
        <p:spPr>
          <a:xfrm>
            <a:off x="5088879" y="2980189"/>
            <a:ext cx="629100" cy="3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" name="Google Shape;3591;p50">
            <a:extLst>
              <a:ext uri="{FF2B5EF4-FFF2-40B4-BE49-F238E27FC236}">
                <a16:creationId xmlns:a16="http://schemas.microsoft.com/office/drawing/2014/main" id="{EEF481B8-8070-8A92-E281-71303CC4C9C4}"/>
              </a:ext>
            </a:extLst>
          </p:cNvPr>
          <p:cNvSpPr txBox="1">
            <a:spLocks/>
          </p:cNvSpPr>
          <p:nvPr/>
        </p:nvSpPr>
        <p:spPr>
          <a:xfrm>
            <a:off x="1904893" y="3453919"/>
            <a:ext cx="2993868" cy="148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/>
              <a:t>Copy the success of the West region and apply it to other areas.</a:t>
            </a:r>
          </a:p>
          <a:p>
            <a:r>
              <a:rPr lang="en-US"/>
              <a:t>Create growth plans for the Central and South regions.</a:t>
            </a:r>
          </a:p>
          <a:p>
            <a:r>
              <a:rPr lang="en-US"/>
              <a:t>Learn from top states and use their winning strategies.</a:t>
            </a:r>
          </a:p>
        </p:txBody>
      </p:sp>
      <p:sp>
        <p:nvSpPr>
          <p:cNvPr id="3" name="Google Shape;3591;p50">
            <a:extLst>
              <a:ext uri="{FF2B5EF4-FFF2-40B4-BE49-F238E27FC236}">
                <a16:creationId xmlns:a16="http://schemas.microsoft.com/office/drawing/2014/main" id="{D14FECD7-E2BC-3616-5FD0-137CB110A3D8}"/>
              </a:ext>
            </a:extLst>
          </p:cNvPr>
          <p:cNvSpPr txBox="1">
            <a:spLocks/>
          </p:cNvSpPr>
          <p:nvPr/>
        </p:nvSpPr>
        <p:spPr>
          <a:xfrm>
            <a:off x="5489099" y="3565461"/>
            <a:ext cx="2981400" cy="155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/>
              <a:t>Focus on product quality to get better reviews.</a:t>
            </a:r>
          </a:p>
          <a:p>
            <a:r>
              <a:rPr lang="en-US"/>
              <a:t>Connect customer happiness to your profit analysis.</a:t>
            </a:r>
          </a:p>
          <a:p>
            <a:r>
              <a:rPr lang="en-US"/>
              <a:t>Sell quality, not just quantity, to build customer loyalty.</a:t>
            </a:r>
          </a:p>
          <a:p>
            <a:pPr marL="139700" indent="0">
              <a:buNone/>
            </a:pPr>
            <a:endParaRPr lang="en-US"/>
          </a:p>
        </p:txBody>
      </p:sp>
      <p:sp>
        <p:nvSpPr>
          <p:cNvPr id="4" name="Google Shape;3592;p50">
            <a:extLst>
              <a:ext uri="{FF2B5EF4-FFF2-40B4-BE49-F238E27FC236}">
                <a16:creationId xmlns:a16="http://schemas.microsoft.com/office/drawing/2014/main" id="{A2FA3EAA-9B60-3EC7-4CA7-77A13AC56F74}"/>
              </a:ext>
            </a:extLst>
          </p:cNvPr>
          <p:cNvSpPr txBox="1">
            <a:spLocks/>
          </p:cNvSpPr>
          <p:nvPr/>
        </p:nvSpPr>
        <p:spPr>
          <a:xfrm>
            <a:off x="1841450" y="2939815"/>
            <a:ext cx="2318100" cy="62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estrial"/>
              <a:buNone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b="1"/>
              <a:t>Focus on Winning Regions</a:t>
            </a:r>
            <a:endParaRPr lang="en-US" sz="1800"/>
          </a:p>
        </p:txBody>
      </p:sp>
      <p:sp>
        <p:nvSpPr>
          <p:cNvPr id="5" name="Google Shape;3592;p50">
            <a:extLst>
              <a:ext uri="{FF2B5EF4-FFF2-40B4-BE49-F238E27FC236}">
                <a16:creationId xmlns:a16="http://schemas.microsoft.com/office/drawing/2014/main" id="{6530C008-D3B7-12DC-8F1D-477183F2050B}"/>
              </a:ext>
            </a:extLst>
          </p:cNvPr>
          <p:cNvSpPr txBox="1">
            <a:spLocks/>
          </p:cNvSpPr>
          <p:nvPr/>
        </p:nvSpPr>
        <p:spPr>
          <a:xfrm>
            <a:off x="5897575" y="3032622"/>
            <a:ext cx="2318100" cy="62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estrial"/>
              <a:buNone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b="1"/>
              <a:t>Put the Customer First</a:t>
            </a:r>
            <a:endParaRPr lang="en-US" sz="1800"/>
          </a:p>
        </p:txBody>
      </p:sp>
      <p:sp>
        <p:nvSpPr>
          <p:cNvPr id="6" name="Google Shape;3591;p50">
            <a:extLst>
              <a:ext uri="{FF2B5EF4-FFF2-40B4-BE49-F238E27FC236}">
                <a16:creationId xmlns:a16="http://schemas.microsoft.com/office/drawing/2014/main" id="{C2C086D0-2C66-46C7-CBF5-D4324E192683}"/>
              </a:ext>
            </a:extLst>
          </p:cNvPr>
          <p:cNvSpPr txBox="1">
            <a:spLocks/>
          </p:cNvSpPr>
          <p:nvPr/>
        </p:nvSpPr>
        <p:spPr>
          <a:xfrm>
            <a:off x="5495813" y="1484959"/>
            <a:ext cx="3287766" cy="1599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 err="1"/>
              <a:t>nvest</a:t>
            </a:r>
            <a:r>
              <a:rPr lang="en-US"/>
              <a:t> in what works. Focus on high-profit items like Technology.</a:t>
            </a:r>
          </a:p>
          <a:p>
            <a:r>
              <a:rPr lang="en-US"/>
              <a:t>Stop selling products that lose money, like Tables and Chairs.</a:t>
            </a:r>
          </a:p>
          <a:p>
            <a:r>
              <a:rPr lang="en-US"/>
              <a:t>Add new products with better profits, especially in Office Supplies.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34"/>
          <p:cNvSpPr/>
          <p:nvPr/>
        </p:nvSpPr>
        <p:spPr>
          <a:xfrm>
            <a:off x="715100" y="2958800"/>
            <a:ext cx="4389600" cy="60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34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6125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</a:t>
            </a:r>
            <a:br>
              <a:rPr lang="en"/>
            </a:br>
            <a:r>
              <a:rPr lang="en"/>
              <a:t>YOU</a:t>
            </a:r>
            <a:endParaRPr/>
          </a:p>
        </p:txBody>
      </p:sp>
      <p:pic>
        <p:nvPicPr>
          <p:cNvPr id="2323" name="Google Shape;23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6825" y="1080675"/>
            <a:ext cx="2147700" cy="3241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4" name="Google Shape;2324;p34"/>
          <p:cNvGrpSpPr/>
          <p:nvPr/>
        </p:nvGrpSpPr>
        <p:grpSpPr>
          <a:xfrm>
            <a:off x="343817" y="128279"/>
            <a:ext cx="579743" cy="1134819"/>
            <a:chOff x="4921825" y="870250"/>
            <a:chExt cx="407925" cy="798550"/>
          </a:xfrm>
        </p:grpSpPr>
        <p:sp>
          <p:nvSpPr>
            <p:cNvPr id="2325" name="Google Shape;2325;p3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5" name="Google Shape;2355;p34"/>
          <p:cNvGrpSpPr/>
          <p:nvPr/>
        </p:nvGrpSpPr>
        <p:grpSpPr>
          <a:xfrm>
            <a:off x="4667342" y="3792129"/>
            <a:ext cx="579743" cy="1134819"/>
            <a:chOff x="4921825" y="870250"/>
            <a:chExt cx="407925" cy="798550"/>
          </a:xfrm>
        </p:grpSpPr>
        <p:sp>
          <p:nvSpPr>
            <p:cNvPr id="2356" name="Google Shape;2356;p3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2" grpId="0"/>
    </p:bldLst>
  </p:timing>
</p:sld>
</file>

<file path=ppt/theme/theme1.xml><?xml version="1.0" encoding="utf-8"?>
<a:theme xmlns:a="http://schemas.openxmlformats.org/drawingml/2006/main" name="Online Shopping MK Plan by Slidesgo">
  <a:themeElements>
    <a:clrScheme name="Simple Light">
      <a:dk1>
        <a:srgbClr val="000000"/>
      </a:dk1>
      <a:lt1>
        <a:srgbClr val="FFFFFF"/>
      </a:lt1>
      <a:dk2>
        <a:srgbClr val="686868"/>
      </a:dk2>
      <a:lt2>
        <a:srgbClr val="EFE4C8"/>
      </a:lt2>
      <a:accent1>
        <a:srgbClr val="EFEFEF"/>
      </a:accent1>
      <a:accent2>
        <a:srgbClr val="D7E7E7"/>
      </a:accent2>
      <a:accent3>
        <a:srgbClr val="A3D6D7"/>
      </a:accent3>
      <a:accent4>
        <a:srgbClr val="EBB7B0"/>
      </a:accent4>
      <a:accent5>
        <a:srgbClr val="F19082"/>
      </a:accent5>
      <a:accent6>
        <a:srgbClr val="CD4A3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5b6dc0-2f69-443b-a52c-5e52d2b15c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B40A89EECFF34195A1B44B6B1DE6C4" ma:contentTypeVersion="14" ma:contentTypeDescription="Create a new document." ma:contentTypeScope="" ma:versionID="314c9c0f1cf807a50d1135ebf98784da">
  <xsd:schema xmlns:xsd="http://www.w3.org/2001/XMLSchema" xmlns:xs="http://www.w3.org/2001/XMLSchema" xmlns:p="http://schemas.microsoft.com/office/2006/metadata/properties" xmlns:ns3="965b6dc0-2f69-443b-a52c-5e52d2b15c61" xmlns:ns4="d52e5fd8-2f22-4419-a9fc-89585cde797e" targetNamespace="http://schemas.microsoft.com/office/2006/metadata/properties" ma:root="true" ma:fieldsID="69272ee5d99e3a41c5c16d465d19dfb4" ns3:_="" ns4:_="">
    <xsd:import namespace="965b6dc0-2f69-443b-a52c-5e52d2b15c61"/>
    <xsd:import namespace="d52e5fd8-2f22-4419-a9fc-89585cde79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b6dc0-2f69-443b-a52c-5e52d2b15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e5fd8-2f22-4419-a9fc-89585cde79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60A974-90A3-4693-80C4-A897853870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3D8714-8DE4-4E83-988F-D51BB7EB980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d52e5fd8-2f22-4419-a9fc-89585cde797e"/>
    <ds:schemaRef ds:uri="http://schemas.microsoft.com/office/infopath/2007/PartnerControls"/>
    <ds:schemaRef ds:uri="965b6dc0-2f69-443b-a52c-5e52d2b15c6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72DFDFA-3AD5-42FA-9196-1106D71FE7EB}">
  <ds:schemaRefs>
    <ds:schemaRef ds:uri="965b6dc0-2f69-443b-a52c-5e52d2b15c61"/>
    <ds:schemaRef ds:uri="d52e5fd8-2f22-4419-a9fc-89585cde79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2369</Words>
  <Application>Microsoft Office PowerPoint</Application>
  <PresentationFormat>On-screen Show (16:9)</PresentationFormat>
  <Paragraphs>342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Open Sans</vt:lpstr>
      <vt:lpstr>Abel</vt:lpstr>
      <vt:lpstr>ui-monospace</vt:lpstr>
      <vt:lpstr>Abadi</vt:lpstr>
      <vt:lpstr>Questrial</vt:lpstr>
      <vt:lpstr>Wingdings</vt:lpstr>
      <vt:lpstr>Arial</vt:lpstr>
      <vt:lpstr>-apple-system</vt:lpstr>
      <vt:lpstr>Online Shopping MK Plan by Slidesgo</vt:lpstr>
      <vt:lpstr>MegaMart Sales Analysis </vt:lpstr>
      <vt:lpstr>Project Overview</vt:lpstr>
      <vt:lpstr>Dataset Overview</vt:lpstr>
      <vt:lpstr>Key Statistics</vt:lpstr>
      <vt:lpstr>Data Quality Issues Found</vt:lpstr>
      <vt:lpstr>Data Storage &amp; Processing Strategy</vt:lpstr>
      <vt:lpstr>Data Quality Check in DigiXT(CLO2)</vt:lpstr>
      <vt:lpstr>Data Preprocessing &amp; Cleaning (CLO2)</vt:lpstr>
      <vt:lpstr>PowerPoint Presentation</vt:lpstr>
      <vt:lpstr>PowerPoint Presentation</vt:lpstr>
      <vt:lpstr>Key Findings from EDA</vt:lpstr>
      <vt:lpstr>PowerPoint Presentation</vt:lpstr>
      <vt:lpstr>PowerPoint Presentation</vt:lpstr>
      <vt:lpstr>PowerPoint Presentation</vt:lpstr>
      <vt:lpstr>PowerPoint Presentation</vt:lpstr>
      <vt:lpstr>Customer Sentiment Analysis </vt:lpstr>
      <vt:lpstr>PowerPoint Presentation</vt:lpstr>
      <vt:lpstr>A 4-Step Plan for Growth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Maryam Al Ali</dc:creator>
  <cp:lastModifiedBy>Hessa Khalfan Ahmed Baddah Al Ali(H00535166)</cp:lastModifiedBy>
  <cp:revision>3</cp:revision>
  <dcterms:modified xsi:type="dcterms:W3CDTF">2025-11-26T07:00:48Z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0x010100ADB40A89EECFF34195A1B44B6B1DE6C4</vt:lpwstr>
  </property>
</Properties>
</file>